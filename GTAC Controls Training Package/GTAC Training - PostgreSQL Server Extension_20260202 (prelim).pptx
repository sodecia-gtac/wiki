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40" r:id="rId4"/>
    <p:sldId id="336" r:id="rId5"/>
    <p:sldId id="337" r:id="rId6"/>
    <p:sldId id="339" r:id="rId7"/>
    <p:sldId id="338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55466-E84B-4F75-BA83-3316E8326EFD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E8C42-D1E0-44A5-8C8D-10100DEDC6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5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1EA7-9A78-4A49-8997-1E8AEFC46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B44CA-778B-4BF4-A918-EDEEC4FC1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7683F-4AD0-4A93-A054-3D07E62B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1835-CAF9-4BA8-89D7-8EFBA258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22CC-F095-486D-B105-8F8ADC7E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232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3D50-2B82-4E9D-B3F5-ED7D945B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C16A-02C7-4BEF-A0CE-9B6A85FCC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F480-8E0D-4D13-9D33-4EB69ED1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C9C84-EB36-431E-B7D8-F08E71E6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7E75-EAE4-46D1-9005-82F89961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111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5BBC-CDF8-484F-B5AB-C36D96A6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8CF05-ACC8-4BC2-A3E3-AA2C428B1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8013B-BE0F-44AF-A2B8-01027C40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B6B0-D32A-4413-BCE3-AB0E9D2A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C7BC-D57D-4B2D-8651-C42A5C47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55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96FD-B94E-4B5C-B75A-F53545F0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3A31-5222-42F9-B6B8-89C02EA8C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DC4F6-CAC6-475C-AE5F-1D915D457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4E5F-3A77-42B4-A317-05EAD2EE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BE935-82DC-4A73-97F9-82270F15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5B740-AD1F-478C-B429-6C92A254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CDD1-F6F2-42B5-98F8-E442F24F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B7715-4B41-4CBD-85BE-8A1A2C623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471C3-80C2-42C3-8D73-069F9A963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AABFD-B297-4329-BAFF-F46A9DD5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9D711-0560-42F5-A2F7-B963C4202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7E6D3-C020-4A0E-8C31-EA4CD5E0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6EA53-7D4F-4C74-A82C-BE27A7CA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15372-4643-4ACC-9668-EEA2E444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96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D520-8EFF-4D9E-9DEA-4364E37A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F756D-3438-42A6-9848-88860E28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713D8-EC39-4DBE-A83D-AAC61EFB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C1EE7-1DB6-47EC-8F4E-DD8D2DB1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29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FCF09-EAC9-4EDC-A7A0-135336EF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25333-F08B-43B4-8767-4A44C707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1A178-FD9F-4B6B-9170-9D42B5EE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186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3B64-17AB-419B-A7AD-6578C084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0D300-CB7C-4A1E-AA2D-B90FE23C8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8D8EE-9D5C-4716-99FF-430B92F81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FA58E-DFCC-4FEC-A004-47984A7D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B3A44-4800-4A73-BE8B-AEC2BFB2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1985E-DADE-4317-B29D-2B8C7811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52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B4D5-4F44-44B7-BF63-12F62E16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D172A-D1CE-4624-A911-10D2150DD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B0016-8AD5-47BE-98D3-F281F808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78E4F-75AA-4FD9-8183-8B0F6CEB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DF100-4AD0-496C-969E-3C9A78A5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2853-A458-43D9-A342-9A7110DE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59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60F5-5D73-42CE-9A38-AA1BE457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AEE31-0E8C-4CF7-94B1-1AD148A3C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A8C51-4BAD-414E-AD81-E1E562F5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85BE-95A1-4959-A7EA-D7E77565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28DA5-9A08-411A-AD34-031CF77A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520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275EB-3FB7-452A-8E0E-FB96B6367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E0F17-010B-47B8-90AC-18C84DFE8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4A8B-6347-4A91-AF21-9E5B2559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A37E-B2E4-4F40-9A01-A4BD52B5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38CCB-8DA3-4CDE-9873-1FC0FB64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491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07112-863C-4A6C-8921-315F237D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0AA16-F5D1-4337-8456-6253B53B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B947B-21FB-4B90-8EC7-A7CFD8193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F4239-97E8-4813-8A06-8DEFC0B1123C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881F6-9FFA-43B5-ADE3-8E69DD99C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F5398-C352-4890-92DF-11DBB6FE0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937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627C-CF51-4634-8210-322F38FC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2527684" y="265568"/>
            <a:ext cx="9450369" cy="61906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D4DD2C-DDD7-4907-8F02-A738CFEDB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47" y="1633199"/>
            <a:ext cx="3524473" cy="345538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Internal </a:t>
            </a:r>
            <a:r>
              <a:rPr lang="en-US" alt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Training: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PostgreSQL Server Extension</a:t>
            </a: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0F321D2C-D090-49FA-93E8-510313BA6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251" y="2269702"/>
            <a:ext cx="6781548" cy="24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80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Prerequisites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6C59D3-2E2D-C696-AB30-B0C9CE863055}"/>
              </a:ext>
            </a:extLst>
          </p:cNvPr>
          <p:cNvSpPr txBox="1"/>
          <p:nvPr/>
        </p:nvSpPr>
        <p:spPr>
          <a:xfrm>
            <a:off x="704384" y="1646569"/>
            <a:ext cx="10783231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This document is intended to help, in a self-directed manner, navigate through our PostgreSQL Server Extension package built for our </a:t>
            </a:r>
            <a:r>
              <a:rPr lang="en-CA" sz="2800" dirty="0" err="1"/>
              <a:t>TcHmi</a:t>
            </a:r>
            <a:r>
              <a:rPr lang="en-CA" sz="2800" dirty="0"/>
              <a:t> based UI and assumes the following:</a:t>
            </a:r>
          </a:p>
          <a:p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You have setup of your local PC environment as per the IC Setup Guide contained in the SSCC610 machine package with: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CA" dirty="0"/>
              <a:t>XAE 4024.55 (in addition to .22)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CA" dirty="0" err="1"/>
              <a:t>TcHmi</a:t>
            </a:r>
            <a:r>
              <a:rPr lang="en-CA" dirty="0"/>
              <a:t> TE2000 (</a:t>
            </a:r>
            <a:r>
              <a:rPr lang="en-CA" dirty="0" err="1"/>
              <a:t>TcHmi</a:t>
            </a:r>
            <a:r>
              <a:rPr lang="en-CA" dirty="0"/>
              <a:t> Engineering)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CA" dirty="0" err="1"/>
              <a:t>TcHmi</a:t>
            </a:r>
            <a:r>
              <a:rPr lang="en-CA" dirty="0"/>
              <a:t> TF2000 (</a:t>
            </a:r>
            <a:r>
              <a:rPr lang="en-CA" dirty="0" err="1"/>
              <a:t>TcHmi</a:t>
            </a:r>
            <a:r>
              <a:rPr lang="en-CA" dirty="0"/>
              <a:t> Server)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CA" dirty="0"/>
              <a:t>Postgres / </a:t>
            </a:r>
            <a:r>
              <a:rPr lang="en-CA" dirty="0" err="1"/>
              <a:t>pgAdmin</a:t>
            </a:r>
            <a:r>
              <a:rPr lang="en-CA" dirty="0"/>
              <a:t> (Database / Database administrative tool)</a:t>
            </a:r>
          </a:p>
          <a:p>
            <a:endParaRPr lang="en-CA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Successfully deployed FW level SSCC610 locally on the above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Completion of all previous GTAC Internal Controls 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Visual Studio 2022 is installed on your PC (check with your manager and I.T. to ensure VS 2022 is applicable / allowable in terms of Microsoft licensing agreements)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77709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ADFA1-DD1C-CFB4-C7F5-D50CEDCE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11CEE8-63B6-77F1-E1D2-AD5777C14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EA37993-A114-C15D-6DBC-261A68F31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4C5EB54-3513-D63B-EF48-E63752794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B71D7B-2B65-3488-E393-0E9EDFB42086}"/>
              </a:ext>
            </a:extLst>
          </p:cNvPr>
          <p:cNvSpPr txBox="1"/>
          <p:nvPr/>
        </p:nvSpPr>
        <p:spPr>
          <a:xfrm>
            <a:off x="2494151" y="1461300"/>
            <a:ext cx="7203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Our Server Extension is built primarily using the C# Language</a:t>
            </a:r>
          </a:p>
          <a:p>
            <a:pPr algn="ctr"/>
            <a:r>
              <a:rPr lang="en-CA" dirty="0"/>
              <a:t>You will also see use of JSON files for general configuration</a:t>
            </a:r>
          </a:p>
          <a:p>
            <a:pPr algn="ctr"/>
            <a:r>
              <a:rPr lang="en-CA" dirty="0"/>
              <a:t>W3 schools offers great tutorials for both C# and JSON if you are unfamiliar</a:t>
            </a:r>
          </a:p>
          <a:p>
            <a:pPr algn="ctr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BDA26-A761-9C30-A5B7-E82586A6C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7884" y="2455872"/>
            <a:ext cx="6170922" cy="4228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72EF4B6-5908-D2D6-C00B-1268F293E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Prerequisites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434BC8-6D86-C6FD-B536-18ADCAF7A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707" y="3096883"/>
            <a:ext cx="5403713" cy="3674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2593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34696-7CC8-EC70-C2E9-27386ACD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3EB024C-614C-944A-16B6-3B984ECB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3D1DCFD-815C-84CA-94E8-EE86BDE9A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5A842EB-CB74-F755-0C9F-9C0A49911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D16FB05F-2EAE-1D89-5848-4DF88619F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General Topology</a:t>
            </a:r>
            <a:endParaRPr lang="en-US" alt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2" descr="Db Icon">
            <a:extLst>
              <a:ext uri="{FF2B5EF4-FFF2-40B4-BE49-F238E27FC236}">
                <a16:creationId xmlns:a16="http://schemas.microsoft.com/office/drawing/2014/main" id="{066C398E-1FED-BEEB-9CC1-03E96016258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572817" y="3984454"/>
            <a:ext cx="1080328" cy="1030857"/>
          </a:xfrm>
          <a:prstGeom prst="rect">
            <a:avLst/>
          </a:prstGeom>
          <a:ln w="0">
            <a:noFill/>
          </a:ln>
        </p:spPr>
      </p:pic>
      <p:pic>
        <p:nvPicPr>
          <p:cNvPr id="5" name="Picture 12" descr="Getting Started With PostgreSQL. There are numerous different types of… |  by Alex Mitrani | Medium">
            <a:extLst>
              <a:ext uri="{FF2B5EF4-FFF2-40B4-BE49-F238E27FC236}">
                <a16:creationId xmlns:a16="http://schemas.microsoft.com/office/drawing/2014/main" id="{002A8626-347B-0547-6F89-13D38897C1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4"/>
          <a:stretch>
            <a:fillRect/>
          </a:stretch>
        </p:blipFill>
        <p:spPr bwMode="auto">
          <a:xfrm>
            <a:off x="5242061" y="2798324"/>
            <a:ext cx="1741839" cy="118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o you use pgAdmin? Why? : r/PostgreSQL">
            <a:extLst>
              <a:ext uri="{FF2B5EF4-FFF2-40B4-BE49-F238E27FC236}">
                <a16:creationId xmlns:a16="http://schemas.microsoft.com/office/drawing/2014/main" id="{DFEF0618-29DD-83BA-80E7-55AF54CEE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5" t="28742" r="20377" b="31509"/>
          <a:stretch>
            <a:fillRect/>
          </a:stretch>
        </p:blipFill>
        <p:spPr bwMode="auto">
          <a:xfrm>
            <a:off x="582628" y="3894599"/>
            <a:ext cx="2758083" cy="106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965AFF-DE35-4140-395A-96B483485E37}"/>
              </a:ext>
            </a:extLst>
          </p:cNvPr>
          <p:cNvCxnSpPr>
            <a:cxnSpLocks/>
          </p:cNvCxnSpPr>
          <p:nvPr/>
        </p:nvCxnSpPr>
        <p:spPr>
          <a:xfrm>
            <a:off x="7484064" y="4497088"/>
            <a:ext cx="13716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20E165-34E1-3990-66A9-A89E8E0AD9EC}"/>
              </a:ext>
            </a:extLst>
          </p:cNvPr>
          <p:cNvCxnSpPr>
            <a:cxnSpLocks/>
          </p:cNvCxnSpPr>
          <p:nvPr/>
        </p:nvCxnSpPr>
        <p:spPr>
          <a:xfrm flipV="1">
            <a:off x="3510119" y="4497088"/>
            <a:ext cx="1371600" cy="14278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F222A58-3866-73EE-5F22-AA21EF0874BC}"/>
              </a:ext>
            </a:extLst>
          </p:cNvPr>
          <p:cNvSpPr/>
          <p:nvPr/>
        </p:nvSpPr>
        <p:spPr>
          <a:xfrm>
            <a:off x="5022584" y="3023332"/>
            <a:ext cx="2130724" cy="253544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FDE662-144B-A3B6-CD5B-6B5F3EAC6B31}"/>
              </a:ext>
            </a:extLst>
          </p:cNvPr>
          <p:cNvSpPr txBox="1"/>
          <p:nvPr/>
        </p:nvSpPr>
        <p:spPr>
          <a:xfrm>
            <a:off x="7484064" y="4818902"/>
            <a:ext cx="1508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Bi-Directional </a:t>
            </a:r>
          </a:p>
          <a:p>
            <a:pPr algn="ctr"/>
            <a:r>
              <a:rPr lang="en-CA" dirty="0"/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E7F935-5938-71C4-4E7E-0A2A5D57B27E}"/>
              </a:ext>
            </a:extLst>
          </p:cNvPr>
          <p:cNvSpPr txBox="1"/>
          <p:nvPr/>
        </p:nvSpPr>
        <p:spPr>
          <a:xfrm>
            <a:off x="3438765" y="4818902"/>
            <a:ext cx="1599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Administrative </a:t>
            </a:r>
          </a:p>
          <a:p>
            <a:pPr algn="ctr"/>
            <a:r>
              <a:rPr lang="en-CA" dirty="0"/>
              <a:t>Commands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19E7CE-099F-B4C4-170F-96FC8DF52DB7}"/>
              </a:ext>
            </a:extLst>
          </p:cNvPr>
          <p:cNvSpPr txBox="1"/>
          <p:nvPr/>
        </p:nvSpPr>
        <p:spPr>
          <a:xfrm>
            <a:off x="1003681" y="2628926"/>
            <a:ext cx="22664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err="1"/>
              <a:t>pgAdmin</a:t>
            </a:r>
            <a:r>
              <a:rPr lang="en-CA" dirty="0"/>
              <a:t> is an </a:t>
            </a:r>
          </a:p>
          <a:p>
            <a:pPr algn="ctr"/>
            <a:r>
              <a:rPr lang="en-CA" dirty="0"/>
              <a:t>administrative tool</a:t>
            </a:r>
          </a:p>
          <a:p>
            <a:pPr algn="ctr"/>
            <a:r>
              <a:rPr lang="en-CA" dirty="0"/>
              <a:t>Used to configure the </a:t>
            </a:r>
          </a:p>
          <a:p>
            <a:pPr algn="ctr"/>
            <a:r>
              <a:rPr lang="en-CA" dirty="0"/>
              <a:t>Postgres Database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68DEE8-9966-7D62-393A-507FE4B14058}"/>
              </a:ext>
            </a:extLst>
          </p:cNvPr>
          <p:cNvSpPr txBox="1"/>
          <p:nvPr/>
        </p:nvSpPr>
        <p:spPr>
          <a:xfrm>
            <a:off x="8785285" y="2567598"/>
            <a:ext cx="2266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GTAC </a:t>
            </a:r>
            <a:r>
              <a:rPr lang="en-CA" dirty="0" err="1"/>
              <a:t>TcHmi</a:t>
            </a:r>
            <a:r>
              <a:rPr lang="en-CA" dirty="0"/>
              <a:t> Machine UI (with GTAC PostgreSQL Server Extension)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8E5B99-C4F0-A2AB-E53C-183E40F707C8}"/>
              </a:ext>
            </a:extLst>
          </p:cNvPr>
          <p:cNvSpPr txBox="1"/>
          <p:nvPr/>
        </p:nvSpPr>
        <p:spPr>
          <a:xfrm>
            <a:off x="5498622" y="1868059"/>
            <a:ext cx="1058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Postgres </a:t>
            </a:r>
          </a:p>
          <a:p>
            <a:pPr algn="ctr"/>
            <a:r>
              <a:rPr lang="en-CA" dirty="0"/>
              <a:t>Database</a:t>
            </a:r>
          </a:p>
          <a:p>
            <a:pPr algn="ctr"/>
            <a:r>
              <a:rPr lang="en-CA" dirty="0"/>
              <a:t>Server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8F1E59-270A-DAB1-91DC-5A3B65C6E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691" y="4737435"/>
            <a:ext cx="975351" cy="975351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93D3F994-7794-944F-F2F9-82929EAA27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111" y="4023690"/>
            <a:ext cx="975351" cy="9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9181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C392C-DE24-FF50-33B5-97A27D0F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AC62555-9BD1-6893-50D3-7D2E8D259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FDFDE3-3364-FDA5-CC73-3DF3A44D3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31CB524-D55D-25D7-492B-130CE4CFC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401BDB67-C9D5-F3A8-3950-DC92DF766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General Topology</a:t>
            </a:r>
            <a:endParaRPr lang="en-US" alt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291E828E-A8A6-8E01-AD95-88E119EC8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111" y="4023690"/>
            <a:ext cx="975351" cy="975351"/>
          </a:xfrm>
          <a:prstGeom prst="rect">
            <a:avLst/>
          </a:prstGeom>
        </p:spPr>
      </p:pic>
      <p:pic>
        <p:nvPicPr>
          <p:cNvPr id="4" name="Picture 2" descr="Db Icon">
            <a:extLst>
              <a:ext uri="{FF2B5EF4-FFF2-40B4-BE49-F238E27FC236}">
                <a16:creationId xmlns:a16="http://schemas.microsoft.com/office/drawing/2014/main" id="{AE087925-5F41-E4C7-E457-26D6A8E6E7F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14300" y="4046468"/>
            <a:ext cx="1080328" cy="1030857"/>
          </a:xfrm>
          <a:prstGeom prst="rect">
            <a:avLst/>
          </a:prstGeom>
          <a:ln w="0">
            <a:noFill/>
          </a:ln>
        </p:spPr>
      </p:pic>
      <p:pic>
        <p:nvPicPr>
          <p:cNvPr id="5" name="Picture 12" descr="Getting Started With PostgreSQL. There are numerous different types of… |  by Alex Mitrani | Medium">
            <a:extLst>
              <a:ext uri="{FF2B5EF4-FFF2-40B4-BE49-F238E27FC236}">
                <a16:creationId xmlns:a16="http://schemas.microsoft.com/office/drawing/2014/main" id="{87DA5E2C-2602-B150-2C06-D9C5D7E7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4"/>
          <a:stretch>
            <a:fillRect/>
          </a:stretch>
        </p:blipFill>
        <p:spPr bwMode="auto">
          <a:xfrm>
            <a:off x="783544" y="2835935"/>
            <a:ext cx="1741839" cy="118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C72858-92E8-F175-11E0-F0374508D0DE}"/>
              </a:ext>
            </a:extLst>
          </p:cNvPr>
          <p:cNvCxnSpPr>
            <a:cxnSpLocks/>
          </p:cNvCxnSpPr>
          <p:nvPr/>
        </p:nvCxnSpPr>
        <p:spPr>
          <a:xfrm>
            <a:off x="7484064" y="4497088"/>
            <a:ext cx="13716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1A64DB0-2F61-473F-2678-AFCF1A8325D8}"/>
              </a:ext>
            </a:extLst>
          </p:cNvPr>
          <p:cNvSpPr/>
          <p:nvPr/>
        </p:nvSpPr>
        <p:spPr>
          <a:xfrm>
            <a:off x="589103" y="3093777"/>
            <a:ext cx="2130724" cy="253544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AE703-94DF-5D6D-38E7-D0BA5BCD3C3F}"/>
              </a:ext>
            </a:extLst>
          </p:cNvPr>
          <p:cNvSpPr txBox="1"/>
          <p:nvPr/>
        </p:nvSpPr>
        <p:spPr>
          <a:xfrm>
            <a:off x="7484064" y="4818902"/>
            <a:ext cx="1508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Bi-Directional </a:t>
            </a:r>
          </a:p>
          <a:p>
            <a:pPr algn="ctr"/>
            <a:r>
              <a:rPr lang="en-CA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B4DB3A-3BC2-D8E4-0A80-A4FD7B5F7A65}"/>
              </a:ext>
            </a:extLst>
          </p:cNvPr>
          <p:cNvSpPr txBox="1"/>
          <p:nvPr/>
        </p:nvSpPr>
        <p:spPr>
          <a:xfrm>
            <a:off x="8730559" y="2050103"/>
            <a:ext cx="2266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GTAC </a:t>
            </a:r>
            <a:r>
              <a:rPr lang="en-CA" dirty="0" err="1"/>
              <a:t>TcHmi</a:t>
            </a:r>
            <a:r>
              <a:rPr lang="en-CA" dirty="0"/>
              <a:t> </a:t>
            </a:r>
          </a:p>
          <a:p>
            <a:pPr algn="ctr"/>
            <a:r>
              <a:rPr lang="en-CA" dirty="0"/>
              <a:t>Machine UI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790116-795C-ED8E-C58D-AC3920FCE9D0}"/>
              </a:ext>
            </a:extLst>
          </p:cNvPr>
          <p:cNvSpPr txBox="1"/>
          <p:nvPr/>
        </p:nvSpPr>
        <p:spPr>
          <a:xfrm>
            <a:off x="521236" y="2024797"/>
            <a:ext cx="2266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Postgres Database</a:t>
            </a:r>
          </a:p>
          <a:p>
            <a:pPr algn="ctr"/>
            <a:r>
              <a:rPr lang="en-CA" dirty="0"/>
              <a:t>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AA7B6-FCEC-27A2-ECB1-C0A810186D69}"/>
              </a:ext>
            </a:extLst>
          </p:cNvPr>
          <p:cNvSpPr txBox="1"/>
          <p:nvPr/>
        </p:nvSpPr>
        <p:spPr>
          <a:xfrm>
            <a:off x="4994406" y="2024798"/>
            <a:ext cx="1791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GTAC PostgreSQL</a:t>
            </a:r>
          </a:p>
          <a:p>
            <a:pPr algn="ctr"/>
            <a:r>
              <a:rPr lang="en-CA" dirty="0"/>
              <a:t>Server Extension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A74C89-8AB4-BE1D-3DE3-81E39D41BC2D}"/>
              </a:ext>
            </a:extLst>
          </p:cNvPr>
          <p:cNvCxnSpPr>
            <a:cxnSpLocks/>
          </p:cNvCxnSpPr>
          <p:nvPr/>
        </p:nvCxnSpPr>
        <p:spPr>
          <a:xfrm>
            <a:off x="2971402" y="4497088"/>
            <a:ext cx="13716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CA62-1D40-3F63-AFFD-C428EA87EE16}"/>
              </a:ext>
            </a:extLst>
          </p:cNvPr>
          <p:cNvSpPr txBox="1"/>
          <p:nvPr/>
        </p:nvSpPr>
        <p:spPr>
          <a:xfrm>
            <a:off x="2971402" y="4818902"/>
            <a:ext cx="1508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Bi-Directional </a:t>
            </a:r>
          </a:p>
          <a:p>
            <a:pPr algn="ctr"/>
            <a:r>
              <a:rPr lang="en-CA" dirty="0"/>
              <a:t>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2CF15E-11F0-DAEC-E968-F7ECDD82DD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57" y="4023690"/>
            <a:ext cx="975351" cy="9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56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02032-72DC-955D-86F0-8E1C1D86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E6A0566-3366-4EE6-0B97-2DC4AE4AD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5D53F-4D83-B6B0-193B-AF33247B6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70718EC-CF50-5088-C0CC-41995D5DB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BD89DC-D9CE-4577-A04A-EA75B737E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1651426"/>
            <a:ext cx="975351" cy="9753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1757A8-D5C3-C4A4-02FE-38A857CCD98B}"/>
              </a:ext>
            </a:extLst>
          </p:cNvPr>
          <p:cNvSpPr txBox="1"/>
          <p:nvPr/>
        </p:nvSpPr>
        <p:spPr>
          <a:xfrm>
            <a:off x="3098427" y="1435359"/>
            <a:ext cx="5995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The GTAC PostgreSQL Server Extension</a:t>
            </a:r>
          </a:p>
          <a:p>
            <a:pPr algn="ctr"/>
            <a:r>
              <a:rPr lang="en-CA" dirty="0"/>
              <a:t>can be opened, edited and packaged using Visual Studio 2022</a:t>
            </a:r>
          </a:p>
          <a:p>
            <a:pPr algn="ctr"/>
            <a:r>
              <a:rPr lang="en-CA" dirty="0"/>
              <a:t>(version 17.14.25 used in all the following examples)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CEF097-4810-487B-0906-DEC7B5BE6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0298" y="94138"/>
            <a:ext cx="3256684" cy="94965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General Layout of the SE</a:t>
            </a:r>
            <a:endParaRPr lang="en-US" alt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EB476-B09C-29FE-E168-76DE2C7FE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323" y="2750252"/>
            <a:ext cx="5169353" cy="3975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9731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CA82D-2C36-0A79-F1BA-D7F01A34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EDE3CF-0D8B-F27F-0107-D65EEA5D1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E0CFB0D-C5EE-59F1-F036-F07C190B2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B4C3D58-9E31-779A-AB78-A5B682549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B4D3122E-B430-2D1C-BEB4-436B95A93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0298" y="94138"/>
            <a:ext cx="3256684" cy="94965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General Layout of the SE</a:t>
            </a:r>
            <a:endParaRPr lang="en-US" alt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655567-E4FF-0B12-AFC8-E0BFA4DC8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1651426"/>
            <a:ext cx="975351" cy="9753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F08D82-5B64-9F06-B6EF-491CA2D35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728" y="2520354"/>
            <a:ext cx="7884543" cy="42435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A55FA3-796D-854D-1EC6-165076597BB7}"/>
              </a:ext>
            </a:extLst>
          </p:cNvPr>
          <p:cNvSpPr txBox="1"/>
          <p:nvPr/>
        </p:nvSpPr>
        <p:spPr>
          <a:xfrm>
            <a:off x="3964490" y="1435359"/>
            <a:ext cx="42630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Here we see the GTAC PostgreSQL Server</a:t>
            </a:r>
          </a:p>
          <a:p>
            <a:pPr algn="ctr"/>
            <a:r>
              <a:rPr lang="en-CA" dirty="0"/>
              <a:t>Extension, opened in VS 2022 </a:t>
            </a:r>
            <a:endParaRPr lang="en-CA" sz="1200" dirty="0"/>
          </a:p>
          <a:p>
            <a:pPr algn="ctr"/>
            <a:r>
              <a:rPr lang="en-CA" sz="1200" dirty="0"/>
              <a:t>(the </a:t>
            </a:r>
            <a:r>
              <a:rPr lang="en-CA" sz="1200" dirty="0" err="1"/>
              <a:t>GTAC_TcUI_PostgreSQL.cs</a:t>
            </a:r>
            <a:r>
              <a:rPr lang="en-CA" sz="1200" dirty="0"/>
              <a:t> file opened in the example below)</a:t>
            </a:r>
          </a:p>
        </p:txBody>
      </p:sp>
    </p:spTree>
    <p:extLst>
      <p:ext uri="{BB962C8B-B14F-4D97-AF65-F5344CB8AC3E}">
        <p14:creationId xmlns:p14="http://schemas.microsoft.com/office/powerpoint/2010/main" val="3214479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D2F5E-8186-A1D8-7892-8B4C5487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6AF8538-C84E-8A72-80B7-0C8B554F5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DF3C8DA-E0BA-959C-4C2A-ECEDEAF09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F87387B6-58DB-AFD4-C34F-2D2A93F5D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0F2242DF-E7D9-7922-83FD-A883AE67F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0298" y="94138"/>
            <a:ext cx="3256684" cy="94965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File Breakdown</a:t>
            </a:r>
            <a:endParaRPr lang="en-US" alt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019C26-4C32-6B04-934E-D28967D283E9}"/>
              </a:ext>
            </a:extLst>
          </p:cNvPr>
          <p:cNvSpPr txBox="1"/>
          <p:nvPr/>
        </p:nvSpPr>
        <p:spPr>
          <a:xfrm>
            <a:off x="3796279" y="1513290"/>
            <a:ext cx="603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Let’s have a look at some of the files contained in the Package: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0053D7-71A2-2BA3-3087-B6BE5AD9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8" y="1857442"/>
            <a:ext cx="1607913" cy="20254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612F06-BCA3-D6B8-C294-25E9AC537D49}"/>
              </a:ext>
            </a:extLst>
          </p:cNvPr>
          <p:cNvSpPr txBox="1"/>
          <p:nvPr/>
        </p:nvSpPr>
        <p:spPr>
          <a:xfrm>
            <a:off x="1780439" y="2352116"/>
            <a:ext cx="717717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b="1" dirty="0" err="1"/>
              <a:t>GTAC_TcUI_PostgreSQL.config.json</a:t>
            </a:r>
            <a:r>
              <a:rPr lang="en-CA" sz="1400" dirty="0"/>
              <a:t> -&gt; A JSON file used to describe the symbol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that will be used for our </a:t>
            </a:r>
            <a:r>
              <a:rPr lang="en-CA" sz="1400" dirty="0" err="1"/>
              <a:t>TcHmi</a:t>
            </a:r>
            <a:r>
              <a:rPr lang="en-CA" sz="1400" dirty="0"/>
              <a:t> UI and the PostgreSQL SE to communicate thru. Symbols described in this file will show up in the </a:t>
            </a:r>
            <a:r>
              <a:rPr lang="en-CA" sz="1400" dirty="0" err="1"/>
              <a:t>TcHmi</a:t>
            </a:r>
            <a:r>
              <a:rPr lang="en-CA" sz="1400" dirty="0"/>
              <a:t> project similar to PLC symbols (see right)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b="1" dirty="0" err="1"/>
              <a:t>GTAC_TcUI_PostgreSQL.Schema.json</a:t>
            </a:r>
            <a:r>
              <a:rPr lang="en-CA" sz="1400" dirty="0"/>
              <a:t> -&gt; This file describes the SE’s configuration interface that will show up in XAE when you click on the SE. This allows the </a:t>
            </a:r>
            <a:r>
              <a:rPr lang="en-CA" sz="1400" dirty="0" err="1"/>
              <a:t>TcHmi</a:t>
            </a:r>
            <a:r>
              <a:rPr lang="en-CA" sz="1400" dirty="0"/>
              <a:t> developer to customize aspects of the SE such as the database server location and port etc.  (see right)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b="1" dirty="0" err="1"/>
              <a:t>GTAC_TcUI_PostgreSQL.Language.json</a:t>
            </a:r>
            <a:r>
              <a:rPr lang="en-CA" sz="1400" dirty="0"/>
              <a:t> -&gt; In this file we can see English language locales for the configuration points set out in the </a:t>
            </a:r>
            <a:r>
              <a:rPr lang="en-CA" sz="1400" dirty="0" err="1"/>
              <a:t>GTAC_TcUI_PostgreSQL.Schema.json</a:t>
            </a:r>
            <a:r>
              <a:rPr lang="en-CA" sz="1400" dirty="0"/>
              <a:t> file  (see right)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b="1" dirty="0" err="1"/>
              <a:t>GTAC_TcUI_PostgreSQL.cs</a:t>
            </a:r>
            <a:r>
              <a:rPr lang="en-CA" sz="1400" dirty="0"/>
              <a:t> -&gt; This is the source code file. The bulk of the functional code is contained in this file. This is generally where you will spend most of your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b="1" dirty="0" err="1"/>
              <a:t>GTAC_TcUI_PostgreSQL.nuspec</a:t>
            </a:r>
            <a:r>
              <a:rPr lang="en-CA" sz="1400" b="1" dirty="0"/>
              <a:t> </a:t>
            </a:r>
            <a:r>
              <a:rPr lang="en-CA" sz="1400" dirty="0"/>
              <a:t>-&gt; This is an XML based manifest file for how the source code, resultant build files and dependencies get packed into a NuGet package. The NuGet package is what is brought into our </a:t>
            </a:r>
            <a:r>
              <a:rPr lang="en-CA" sz="1400" dirty="0" err="1"/>
              <a:t>TcHmi</a:t>
            </a:r>
            <a:r>
              <a:rPr lang="en-CA" sz="1400" dirty="0"/>
              <a:t> Machine UI solution. </a:t>
            </a:r>
            <a:r>
              <a:rPr lang="en-CA" sz="1400" dirty="0">
                <a:highlight>
                  <a:srgbClr val="FFFF00"/>
                </a:highlight>
              </a:rPr>
              <a:t>NOTE: using a </a:t>
            </a:r>
            <a:r>
              <a:rPr lang="en-CA" sz="1400" dirty="0" err="1">
                <a:highlight>
                  <a:srgbClr val="FFFF00"/>
                </a:highlight>
              </a:rPr>
              <a:t>nuspec</a:t>
            </a:r>
            <a:r>
              <a:rPr lang="en-CA" sz="1400" dirty="0">
                <a:highlight>
                  <a:srgbClr val="FFFF00"/>
                </a:highlight>
              </a:rPr>
              <a:t> file is now considered an older method, largely replaced by information in the .</a:t>
            </a:r>
            <a:r>
              <a:rPr lang="en-CA" sz="1400" dirty="0" err="1">
                <a:highlight>
                  <a:srgbClr val="FFFF00"/>
                </a:highlight>
              </a:rPr>
              <a:t>csproj</a:t>
            </a:r>
            <a:r>
              <a:rPr lang="en-CA" sz="1400" dirty="0">
                <a:highlight>
                  <a:srgbClr val="FFFF00"/>
                </a:highlight>
              </a:rPr>
              <a:t> file for SDK packages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16A1C-71ED-5A72-6AF7-DB4BC53AB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298" y="3294922"/>
            <a:ext cx="3234439" cy="1340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69ACE7-675A-6269-8016-2A02B87FB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8052" y="2110196"/>
            <a:ext cx="3256684" cy="101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37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A9DF2-326D-2A08-E9B6-3E49D087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B591145-982D-7D85-EA10-C87E1A9E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769D237-5284-5942-EA57-33D0FBFFD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9B22078-F48A-9C6F-B530-9E95D5C4D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09BE6450-405E-1A1A-EEBE-BB0C7C7AA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389" y="94138"/>
            <a:ext cx="4373593" cy="60460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 err="1">
                <a:latin typeface="+mj-lt"/>
                <a:ea typeface="+mj-ea"/>
                <a:cs typeface="+mj-cs"/>
              </a:rPr>
              <a:t>GTAC_TcUI_PostgreSQL.cs</a:t>
            </a:r>
            <a:endParaRPr lang="en-US" alt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36F04C-9A8C-8169-FF04-7419198C6891}"/>
              </a:ext>
            </a:extLst>
          </p:cNvPr>
          <p:cNvSpPr txBox="1"/>
          <p:nvPr/>
        </p:nvSpPr>
        <p:spPr>
          <a:xfrm>
            <a:off x="3483313" y="1733234"/>
            <a:ext cx="6549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Since the bulk of the functional code is contained </a:t>
            </a:r>
          </a:p>
          <a:p>
            <a:r>
              <a:rPr lang="en-CA" dirty="0"/>
              <a:t>in the </a:t>
            </a:r>
            <a:r>
              <a:rPr lang="en-CA" dirty="0" err="1"/>
              <a:t>GTAC_TcUI_PostgreSQL.cs</a:t>
            </a:r>
            <a:r>
              <a:rPr lang="en-CA" dirty="0"/>
              <a:t> file, lets have a closer look!</a:t>
            </a:r>
          </a:p>
          <a:p>
            <a:endParaRPr lang="en-CA" dirty="0"/>
          </a:p>
          <a:p>
            <a:r>
              <a:rPr lang="en-CA" dirty="0"/>
              <a:t>The file can be primarily broken down into three parts:</a:t>
            </a:r>
          </a:p>
          <a:p>
            <a:endParaRPr lang="en-CA" dirty="0"/>
          </a:p>
          <a:p>
            <a:endParaRPr lang="en-CA" dirty="0"/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Using Directives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Class Declaration / Definition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Application Specific Methods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The </a:t>
            </a:r>
            <a:r>
              <a:rPr lang="en-CA" dirty="0" err="1"/>
              <a:t>OnRequest</a:t>
            </a:r>
            <a:r>
              <a:rPr lang="en-CA" dirty="0"/>
              <a:t> method</a:t>
            </a:r>
          </a:p>
          <a:p>
            <a:pPr marL="342900" indent="-342900">
              <a:buFont typeface="+mj-lt"/>
              <a:buAutoNum type="arabicPeriod"/>
            </a:pPr>
            <a:endParaRPr lang="en-CA" dirty="0"/>
          </a:p>
          <a:p>
            <a:endParaRPr lang="en-CA" dirty="0"/>
          </a:p>
          <a:p>
            <a:r>
              <a:rPr lang="en-CA" dirty="0"/>
              <a:t>Please note that all the methods in 3 and 4 are contained in the </a:t>
            </a:r>
          </a:p>
          <a:p>
            <a:r>
              <a:rPr lang="en-CA" dirty="0" err="1"/>
              <a:t>GTAC_TcUI_PostgreSQL</a:t>
            </a:r>
            <a:r>
              <a:rPr lang="en-CA" dirty="0"/>
              <a:t> class (2).</a:t>
            </a:r>
          </a:p>
          <a:p>
            <a:pPr marL="342900" indent="-342900">
              <a:buFont typeface="+mj-lt"/>
              <a:buAutoNum type="arabicPeriod"/>
            </a:pPr>
            <a:endParaRPr lang="en-CA" dirty="0"/>
          </a:p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1585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E4E46-688E-50E4-5486-6D1D407C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819C75F-ADFE-DA01-7033-FE2D74B03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DCAD8B2-3BB9-4B68-C068-6C7DC0F87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EDEF583-767D-01AD-4AA8-5DBD267E2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5E2F8D3C-6820-3C56-DC63-1B3FA7EE3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389" y="94138"/>
            <a:ext cx="4373593" cy="10654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 err="1">
                <a:latin typeface="+mj-lt"/>
                <a:ea typeface="+mj-ea"/>
                <a:cs typeface="+mj-cs"/>
              </a:rPr>
              <a:t>GTAC_TcUI_PostgreSQL.cs</a:t>
            </a:r>
            <a:endParaRPr lang="en-US" altLang="en-US" sz="3200" dirty="0">
              <a:latin typeface="+mj-lt"/>
              <a:ea typeface="+mj-ea"/>
              <a:cs typeface="+mj-cs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Using </a:t>
            </a:r>
            <a:r>
              <a:rPr lang="en-US" altLang="en-US" sz="3200" dirty="0">
                <a:latin typeface="+mj-lt"/>
                <a:ea typeface="+mj-ea"/>
                <a:cs typeface="+mj-cs"/>
              </a:rPr>
              <a:t>Directives</a:t>
            </a:r>
            <a:endParaRPr lang="en-US" alt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0E350-82AA-7D71-9553-3FAE6F2559BD}"/>
              </a:ext>
            </a:extLst>
          </p:cNvPr>
          <p:cNvSpPr txBox="1"/>
          <p:nvPr/>
        </p:nvSpPr>
        <p:spPr>
          <a:xfrm>
            <a:off x="593464" y="1705239"/>
            <a:ext cx="6143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“Using Directives” of the </a:t>
            </a:r>
            <a:r>
              <a:rPr lang="en-CA" dirty="0" err="1"/>
              <a:t>GTAC_TcUI_PostgreSQL.cs</a:t>
            </a:r>
            <a:r>
              <a:rPr lang="en-CA" dirty="0"/>
              <a:t> file lists out other namespaces (think dependencies) we will leverage in our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BABFE-C0BE-B21C-A354-325F1C4D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443" y="3182567"/>
            <a:ext cx="9716856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20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F2097-0A71-8699-E3C8-77349220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72C7F0-CC66-A416-EB34-F1F2CC908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0CB901F-B4F4-D8C2-8705-AEF8751E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E8827068-A806-84E8-AABB-2D48C490E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F84EFA8E-A480-3CF8-BCCF-693F71A3B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845" y="94138"/>
            <a:ext cx="5400137" cy="10654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 err="1">
                <a:latin typeface="+mj-lt"/>
                <a:ea typeface="+mj-ea"/>
                <a:cs typeface="+mj-cs"/>
              </a:rPr>
              <a:t>GTAC_TcUI_PostgreSQL.cs</a:t>
            </a:r>
            <a:endParaRPr lang="en-US" altLang="en-US" sz="3200" dirty="0">
              <a:latin typeface="+mj-lt"/>
              <a:ea typeface="+mj-ea"/>
              <a:cs typeface="+mj-cs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>
                <a:latin typeface="+mj-lt"/>
                <a:ea typeface="+mj-ea"/>
                <a:cs typeface="+mj-cs"/>
              </a:rPr>
              <a:t>2</a:t>
            </a: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altLang="en-US" sz="3200" dirty="0">
                <a:latin typeface="+mj-lt"/>
                <a:ea typeface="+mj-ea"/>
                <a:cs typeface="+mj-cs"/>
              </a:rPr>
              <a:t>Class Declaration / Definition</a:t>
            </a:r>
            <a:endParaRPr lang="en-US" alt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2CD33-3432-90EF-7AA9-8847E782C5C5}"/>
              </a:ext>
            </a:extLst>
          </p:cNvPr>
          <p:cNvSpPr txBox="1"/>
          <p:nvPr/>
        </p:nvSpPr>
        <p:spPr>
          <a:xfrm>
            <a:off x="1732151" y="1481916"/>
            <a:ext cx="61437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term “Class” may be new to you. You can think of a class like an FB in </a:t>
            </a:r>
            <a:r>
              <a:rPr lang="en-CA" dirty="0" err="1"/>
              <a:t>TwinCAT</a:t>
            </a:r>
            <a:r>
              <a:rPr lang="en-CA" dirty="0"/>
              <a:t> structured text. A class contains variables, methods (IE actions) and functional code just like an FB. </a:t>
            </a:r>
          </a:p>
          <a:p>
            <a:r>
              <a:rPr lang="en-CA" dirty="0"/>
              <a:t>In our case, as is typical in C#, we declare and define the class in the same block of code.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This is the class declaration   -&gt;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Technically, everything else in the class </a:t>
            </a:r>
          </a:p>
          <a:p>
            <a:r>
              <a:rPr lang="en-CA" dirty="0"/>
              <a:t>(which in our case is the rest of the </a:t>
            </a:r>
          </a:p>
          <a:p>
            <a:r>
              <a:rPr lang="en-CA" dirty="0"/>
              <a:t>file contents) is the class definition   -&gt;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6F335-B5C1-640D-CE22-38770F7B3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061" y="2817257"/>
            <a:ext cx="4838678" cy="1498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6214AB-4A1E-CF45-8E83-E7F0FCBD1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042" y="4878320"/>
            <a:ext cx="3984716" cy="188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41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3D330-F5A9-4C07-0C80-15DC9C4B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A08569E-322D-07FE-01A2-839EB321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1F0CD33-9B4D-6557-E770-EFAC0BB1C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F03AAC94-618B-6978-F4F6-EB96A1168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6BC6EEC3-B12B-3508-DBE3-23A1B3863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845" y="94138"/>
            <a:ext cx="5400137" cy="10654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 err="1">
                <a:latin typeface="+mj-lt"/>
                <a:ea typeface="+mj-ea"/>
                <a:cs typeface="+mj-cs"/>
              </a:rPr>
              <a:t>GTAC_TcUI_PostgreSQL.cs</a:t>
            </a:r>
            <a:endParaRPr lang="en-US" altLang="en-US" sz="3200" dirty="0">
              <a:latin typeface="+mj-lt"/>
              <a:ea typeface="+mj-ea"/>
              <a:cs typeface="+mj-cs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Application Specific Methods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4F1E9-C7D0-9B3E-99C1-E5DA7B6680B4}"/>
              </a:ext>
            </a:extLst>
          </p:cNvPr>
          <p:cNvSpPr txBox="1"/>
          <p:nvPr/>
        </p:nvSpPr>
        <p:spPr>
          <a:xfrm>
            <a:off x="2557292" y="1596826"/>
            <a:ext cx="70774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Application Specific Methods are the real nuts and bolts of how our server extension works. They are the functional code that end up being called when the </a:t>
            </a:r>
            <a:r>
              <a:rPr lang="en-CA" dirty="0" err="1"/>
              <a:t>TcHmi</a:t>
            </a:r>
            <a:r>
              <a:rPr lang="en-CA" dirty="0"/>
              <a:t> UI accesses a Server Extension symbol.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The full list of methods is too large for the scope of this document. You are encouraged to study the code in depth to gain a good understanding of how each method works. </a:t>
            </a:r>
          </a:p>
          <a:p>
            <a:endParaRPr lang="en-CA" dirty="0"/>
          </a:p>
          <a:p>
            <a:r>
              <a:rPr lang="en-CA" dirty="0"/>
              <a:t>Some methods of particular interest are: “</a:t>
            </a:r>
            <a:r>
              <a:rPr lang="en-CA" dirty="0" err="1"/>
              <a:t>Connect_Base</a:t>
            </a:r>
            <a:r>
              <a:rPr lang="en-CA" dirty="0"/>
              <a:t>”, “</a:t>
            </a:r>
            <a:r>
              <a:rPr lang="en-CA" dirty="0" err="1"/>
              <a:t>Read_Base</a:t>
            </a:r>
            <a:r>
              <a:rPr lang="en-CA" dirty="0"/>
              <a:t>”, “</a:t>
            </a:r>
            <a:r>
              <a:rPr lang="en-CA" dirty="0" err="1"/>
              <a:t>Write_Base</a:t>
            </a:r>
            <a:r>
              <a:rPr lang="en-CA" dirty="0"/>
              <a:t>” where the heavy lifting is done.</a:t>
            </a:r>
          </a:p>
          <a:p>
            <a:endParaRPr lang="en-CA" dirty="0"/>
          </a:p>
          <a:p>
            <a:r>
              <a:rPr lang="en-CA" dirty="0"/>
              <a:t>Please note that some typical C# best practices were not used during the development of this SE in such cases where code style more typical of what you may have seen in </a:t>
            </a:r>
            <a:r>
              <a:rPr lang="en-CA" dirty="0" err="1"/>
              <a:t>TwinCAT</a:t>
            </a:r>
            <a:r>
              <a:rPr lang="en-CA" dirty="0"/>
              <a:t> were used. This was done to help the migration from one environment to the other. 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44340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21112-00C5-E11E-01B3-413F24C5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C4B798F-D2BE-EB03-0BB2-BAED126ED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CCDAC5E-76AE-3599-AACD-42E0CC48E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673F610-4B33-D7CD-3B49-85C4579BE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BD5EB878-23D4-FF8A-BA88-8EA29C985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845" y="94138"/>
            <a:ext cx="5400137" cy="10654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 err="1">
                <a:latin typeface="+mj-lt"/>
                <a:ea typeface="+mj-ea"/>
                <a:cs typeface="+mj-cs"/>
              </a:rPr>
              <a:t>GTAC_TcUI_PostgreSQL.cs</a:t>
            </a:r>
            <a:endParaRPr lang="en-US" altLang="en-US" sz="3200" dirty="0">
              <a:latin typeface="+mj-lt"/>
              <a:ea typeface="+mj-ea"/>
              <a:cs typeface="+mj-cs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>
                <a:latin typeface="+mj-lt"/>
                <a:ea typeface="+mj-ea"/>
                <a:cs typeface="+mj-cs"/>
              </a:rPr>
              <a:t>4</a:t>
            </a: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alt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OnRequest</a:t>
            </a: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365D5F-6296-D246-8134-7E809E31D026}"/>
              </a:ext>
            </a:extLst>
          </p:cNvPr>
          <p:cNvSpPr txBox="1"/>
          <p:nvPr/>
        </p:nvSpPr>
        <p:spPr>
          <a:xfrm>
            <a:off x="481701" y="1465309"/>
            <a:ext cx="735445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The </a:t>
            </a:r>
            <a:r>
              <a:rPr lang="en-CA" sz="1600" dirty="0" err="1"/>
              <a:t>OnRequest</a:t>
            </a:r>
            <a:r>
              <a:rPr lang="en-CA" sz="1600" dirty="0"/>
              <a:t> Method is the last method in the </a:t>
            </a:r>
            <a:r>
              <a:rPr lang="en-CA" sz="1600" dirty="0" err="1"/>
              <a:t>GTAC_TcUI_PostgreSQL</a:t>
            </a:r>
            <a:r>
              <a:rPr lang="en-CA" sz="1600" dirty="0"/>
              <a:t> class. It is a “callback” method registered against the Server Extensions request listener. So, when the </a:t>
            </a:r>
            <a:r>
              <a:rPr lang="en-CA" sz="1600" dirty="0" err="1"/>
              <a:t>TcHmi</a:t>
            </a:r>
            <a:r>
              <a:rPr lang="en-CA" sz="1600" dirty="0"/>
              <a:t> UI makes a request to the server extension by accessing one of the </a:t>
            </a:r>
            <a:r>
              <a:rPr lang="en-CA" sz="1600" dirty="0" err="1"/>
              <a:t>Servr</a:t>
            </a:r>
            <a:r>
              <a:rPr lang="en-CA" sz="1600" dirty="0"/>
              <a:t> Extension symbols, this </a:t>
            </a:r>
            <a:r>
              <a:rPr lang="en-CA" sz="1600" dirty="0" err="1"/>
              <a:t>OnRequest</a:t>
            </a:r>
            <a:r>
              <a:rPr lang="en-CA" sz="1600" dirty="0"/>
              <a:t> method is executed. The symbol that was accessed in the request by </a:t>
            </a:r>
            <a:r>
              <a:rPr lang="en-CA" sz="1600" dirty="0" err="1"/>
              <a:t>TcHmi</a:t>
            </a:r>
            <a:r>
              <a:rPr lang="en-CA" sz="1600" dirty="0"/>
              <a:t> contains a “command” object. The command object contains a string that identifies which symbol was accessed.</a:t>
            </a:r>
          </a:p>
          <a:p>
            <a:endParaRPr lang="en-CA" sz="1600" dirty="0"/>
          </a:p>
          <a:p>
            <a:r>
              <a:rPr lang="en-CA" sz="1600" dirty="0"/>
              <a:t>Here is where we register the </a:t>
            </a:r>
            <a:r>
              <a:rPr lang="en-CA" sz="1600" dirty="0" err="1"/>
              <a:t>OnRequest</a:t>
            </a:r>
            <a:r>
              <a:rPr lang="en-CA" sz="1600" dirty="0"/>
              <a:t> method to the request listener   -&gt;</a:t>
            </a:r>
          </a:p>
          <a:p>
            <a:endParaRPr lang="en-CA" sz="1600" dirty="0"/>
          </a:p>
          <a:p>
            <a:r>
              <a:rPr lang="en-US" sz="1600" dirty="0"/>
              <a:t>For example, if the “CONNECT” symbol is accessed in the machine’s </a:t>
            </a:r>
            <a:r>
              <a:rPr lang="en-US" sz="1600" dirty="0" err="1"/>
              <a:t>TcHmi</a:t>
            </a:r>
            <a:r>
              <a:rPr lang="en-US" sz="1600" dirty="0"/>
              <a:t> UI, the request listener detects this event and passes the associated command object — which includes the command mapping string (in this case, </a:t>
            </a:r>
            <a:r>
              <a:rPr lang="en-US" dirty="0"/>
              <a:t>"CONNECT"</a:t>
            </a:r>
            <a:r>
              <a:rPr lang="en-US" sz="1600" dirty="0"/>
              <a:t>) — to the server extension     -&gt;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Inside the server extension, the </a:t>
            </a:r>
            <a:r>
              <a:rPr lang="en-US" dirty="0" err="1"/>
              <a:t>OnRequest</a:t>
            </a:r>
            <a:r>
              <a:rPr lang="en-US" sz="1600" dirty="0"/>
              <a:t> method processes the incoming command by checking the command’s mapping string in a switch statement.</a:t>
            </a:r>
          </a:p>
          <a:p>
            <a:r>
              <a:rPr lang="en-US" sz="1600" dirty="0"/>
              <a:t>When the </a:t>
            </a:r>
            <a:r>
              <a:rPr lang="en-US" dirty="0"/>
              <a:t>"CONNECT"</a:t>
            </a:r>
            <a:r>
              <a:rPr lang="en-US" sz="1600" dirty="0"/>
              <a:t> mapping is detected, the </a:t>
            </a:r>
            <a:r>
              <a:rPr lang="en-US" dirty="0" err="1"/>
              <a:t>OnRequest</a:t>
            </a:r>
            <a:r>
              <a:rPr lang="en-US" sz="1600" dirty="0"/>
              <a:t> method calls the corresponding </a:t>
            </a:r>
            <a:r>
              <a:rPr lang="en-US" dirty="0"/>
              <a:t>CONNECT</a:t>
            </a:r>
            <a:r>
              <a:rPr lang="en-US" sz="1600" dirty="0"/>
              <a:t> method and passes the command object to it. The </a:t>
            </a:r>
            <a:r>
              <a:rPr lang="en-US" dirty="0"/>
              <a:t>CONNECT</a:t>
            </a:r>
            <a:r>
              <a:rPr lang="en-US" sz="1600" dirty="0"/>
              <a:t> method then performs the necessary operations and uses the command object to send data or results back to the </a:t>
            </a:r>
            <a:r>
              <a:rPr lang="en-US" sz="1600" dirty="0" err="1"/>
              <a:t>TcHmi</a:t>
            </a:r>
            <a:r>
              <a:rPr lang="en-US" sz="1600" dirty="0"/>
              <a:t> client        -&gt;</a:t>
            </a:r>
          </a:p>
          <a:p>
            <a:endParaRPr lang="en-CA" dirty="0"/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01B8B-BC92-6FF8-5E31-E791F1DD9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160" y="2895487"/>
            <a:ext cx="4048890" cy="994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58DA16-FE23-C743-3DEE-513536EF1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109" y="4485215"/>
            <a:ext cx="5930634" cy="423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538DD2-C706-573F-A4CD-E50F8E5FD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025" y="4973590"/>
            <a:ext cx="4326909" cy="1790271"/>
          </a:xfrm>
          <a:prstGeom prst="rect">
            <a:avLst/>
          </a:prstGeom>
        </p:spPr>
      </p:pic>
      <p:sp>
        <p:nvSpPr>
          <p:cNvPr id="9" name="Arrow: Bent-Up 8">
            <a:extLst>
              <a:ext uri="{FF2B5EF4-FFF2-40B4-BE49-F238E27FC236}">
                <a16:creationId xmlns:a16="http://schemas.microsoft.com/office/drawing/2014/main" id="{C1B32C6E-4A95-05DD-2EAA-759BD03E2B5B}"/>
              </a:ext>
            </a:extLst>
          </p:cNvPr>
          <p:cNvSpPr/>
          <p:nvPr/>
        </p:nvSpPr>
        <p:spPr>
          <a:xfrm rot="16200000" flipH="1" flipV="1">
            <a:off x="7094401" y="4520358"/>
            <a:ext cx="423617" cy="1059898"/>
          </a:xfrm>
          <a:prstGeom prst="bentUpArrow">
            <a:avLst>
              <a:gd name="adj1" fmla="val 25000"/>
              <a:gd name="adj2" fmla="val 26018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5564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1421D-17C3-98C9-CF30-3EB0E467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87E3EA5-2B24-5380-3D4F-F27A38FF8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CBFF2C-D3B9-AB30-728A-016BBB282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62A15EA-AD63-99DF-CC62-084169839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BAE90331-4B11-3A67-AC57-DCB2F76F6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845" y="94138"/>
            <a:ext cx="5400137" cy="10654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dirty="0">
                <a:latin typeface="+mj-lt"/>
                <a:ea typeface="+mj-ea"/>
                <a:cs typeface="+mj-cs"/>
              </a:rPr>
              <a:t>More to come</a:t>
            </a:r>
            <a:endParaRPr lang="en-US" alt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14E7CF-DE47-B89C-9CC2-EE7B78F7E225}"/>
              </a:ext>
            </a:extLst>
          </p:cNvPr>
          <p:cNvSpPr txBox="1"/>
          <p:nvPr/>
        </p:nvSpPr>
        <p:spPr>
          <a:xfrm>
            <a:off x="5042888" y="3532930"/>
            <a:ext cx="2106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Still in the works</a:t>
            </a:r>
            <a:endParaRPr lang="en-US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2719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D4DD2C-DDD7-4907-8F02-A738CFEDB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your time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99D1212-E576-40D6-99C4-DE518FAF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122016"/>
            <a:ext cx="7188199" cy="2610579"/>
          </a:xfrm>
          <a:prstGeom prst="rect">
            <a:avLst/>
          </a:prstGeom>
        </p:spPr>
      </p:pic>
      <p:pic>
        <p:nvPicPr>
          <p:cNvPr id="3" name="Picture 2" descr="A picture containing handwear&#10;&#10;Description automatically generated">
            <a:extLst>
              <a:ext uri="{FF2B5EF4-FFF2-40B4-BE49-F238E27FC236}">
                <a16:creationId xmlns:a16="http://schemas.microsoft.com/office/drawing/2014/main" id="{E7620775-D2F4-4772-ADE0-C3642B210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830" y="266423"/>
            <a:ext cx="1589170" cy="158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25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25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4017</TotalTime>
  <Words>1210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Sodecia GTAC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GTAC Controls Training PT 1</dc:subject>
  <dc:creator>Lekx-Toniolo, Taylor</dc:creator>
  <cp:lastModifiedBy>BK Lekx-Toniolo</cp:lastModifiedBy>
  <cp:revision>341</cp:revision>
  <dcterms:created xsi:type="dcterms:W3CDTF">2021-11-04T14:33:04Z</dcterms:created>
  <dcterms:modified xsi:type="dcterms:W3CDTF">2026-02-02T18:14:31Z</dcterms:modified>
</cp:coreProperties>
</file>