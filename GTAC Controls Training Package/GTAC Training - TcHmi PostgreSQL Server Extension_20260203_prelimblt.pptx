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340" r:id="rId4"/>
    <p:sldId id="336" r:id="rId5"/>
    <p:sldId id="337" r:id="rId6"/>
    <p:sldId id="339" r:id="rId7"/>
    <p:sldId id="338" r:id="rId8"/>
    <p:sldId id="341" r:id="rId9"/>
    <p:sldId id="342" r:id="rId10"/>
    <p:sldId id="343" r:id="rId11"/>
    <p:sldId id="344" r:id="rId12"/>
    <p:sldId id="345" r:id="rId13"/>
    <p:sldId id="346"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26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47" autoAdjust="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F55466-E84B-4F75-BA83-3316E8326EFD}" type="datetimeFigureOut">
              <a:rPr lang="en-CA" smtClean="0"/>
              <a:t>2026-02-03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3E8C42-D1E0-44A5-8C8D-10100DEDC6CD}" type="slidenum">
              <a:rPr lang="en-CA" smtClean="0"/>
              <a:t>‹#›</a:t>
            </a:fld>
            <a:endParaRPr lang="en-CA"/>
          </a:p>
        </p:txBody>
      </p:sp>
    </p:spTree>
    <p:extLst>
      <p:ext uri="{BB962C8B-B14F-4D97-AF65-F5344CB8AC3E}">
        <p14:creationId xmlns:p14="http://schemas.microsoft.com/office/powerpoint/2010/main" val="4266579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41EA7-9A78-4A49-8997-1E8AEFC466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9FBB44CA-778B-4BF4-A918-EDEEC4FC1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C77683F-4AD0-4A93-A054-3D07E62BDEFE}"/>
              </a:ext>
            </a:extLst>
          </p:cNvPr>
          <p:cNvSpPr>
            <a:spLocks noGrp="1"/>
          </p:cNvSpPr>
          <p:nvPr>
            <p:ph type="dt" sz="half" idx="10"/>
          </p:nvPr>
        </p:nvSpPr>
        <p:spPr/>
        <p:txBody>
          <a:bodyPr/>
          <a:lstStyle/>
          <a:p>
            <a:fld id="{BC2F4239-97E8-4813-8A06-8DEFC0B1123C}" type="datetimeFigureOut">
              <a:rPr lang="en-CA" smtClean="0"/>
              <a:t>2026-02-03</a:t>
            </a:fld>
            <a:endParaRPr lang="en-CA"/>
          </a:p>
        </p:txBody>
      </p:sp>
      <p:sp>
        <p:nvSpPr>
          <p:cNvPr id="5" name="Footer Placeholder 4">
            <a:extLst>
              <a:ext uri="{FF2B5EF4-FFF2-40B4-BE49-F238E27FC236}">
                <a16:creationId xmlns:a16="http://schemas.microsoft.com/office/drawing/2014/main" id="{8CF11835-CAF9-4BA8-89D7-8EFBA258983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2B122CC-F095-486D-B105-8F8ADC7E4B0B}"/>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1572324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B3D50-2B82-4E9D-B3F5-ED7D945B08EB}"/>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CECC16A-02C7-4BEF-A0CE-9B6A85FCC7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10EF480-8E0D-4D13-9D33-4EB69ED11925}"/>
              </a:ext>
            </a:extLst>
          </p:cNvPr>
          <p:cNvSpPr>
            <a:spLocks noGrp="1"/>
          </p:cNvSpPr>
          <p:nvPr>
            <p:ph type="dt" sz="half" idx="10"/>
          </p:nvPr>
        </p:nvSpPr>
        <p:spPr/>
        <p:txBody>
          <a:bodyPr/>
          <a:lstStyle/>
          <a:p>
            <a:fld id="{BC2F4239-97E8-4813-8A06-8DEFC0B1123C}" type="datetimeFigureOut">
              <a:rPr lang="en-CA" smtClean="0"/>
              <a:t>2026-02-03</a:t>
            </a:fld>
            <a:endParaRPr lang="en-CA"/>
          </a:p>
        </p:txBody>
      </p:sp>
      <p:sp>
        <p:nvSpPr>
          <p:cNvPr id="5" name="Footer Placeholder 4">
            <a:extLst>
              <a:ext uri="{FF2B5EF4-FFF2-40B4-BE49-F238E27FC236}">
                <a16:creationId xmlns:a16="http://schemas.microsoft.com/office/drawing/2014/main" id="{FDBC9C84-EB36-431E-B7D8-F08E71E65D2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CCA7E75-EAE4-46D1-9005-82F89961B22D}"/>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741118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65BBC-CDF8-484F-B5AB-C36D96A624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3598CF05-ACC8-4BC2-A3E3-AA2C428B1DF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E8013B-BE0F-44AF-A2B8-01027C406FE2}"/>
              </a:ext>
            </a:extLst>
          </p:cNvPr>
          <p:cNvSpPr>
            <a:spLocks noGrp="1"/>
          </p:cNvSpPr>
          <p:nvPr>
            <p:ph type="dt" sz="half" idx="10"/>
          </p:nvPr>
        </p:nvSpPr>
        <p:spPr/>
        <p:txBody>
          <a:bodyPr/>
          <a:lstStyle/>
          <a:p>
            <a:fld id="{BC2F4239-97E8-4813-8A06-8DEFC0B1123C}" type="datetimeFigureOut">
              <a:rPr lang="en-CA" smtClean="0"/>
              <a:t>2026-02-03</a:t>
            </a:fld>
            <a:endParaRPr lang="en-CA"/>
          </a:p>
        </p:txBody>
      </p:sp>
      <p:sp>
        <p:nvSpPr>
          <p:cNvPr id="5" name="Footer Placeholder 4">
            <a:extLst>
              <a:ext uri="{FF2B5EF4-FFF2-40B4-BE49-F238E27FC236}">
                <a16:creationId xmlns:a16="http://schemas.microsoft.com/office/drawing/2014/main" id="{7C9BB6B0-D32A-4413-BCE3-AB0E9D2ADD5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A42C7BC-D57D-4B2D-8651-C42A5C470983}"/>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3471555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A96FD-B94E-4B5C-B75A-F53545F0618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97023A31-5222-42F9-B6B8-89C02EA8C5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75DC4F6-CAC6-475C-AE5F-1D915D4572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F1D34E5F-3A77-42B4-A317-05EAD2EE8CC2}"/>
              </a:ext>
            </a:extLst>
          </p:cNvPr>
          <p:cNvSpPr>
            <a:spLocks noGrp="1"/>
          </p:cNvSpPr>
          <p:nvPr>
            <p:ph type="dt" sz="half" idx="10"/>
          </p:nvPr>
        </p:nvSpPr>
        <p:spPr/>
        <p:txBody>
          <a:bodyPr/>
          <a:lstStyle/>
          <a:p>
            <a:fld id="{BC2F4239-97E8-4813-8A06-8DEFC0B1123C}" type="datetimeFigureOut">
              <a:rPr lang="en-CA" smtClean="0"/>
              <a:t>2026-02-03</a:t>
            </a:fld>
            <a:endParaRPr lang="en-CA"/>
          </a:p>
        </p:txBody>
      </p:sp>
      <p:sp>
        <p:nvSpPr>
          <p:cNvPr id="6" name="Footer Placeholder 5">
            <a:extLst>
              <a:ext uri="{FF2B5EF4-FFF2-40B4-BE49-F238E27FC236}">
                <a16:creationId xmlns:a16="http://schemas.microsoft.com/office/drawing/2014/main" id="{ABFBE935-82DC-4A73-97F9-82270F15B4B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845B740-AD1F-478C-B429-6C92A2543875}"/>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35890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0CDD1-F6F2-42B5-98F8-E442F24F0E5B}"/>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3DB7715-4B41-4CBD-85BE-8A1A2C6236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3471C3-80C2-42C3-8D73-069F9A9630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296AABFD-B297-4329-BAFF-F46A9DD50E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69D711-0560-42F5-A2F7-B963C42026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C827E6D3-C020-4A0E-8C31-EA4CD5E0D9B7}"/>
              </a:ext>
            </a:extLst>
          </p:cNvPr>
          <p:cNvSpPr>
            <a:spLocks noGrp="1"/>
          </p:cNvSpPr>
          <p:nvPr>
            <p:ph type="dt" sz="half" idx="10"/>
          </p:nvPr>
        </p:nvSpPr>
        <p:spPr/>
        <p:txBody>
          <a:bodyPr/>
          <a:lstStyle/>
          <a:p>
            <a:fld id="{BC2F4239-97E8-4813-8A06-8DEFC0B1123C}" type="datetimeFigureOut">
              <a:rPr lang="en-CA" smtClean="0"/>
              <a:t>2026-02-03</a:t>
            </a:fld>
            <a:endParaRPr lang="en-CA"/>
          </a:p>
        </p:txBody>
      </p:sp>
      <p:sp>
        <p:nvSpPr>
          <p:cNvPr id="8" name="Footer Placeholder 7">
            <a:extLst>
              <a:ext uri="{FF2B5EF4-FFF2-40B4-BE49-F238E27FC236}">
                <a16:creationId xmlns:a16="http://schemas.microsoft.com/office/drawing/2014/main" id="{DEB6EA53-7D4F-4C74-A82C-BE27A7CA4DB4}"/>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1715372-4643-4ACC-9668-EEA2E444204A}"/>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1637963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ED520-8EFF-4D9E-9DEA-4364E37A759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1DF756D-3438-42A6-9848-88860E285B53}"/>
              </a:ext>
            </a:extLst>
          </p:cNvPr>
          <p:cNvSpPr>
            <a:spLocks noGrp="1"/>
          </p:cNvSpPr>
          <p:nvPr>
            <p:ph type="dt" sz="half" idx="10"/>
          </p:nvPr>
        </p:nvSpPr>
        <p:spPr/>
        <p:txBody>
          <a:bodyPr/>
          <a:lstStyle/>
          <a:p>
            <a:fld id="{BC2F4239-97E8-4813-8A06-8DEFC0B1123C}" type="datetimeFigureOut">
              <a:rPr lang="en-CA" smtClean="0"/>
              <a:t>2026-02-03</a:t>
            </a:fld>
            <a:endParaRPr lang="en-CA"/>
          </a:p>
        </p:txBody>
      </p:sp>
      <p:sp>
        <p:nvSpPr>
          <p:cNvPr id="4" name="Footer Placeholder 3">
            <a:extLst>
              <a:ext uri="{FF2B5EF4-FFF2-40B4-BE49-F238E27FC236}">
                <a16:creationId xmlns:a16="http://schemas.microsoft.com/office/drawing/2014/main" id="{F87713D8-EC39-4DBE-A83D-AAC61EFB73DA}"/>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CF0C1EE7-1DB6-47EC-8F4E-DD8D2DB19483}"/>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1095293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CFCF09-EAC9-4EDC-A7A0-135336EFC111}"/>
              </a:ext>
            </a:extLst>
          </p:cNvPr>
          <p:cNvSpPr>
            <a:spLocks noGrp="1"/>
          </p:cNvSpPr>
          <p:nvPr>
            <p:ph type="dt" sz="half" idx="10"/>
          </p:nvPr>
        </p:nvSpPr>
        <p:spPr/>
        <p:txBody>
          <a:bodyPr/>
          <a:lstStyle/>
          <a:p>
            <a:fld id="{BC2F4239-97E8-4813-8A06-8DEFC0B1123C}" type="datetimeFigureOut">
              <a:rPr lang="en-CA" smtClean="0"/>
              <a:t>2026-02-03</a:t>
            </a:fld>
            <a:endParaRPr lang="en-CA"/>
          </a:p>
        </p:txBody>
      </p:sp>
      <p:sp>
        <p:nvSpPr>
          <p:cNvPr id="3" name="Footer Placeholder 2">
            <a:extLst>
              <a:ext uri="{FF2B5EF4-FFF2-40B4-BE49-F238E27FC236}">
                <a16:creationId xmlns:a16="http://schemas.microsoft.com/office/drawing/2014/main" id="{28525333-F08B-43B4-8767-4A44C7078C5D}"/>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1F61A178-FD9F-4B6B-9170-9D42B5EE272F}"/>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2941860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83B64-17AB-419B-A7AD-6578C08411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2F0D300-CB7C-4A1E-AA2D-B90FE23C85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988D8EE-9D5C-4716-99FF-430B92F81A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4FA58E-DFCC-4FEC-A004-47984A7DC3BB}"/>
              </a:ext>
            </a:extLst>
          </p:cNvPr>
          <p:cNvSpPr>
            <a:spLocks noGrp="1"/>
          </p:cNvSpPr>
          <p:nvPr>
            <p:ph type="dt" sz="half" idx="10"/>
          </p:nvPr>
        </p:nvSpPr>
        <p:spPr/>
        <p:txBody>
          <a:bodyPr/>
          <a:lstStyle/>
          <a:p>
            <a:fld id="{BC2F4239-97E8-4813-8A06-8DEFC0B1123C}" type="datetimeFigureOut">
              <a:rPr lang="en-CA" smtClean="0"/>
              <a:t>2026-02-03</a:t>
            </a:fld>
            <a:endParaRPr lang="en-CA"/>
          </a:p>
        </p:txBody>
      </p:sp>
      <p:sp>
        <p:nvSpPr>
          <p:cNvPr id="6" name="Footer Placeholder 5">
            <a:extLst>
              <a:ext uri="{FF2B5EF4-FFF2-40B4-BE49-F238E27FC236}">
                <a16:creationId xmlns:a16="http://schemas.microsoft.com/office/drawing/2014/main" id="{71EB3A44-4800-4A73-BE8B-AEC2BFB274F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0A1985E-DADE-4317-B29D-2B8C781129DB}"/>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592521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AB4D5-4F44-44B7-BF63-12F62E16EB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F96D172A-D1CE-4624-A911-10D2150DDF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7FBB0016-8AD5-47BE-98D3-F281F80821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278E4F-75AA-4FD9-8183-8B0F6CEB828C}"/>
              </a:ext>
            </a:extLst>
          </p:cNvPr>
          <p:cNvSpPr>
            <a:spLocks noGrp="1"/>
          </p:cNvSpPr>
          <p:nvPr>
            <p:ph type="dt" sz="half" idx="10"/>
          </p:nvPr>
        </p:nvSpPr>
        <p:spPr/>
        <p:txBody>
          <a:bodyPr/>
          <a:lstStyle/>
          <a:p>
            <a:fld id="{BC2F4239-97E8-4813-8A06-8DEFC0B1123C}" type="datetimeFigureOut">
              <a:rPr lang="en-CA" smtClean="0"/>
              <a:t>2026-02-03</a:t>
            </a:fld>
            <a:endParaRPr lang="en-CA"/>
          </a:p>
        </p:txBody>
      </p:sp>
      <p:sp>
        <p:nvSpPr>
          <p:cNvPr id="6" name="Footer Placeholder 5">
            <a:extLst>
              <a:ext uri="{FF2B5EF4-FFF2-40B4-BE49-F238E27FC236}">
                <a16:creationId xmlns:a16="http://schemas.microsoft.com/office/drawing/2014/main" id="{984DF100-4AD0-496C-969E-3C9A78A5134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E002853-A458-43D9-A342-9A7110DE5025}"/>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2215592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360F5-5D73-42CE-9A38-AA1BE457F12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78AEE31-0E8C-4CF7-94B1-1AD148A3CB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A8A8C51-4BAD-414E-AD81-E1E562F5F9EE}"/>
              </a:ext>
            </a:extLst>
          </p:cNvPr>
          <p:cNvSpPr>
            <a:spLocks noGrp="1"/>
          </p:cNvSpPr>
          <p:nvPr>
            <p:ph type="dt" sz="half" idx="10"/>
          </p:nvPr>
        </p:nvSpPr>
        <p:spPr/>
        <p:txBody>
          <a:bodyPr/>
          <a:lstStyle/>
          <a:p>
            <a:fld id="{BC2F4239-97E8-4813-8A06-8DEFC0B1123C}" type="datetimeFigureOut">
              <a:rPr lang="en-CA" smtClean="0"/>
              <a:t>2026-02-03</a:t>
            </a:fld>
            <a:endParaRPr lang="en-CA"/>
          </a:p>
        </p:txBody>
      </p:sp>
      <p:sp>
        <p:nvSpPr>
          <p:cNvPr id="5" name="Footer Placeholder 4">
            <a:extLst>
              <a:ext uri="{FF2B5EF4-FFF2-40B4-BE49-F238E27FC236}">
                <a16:creationId xmlns:a16="http://schemas.microsoft.com/office/drawing/2014/main" id="{175785BE-95A1-4959-A7EA-D7E77565FD2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6A28DA5-9A08-411A-AD34-031CF77A4630}"/>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2485208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A275EB-3FB7-452A-8E0E-FB96B63671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C7E0F17-010B-47B8-90AC-18C84DFE8E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0544A8B-6347-4A91-AF21-9E5B2559965C}"/>
              </a:ext>
            </a:extLst>
          </p:cNvPr>
          <p:cNvSpPr>
            <a:spLocks noGrp="1"/>
          </p:cNvSpPr>
          <p:nvPr>
            <p:ph type="dt" sz="half" idx="10"/>
          </p:nvPr>
        </p:nvSpPr>
        <p:spPr/>
        <p:txBody>
          <a:bodyPr/>
          <a:lstStyle/>
          <a:p>
            <a:fld id="{BC2F4239-97E8-4813-8A06-8DEFC0B1123C}" type="datetimeFigureOut">
              <a:rPr lang="en-CA" smtClean="0"/>
              <a:t>2026-02-03</a:t>
            </a:fld>
            <a:endParaRPr lang="en-CA"/>
          </a:p>
        </p:txBody>
      </p:sp>
      <p:sp>
        <p:nvSpPr>
          <p:cNvPr id="5" name="Footer Placeholder 4">
            <a:extLst>
              <a:ext uri="{FF2B5EF4-FFF2-40B4-BE49-F238E27FC236}">
                <a16:creationId xmlns:a16="http://schemas.microsoft.com/office/drawing/2014/main" id="{1679A37E-B2E4-4F40-9A01-A4BD52B5C91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2838CCB-8DA3-4CDE-9873-1FC0FB64613D}"/>
              </a:ext>
            </a:extLst>
          </p:cNvPr>
          <p:cNvSpPr>
            <a:spLocks noGrp="1"/>
          </p:cNvSpPr>
          <p:nvPr>
            <p:ph type="sldNum" sz="quarter" idx="12"/>
          </p:nvPr>
        </p:nvSpPr>
        <p:spPr/>
        <p:txBody>
          <a:bodyPr/>
          <a:lstStyle/>
          <a:p>
            <a:fld id="{302F635B-B814-4F4D-9CB7-673E3038898A}" type="slidenum">
              <a:rPr lang="en-CA" smtClean="0"/>
              <a:t>‹#›</a:t>
            </a:fld>
            <a:endParaRPr lang="en-CA"/>
          </a:p>
        </p:txBody>
      </p:sp>
    </p:spTree>
    <p:extLst>
      <p:ext uri="{BB962C8B-B14F-4D97-AF65-F5344CB8AC3E}">
        <p14:creationId xmlns:p14="http://schemas.microsoft.com/office/powerpoint/2010/main" val="3754919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007112-863C-4A6C-8921-315F237D2E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630AA16-F5D1-4337-8456-6253B53B4F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36B947B-21FB-4B90-8EC7-A7CFD81930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2F4239-97E8-4813-8A06-8DEFC0B1123C}" type="datetimeFigureOut">
              <a:rPr lang="en-CA" smtClean="0"/>
              <a:t>2026-02-03</a:t>
            </a:fld>
            <a:endParaRPr lang="en-CA"/>
          </a:p>
        </p:txBody>
      </p:sp>
      <p:sp>
        <p:nvSpPr>
          <p:cNvPr id="5" name="Footer Placeholder 4">
            <a:extLst>
              <a:ext uri="{FF2B5EF4-FFF2-40B4-BE49-F238E27FC236}">
                <a16:creationId xmlns:a16="http://schemas.microsoft.com/office/drawing/2014/main" id="{2CA881F6-9FFA-43B5-ADE3-8E69DD99C1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300F5398-C352-4890-92DF-11DBB6FE05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2F635B-B814-4F4D-9CB7-673E3038898A}" type="slidenum">
              <a:rPr lang="en-CA" smtClean="0"/>
              <a:t>‹#›</a:t>
            </a:fld>
            <a:endParaRPr lang="en-CA"/>
          </a:p>
        </p:txBody>
      </p:sp>
    </p:spTree>
    <p:extLst>
      <p:ext uri="{BB962C8B-B14F-4D97-AF65-F5344CB8AC3E}">
        <p14:creationId xmlns:p14="http://schemas.microsoft.com/office/powerpoint/2010/main" val="1499374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0FC627C-CF51-4634-8210-322F38FCFC50}"/>
              </a:ext>
            </a:extLst>
          </p:cNvPr>
          <p:cNvPicPr>
            <a:picLocks noChangeAspect="1"/>
          </p:cNvPicPr>
          <p:nvPr/>
        </p:nvPicPr>
        <p:blipFill>
          <a:blip r:embed="rId2">
            <a:alphaModFix amt="11000"/>
          </a:blip>
          <a:stretch>
            <a:fillRect/>
          </a:stretch>
        </p:blipFill>
        <p:spPr>
          <a:xfrm>
            <a:off x="2527684" y="265568"/>
            <a:ext cx="9450369" cy="6190650"/>
          </a:xfrm>
          <a:prstGeom prst="rect">
            <a:avLst/>
          </a:prstGeom>
        </p:spPr>
      </p:pic>
      <p:sp>
        <p:nvSpPr>
          <p:cNvPr id="30" name="Rectangle 2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id="{0BD4DD2C-DDD7-4907-8F02-A738CFEDB92D}"/>
              </a:ext>
            </a:extLst>
          </p:cNvPr>
          <p:cNvSpPr>
            <a:spLocks noChangeArrowheads="1"/>
          </p:cNvSpPr>
          <p:nvPr/>
        </p:nvSpPr>
        <p:spPr bwMode="auto">
          <a:xfrm>
            <a:off x="213947" y="1633199"/>
            <a:ext cx="3524473" cy="3455387"/>
          </a:xfrm>
          <a:prstGeom prst="ellipse">
            <a:avLst/>
          </a:prstGeom>
          <a:solidFill>
            <a:srgbClr val="262626"/>
          </a:solidFill>
          <a:ln w="174625" cmpd="thinThick">
            <a:solidFill>
              <a:srgbClr val="262626"/>
            </a:solid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2600" dirty="0">
                <a:solidFill>
                  <a:srgbClr val="FFFFFF"/>
                </a:solidFill>
                <a:latin typeface="+mj-lt"/>
                <a:ea typeface="+mj-ea"/>
                <a:cs typeface="+mj-cs"/>
              </a:rPr>
              <a:t>Internal </a:t>
            </a:r>
            <a:r>
              <a:rPr lang="en-US" altLang="en-US" sz="2600" kern="1200" dirty="0">
                <a:solidFill>
                  <a:srgbClr val="FFFFFF"/>
                </a:solidFill>
                <a:latin typeface="+mj-lt"/>
                <a:ea typeface="+mj-ea"/>
                <a:cs typeface="+mj-cs"/>
              </a:rPr>
              <a:t>Training:</a:t>
            </a:r>
          </a:p>
          <a:p>
            <a:pPr algn="ctr" eaLnBrk="1" hangingPunct="1">
              <a:lnSpc>
                <a:spcPct val="90000"/>
              </a:lnSpc>
              <a:spcBef>
                <a:spcPct val="0"/>
              </a:spcBef>
              <a:spcAft>
                <a:spcPts val="600"/>
              </a:spcAft>
            </a:pPr>
            <a:r>
              <a:rPr lang="en-US" altLang="en-US" sz="2600" kern="1200" dirty="0">
                <a:solidFill>
                  <a:srgbClr val="FFFFFF"/>
                </a:solidFill>
                <a:latin typeface="+mj-lt"/>
                <a:ea typeface="+mj-ea"/>
                <a:cs typeface="+mj-cs"/>
              </a:rPr>
              <a:t> PostgreSQL Server Extension</a:t>
            </a:r>
          </a:p>
        </p:txBody>
      </p:sp>
      <p:pic>
        <p:nvPicPr>
          <p:cNvPr id="23" name="Picture 22" descr="Logo&#10;&#10;Description automatically generated">
            <a:extLst>
              <a:ext uri="{FF2B5EF4-FFF2-40B4-BE49-F238E27FC236}">
                <a16:creationId xmlns:a16="http://schemas.microsoft.com/office/drawing/2014/main" id="{0F321D2C-D090-49FA-93E8-510313BA6B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251" y="2269702"/>
            <a:ext cx="6781548" cy="2462893"/>
          </a:xfrm>
          <a:prstGeom prst="rect">
            <a:avLst/>
          </a:prstGeom>
        </p:spPr>
      </p:pic>
    </p:spTree>
    <p:extLst>
      <p:ext uri="{BB962C8B-B14F-4D97-AF65-F5344CB8AC3E}">
        <p14:creationId xmlns:p14="http://schemas.microsoft.com/office/powerpoint/2010/main" val="12916807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B3A2D1A-45FC-4F95-B150-1C13EF2F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9C3C864-C625-4883-B868-9A4C470F4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3F8EE4F-B2A4-41D2-9CDD-02E7A3794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4C2AE16-4BF6-4040-B0AB-95595459C9CE}"/>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Prerequisites</a:t>
            </a:r>
          </a:p>
        </p:txBody>
      </p:sp>
      <p:sp>
        <p:nvSpPr>
          <p:cNvPr id="2" name="TextBox 1">
            <a:extLst>
              <a:ext uri="{FF2B5EF4-FFF2-40B4-BE49-F238E27FC236}">
                <a16:creationId xmlns:a16="http://schemas.microsoft.com/office/drawing/2014/main" id="{F56C59D3-2E2D-C696-AB30-B0C9CE863055}"/>
              </a:ext>
            </a:extLst>
          </p:cNvPr>
          <p:cNvSpPr txBox="1"/>
          <p:nvPr/>
        </p:nvSpPr>
        <p:spPr>
          <a:xfrm>
            <a:off x="704384" y="1646569"/>
            <a:ext cx="10783231" cy="7140416"/>
          </a:xfrm>
          <a:prstGeom prst="rect">
            <a:avLst/>
          </a:prstGeom>
          <a:noFill/>
        </p:spPr>
        <p:txBody>
          <a:bodyPr wrap="square" rtlCol="0">
            <a:spAutoFit/>
          </a:bodyPr>
          <a:lstStyle/>
          <a:p>
            <a:pPr algn="ctr"/>
            <a:r>
              <a:rPr lang="en-CA" sz="2800" dirty="0"/>
              <a:t>This document is intended to help, in a self-directed manner, navigate through our PostgreSQL Server Extension package built for our </a:t>
            </a:r>
            <a:r>
              <a:rPr lang="en-CA" sz="2800" dirty="0" err="1"/>
              <a:t>TcHmi</a:t>
            </a:r>
            <a:r>
              <a:rPr lang="en-CA" sz="2800" dirty="0"/>
              <a:t> based UI and assumes the following:</a:t>
            </a:r>
          </a:p>
          <a:p>
            <a:endParaRPr lang="en-CA" sz="2800" dirty="0"/>
          </a:p>
          <a:p>
            <a:pPr marL="457200" indent="-457200">
              <a:buFont typeface="Arial" panose="020B0604020202020204" pitchFamily="34" charset="0"/>
              <a:buChar char="•"/>
            </a:pPr>
            <a:r>
              <a:rPr lang="en-CA" dirty="0"/>
              <a:t>You have setup your local PC environment as per the IC Setup Guide contained in the SSCC610 machine package with:</a:t>
            </a:r>
          </a:p>
          <a:p>
            <a:pPr marL="1371600" lvl="2" indent="-457200">
              <a:buFont typeface="Arial" panose="020B0604020202020204" pitchFamily="34" charset="0"/>
              <a:buChar char="•"/>
            </a:pPr>
            <a:r>
              <a:rPr lang="en-CA" dirty="0"/>
              <a:t>XAE 4024.55 (in addition to .22)</a:t>
            </a:r>
          </a:p>
          <a:p>
            <a:pPr marL="1371600" lvl="2" indent="-457200">
              <a:buFont typeface="Arial" panose="020B0604020202020204" pitchFamily="34" charset="0"/>
              <a:buChar char="•"/>
            </a:pPr>
            <a:r>
              <a:rPr lang="en-CA" dirty="0" err="1"/>
              <a:t>TcHmi</a:t>
            </a:r>
            <a:r>
              <a:rPr lang="en-CA" dirty="0"/>
              <a:t> TE2000 (</a:t>
            </a:r>
            <a:r>
              <a:rPr lang="en-CA" dirty="0" err="1"/>
              <a:t>TcHmi</a:t>
            </a:r>
            <a:r>
              <a:rPr lang="en-CA" dirty="0"/>
              <a:t> Engineering)</a:t>
            </a:r>
          </a:p>
          <a:p>
            <a:pPr marL="1371600" lvl="2" indent="-457200">
              <a:buFont typeface="Arial" panose="020B0604020202020204" pitchFamily="34" charset="0"/>
              <a:buChar char="•"/>
            </a:pPr>
            <a:r>
              <a:rPr lang="en-CA" dirty="0" err="1"/>
              <a:t>TcHmi</a:t>
            </a:r>
            <a:r>
              <a:rPr lang="en-CA" dirty="0"/>
              <a:t> TF2000 (</a:t>
            </a:r>
            <a:r>
              <a:rPr lang="en-CA" dirty="0" err="1"/>
              <a:t>TcHmi</a:t>
            </a:r>
            <a:r>
              <a:rPr lang="en-CA" dirty="0"/>
              <a:t> Server)</a:t>
            </a:r>
          </a:p>
          <a:p>
            <a:pPr marL="1371600" lvl="2" indent="-457200">
              <a:buFont typeface="Arial" panose="020B0604020202020204" pitchFamily="34" charset="0"/>
              <a:buChar char="•"/>
            </a:pPr>
            <a:r>
              <a:rPr lang="en-CA" dirty="0"/>
              <a:t>Postgres / </a:t>
            </a:r>
            <a:r>
              <a:rPr lang="en-CA" dirty="0" err="1"/>
              <a:t>pgAdmin</a:t>
            </a:r>
            <a:r>
              <a:rPr lang="en-CA" dirty="0"/>
              <a:t> (Database / Database administrative tool)</a:t>
            </a:r>
          </a:p>
          <a:p>
            <a:endParaRPr lang="en-CA" dirty="0"/>
          </a:p>
          <a:p>
            <a:pPr marL="457200" indent="-457200">
              <a:buFont typeface="Arial" panose="020B0604020202020204" pitchFamily="34" charset="0"/>
              <a:buChar char="•"/>
            </a:pPr>
            <a:r>
              <a:rPr lang="en-CA" dirty="0"/>
              <a:t>Successfully deployed FW level SSCC610 locally on the above environment</a:t>
            </a:r>
          </a:p>
          <a:p>
            <a:pPr marL="457200" indent="-457200">
              <a:buFont typeface="Arial" panose="020B0604020202020204" pitchFamily="34" charset="0"/>
              <a:buChar char="•"/>
            </a:pPr>
            <a:r>
              <a:rPr lang="en-CA" dirty="0"/>
              <a:t>Completion of all previous GTAC Internal Controls Training</a:t>
            </a:r>
          </a:p>
          <a:p>
            <a:pPr marL="457200" indent="-457200">
              <a:buFont typeface="Arial" panose="020B0604020202020204" pitchFamily="34" charset="0"/>
              <a:buChar char="•"/>
            </a:pPr>
            <a:r>
              <a:rPr lang="en-CA" dirty="0"/>
              <a:t>Visual Studio 2022 is installed on your PC (check with your manager and I.T. to ensure VS 2022 is applicable / allowable in terms of Microsoft licensing agreements) </a:t>
            </a:r>
          </a:p>
          <a:p>
            <a:pPr marL="457200" indent="-457200">
              <a:buFont typeface="Arial" panose="020B0604020202020204" pitchFamily="34" charset="0"/>
              <a:buChar char="•"/>
            </a:pPr>
            <a:endParaRPr lang="en-CA" dirty="0"/>
          </a:p>
          <a:p>
            <a:pPr marL="457200" indent="-457200">
              <a:buFont typeface="Arial" panose="020B0604020202020204" pitchFamily="34" charset="0"/>
              <a:buChar char="•"/>
            </a:pPr>
            <a:endParaRPr lang="en-CA" dirty="0"/>
          </a:p>
          <a:p>
            <a:endParaRPr lang="en-CA" sz="2800" dirty="0"/>
          </a:p>
          <a:p>
            <a:endParaRPr lang="en-CA" sz="2800" dirty="0"/>
          </a:p>
          <a:p>
            <a:endParaRPr lang="en-CA" sz="2800" dirty="0"/>
          </a:p>
          <a:p>
            <a:endParaRPr lang="en-CA" sz="2800" dirty="0"/>
          </a:p>
        </p:txBody>
      </p:sp>
    </p:spTree>
    <p:extLst>
      <p:ext uri="{BB962C8B-B14F-4D97-AF65-F5344CB8AC3E}">
        <p14:creationId xmlns:p14="http://schemas.microsoft.com/office/powerpoint/2010/main" val="77709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4ADFA1-DD1C-CFB4-C7F5-D50CEDCEBE3D}"/>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E11CEE8-63B6-77F1-E1D2-AD5777C14F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EA37993-A114-C15D-6DBC-261A68F312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A4C5EB54-3513-D63B-EF48-E63752794A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16" name="TextBox 15">
            <a:extLst>
              <a:ext uri="{FF2B5EF4-FFF2-40B4-BE49-F238E27FC236}">
                <a16:creationId xmlns:a16="http://schemas.microsoft.com/office/drawing/2014/main" id="{BDB71D7B-2B65-3488-E393-0E9EDFB42086}"/>
              </a:ext>
            </a:extLst>
          </p:cNvPr>
          <p:cNvSpPr txBox="1"/>
          <p:nvPr/>
        </p:nvSpPr>
        <p:spPr>
          <a:xfrm>
            <a:off x="2494151" y="1461300"/>
            <a:ext cx="7203703" cy="1200329"/>
          </a:xfrm>
          <a:prstGeom prst="rect">
            <a:avLst/>
          </a:prstGeom>
          <a:noFill/>
        </p:spPr>
        <p:txBody>
          <a:bodyPr wrap="none" rtlCol="0">
            <a:spAutoFit/>
          </a:bodyPr>
          <a:lstStyle/>
          <a:p>
            <a:pPr algn="ctr"/>
            <a:r>
              <a:rPr lang="en-CA" dirty="0"/>
              <a:t>Our Server Extension is built primarily using the C# Language</a:t>
            </a:r>
          </a:p>
          <a:p>
            <a:pPr algn="ctr"/>
            <a:r>
              <a:rPr lang="en-CA" dirty="0"/>
              <a:t>You will also see use of JSON files for general configuration</a:t>
            </a:r>
          </a:p>
          <a:p>
            <a:pPr algn="ctr"/>
            <a:r>
              <a:rPr lang="en-CA" dirty="0"/>
              <a:t>W3 schools offers great tutorials for both C# and JSON if you are unfamiliar</a:t>
            </a:r>
          </a:p>
          <a:p>
            <a:pPr algn="ctr"/>
            <a:endParaRPr lang="en-CA" dirty="0"/>
          </a:p>
        </p:txBody>
      </p:sp>
      <p:pic>
        <p:nvPicPr>
          <p:cNvPr id="5" name="Picture 4">
            <a:extLst>
              <a:ext uri="{FF2B5EF4-FFF2-40B4-BE49-F238E27FC236}">
                <a16:creationId xmlns:a16="http://schemas.microsoft.com/office/drawing/2014/main" id="{471BDA26-A761-9C30-A5B7-E82586A6CE6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17884" y="2455872"/>
            <a:ext cx="6170922" cy="4228946"/>
          </a:xfrm>
          <a:prstGeom prst="rect">
            <a:avLst/>
          </a:prstGeom>
          <a:ln>
            <a:noFill/>
          </a:ln>
          <a:effectLst>
            <a:outerShdw blurRad="292100" dist="139700" dir="2700000" algn="tl" rotWithShape="0">
              <a:srgbClr val="333333">
                <a:alpha val="65000"/>
              </a:srgbClr>
            </a:outerShdw>
          </a:effectLst>
        </p:spPr>
      </p:pic>
      <p:sp>
        <p:nvSpPr>
          <p:cNvPr id="6" name="Rectangle 1">
            <a:extLst>
              <a:ext uri="{FF2B5EF4-FFF2-40B4-BE49-F238E27FC236}">
                <a16:creationId xmlns:a16="http://schemas.microsoft.com/office/drawing/2014/main" id="{172EF4B6-5908-D2D6-C00B-1268F293E766}"/>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kern="1200" dirty="0">
                <a:solidFill>
                  <a:schemeClr val="tx1"/>
                </a:solidFill>
                <a:latin typeface="+mj-lt"/>
                <a:ea typeface="+mj-ea"/>
                <a:cs typeface="+mj-cs"/>
              </a:rPr>
              <a:t>Prerequisites</a:t>
            </a:r>
          </a:p>
        </p:txBody>
      </p:sp>
      <p:pic>
        <p:nvPicPr>
          <p:cNvPr id="8" name="Picture 7">
            <a:extLst>
              <a:ext uri="{FF2B5EF4-FFF2-40B4-BE49-F238E27FC236}">
                <a16:creationId xmlns:a16="http://schemas.microsoft.com/office/drawing/2014/main" id="{87434BC8-6D86-C6FD-B536-18ADCAF7A089}"/>
              </a:ext>
            </a:extLst>
          </p:cNvPr>
          <p:cNvPicPr>
            <a:picLocks noChangeAspect="1"/>
          </p:cNvPicPr>
          <p:nvPr/>
        </p:nvPicPr>
        <p:blipFill>
          <a:blip r:embed="rId4"/>
          <a:stretch>
            <a:fillRect/>
          </a:stretch>
        </p:blipFill>
        <p:spPr>
          <a:xfrm>
            <a:off x="6333707" y="3096883"/>
            <a:ext cx="5403713" cy="36745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62593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034696-7CC8-EC70-C2E9-27386ACD390C}"/>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3EB024C-614C-944A-16B6-3B984ECB9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3D1DCFD-815C-84CA-94E8-EE86BDE9A0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B5A842EB-CB74-F755-0C9F-9C0A499117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D16FB05F-2EAE-1D89-5848-4DF88619FC46}"/>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General Topology</a:t>
            </a:r>
            <a:endParaRPr lang="en-US" altLang="en-US" sz="4000" kern="1200" dirty="0">
              <a:solidFill>
                <a:schemeClr val="tx1"/>
              </a:solidFill>
              <a:latin typeface="+mj-lt"/>
              <a:ea typeface="+mj-ea"/>
              <a:cs typeface="+mj-cs"/>
            </a:endParaRPr>
          </a:p>
        </p:txBody>
      </p:sp>
      <p:pic>
        <p:nvPicPr>
          <p:cNvPr id="4" name="Picture 2" descr="Db Icon">
            <a:extLst>
              <a:ext uri="{FF2B5EF4-FFF2-40B4-BE49-F238E27FC236}">
                <a16:creationId xmlns:a16="http://schemas.microsoft.com/office/drawing/2014/main" id="{066C398E-1FED-BEEB-9CC1-03E96016258C}"/>
              </a:ext>
            </a:extLst>
          </p:cNvPr>
          <p:cNvPicPr/>
          <p:nvPr/>
        </p:nvPicPr>
        <p:blipFill>
          <a:blip r:embed="rId3"/>
          <a:stretch/>
        </p:blipFill>
        <p:spPr>
          <a:xfrm>
            <a:off x="5572817" y="3984454"/>
            <a:ext cx="1080328" cy="1030857"/>
          </a:xfrm>
          <a:prstGeom prst="rect">
            <a:avLst/>
          </a:prstGeom>
          <a:ln w="0">
            <a:noFill/>
          </a:ln>
        </p:spPr>
      </p:pic>
      <p:pic>
        <p:nvPicPr>
          <p:cNvPr id="5" name="Picture 12" descr="Getting Started With PostgreSQL. There are numerous different types of… |  by Alex Mitrani | Medium">
            <a:extLst>
              <a:ext uri="{FF2B5EF4-FFF2-40B4-BE49-F238E27FC236}">
                <a16:creationId xmlns:a16="http://schemas.microsoft.com/office/drawing/2014/main" id="{002A8626-347B-0547-6F89-13D38897C16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2594"/>
          <a:stretch>
            <a:fillRect/>
          </a:stretch>
        </p:blipFill>
        <p:spPr bwMode="auto">
          <a:xfrm>
            <a:off x="5242061" y="2798324"/>
            <a:ext cx="1741839" cy="118613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o you use pgAdmin? Why? : r/PostgreSQL">
            <a:extLst>
              <a:ext uri="{FF2B5EF4-FFF2-40B4-BE49-F238E27FC236}">
                <a16:creationId xmlns:a16="http://schemas.microsoft.com/office/drawing/2014/main" id="{DFEF0618-29DD-83BA-80E7-55AF54CEEF3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745" t="28742" r="20377" b="31509"/>
          <a:stretch>
            <a:fillRect/>
          </a:stretch>
        </p:blipFill>
        <p:spPr bwMode="auto">
          <a:xfrm>
            <a:off x="582628" y="3894599"/>
            <a:ext cx="2758083" cy="106547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51965AFF-DE35-4140-395A-96B483485E37}"/>
              </a:ext>
            </a:extLst>
          </p:cNvPr>
          <p:cNvCxnSpPr>
            <a:cxnSpLocks/>
          </p:cNvCxnSpPr>
          <p:nvPr/>
        </p:nvCxnSpPr>
        <p:spPr>
          <a:xfrm>
            <a:off x="7484064" y="4497088"/>
            <a:ext cx="1371600" cy="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EF20E165-34E1-3990-66A9-A89E8E0AD9EC}"/>
              </a:ext>
            </a:extLst>
          </p:cNvPr>
          <p:cNvCxnSpPr>
            <a:cxnSpLocks/>
          </p:cNvCxnSpPr>
          <p:nvPr/>
        </p:nvCxnSpPr>
        <p:spPr>
          <a:xfrm flipV="1">
            <a:off x="3510119" y="4497088"/>
            <a:ext cx="1371600" cy="14278"/>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EF222A58-3866-73EE-5F22-AA21EF0874BC}"/>
              </a:ext>
            </a:extLst>
          </p:cNvPr>
          <p:cNvSpPr/>
          <p:nvPr/>
        </p:nvSpPr>
        <p:spPr>
          <a:xfrm>
            <a:off x="5022584" y="3023332"/>
            <a:ext cx="2130724" cy="253544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52FDE662-144B-A3B6-CD5B-6B5F3EAC6B31}"/>
              </a:ext>
            </a:extLst>
          </p:cNvPr>
          <p:cNvSpPr txBox="1"/>
          <p:nvPr/>
        </p:nvSpPr>
        <p:spPr>
          <a:xfrm>
            <a:off x="7484064" y="4818902"/>
            <a:ext cx="1508939" cy="646331"/>
          </a:xfrm>
          <a:prstGeom prst="rect">
            <a:avLst/>
          </a:prstGeom>
          <a:noFill/>
        </p:spPr>
        <p:txBody>
          <a:bodyPr wrap="none" rtlCol="0">
            <a:spAutoFit/>
          </a:bodyPr>
          <a:lstStyle/>
          <a:p>
            <a:pPr algn="ctr"/>
            <a:r>
              <a:rPr lang="en-CA" dirty="0"/>
              <a:t>Bi-Directional </a:t>
            </a:r>
          </a:p>
          <a:p>
            <a:pPr algn="ctr"/>
            <a:r>
              <a:rPr lang="en-CA" dirty="0"/>
              <a:t>Data</a:t>
            </a:r>
          </a:p>
        </p:txBody>
      </p:sp>
      <p:sp>
        <p:nvSpPr>
          <p:cNvPr id="16" name="TextBox 15">
            <a:extLst>
              <a:ext uri="{FF2B5EF4-FFF2-40B4-BE49-F238E27FC236}">
                <a16:creationId xmlns:a16="http://schemas.microsoft.com/office/drawing/2014/main" id="{87E7F935-5938-71C4-4E7E-0A2A5D57B27E}"/>
              </a:ext>
            </a:extLst>
          </p:cNvPr>
          <p:cNvSpPr txBox="1"/>
          <p:nvPr/>
        </p:nvSpPr>
        <p:spPr>
          <a:xfrm>
            <a:off x="3438765" y="4818902"/>
            <a:ext cx="1599669" cy="646331"/>
          </a:xfrm>
          <a:prstGeom prst="rect">
            <a:avLst/>
          </a:prstGeom>
          <a:noFill/>
        </p:spPr>
        <p:txBody>
          <a:bodyPr wrap="none" rtlCol="0">
            <a:spAutoFit/>
          </a:bodyPr>
          <a:lstStyle/>
          <a:p>
            <a:pPr algn="ctr"/>
            <a:r>
              <a:rPr lang="en-CA" dirty="0"/>
              <a:t>Administrative </a:t>
            </a:r>
          </a:p>
          <a:p>
            <a:pPr algn="ctr"/>
            <a:r>
              <a:rPr lang="en-CA" dirty="0"/>
              <a:t>Commands</a:t>
            </a:r>
          </a:p>
        </p:txBody>
      </p:sp>
      <p:sp>
        <p:nvSpPr>
          <p:cNvPr id="20" name="TextBox 19">
            <a:extLst>
              <a:ext uri="{FF2B5EF4-FFF2-40B4-BE49-F238E27FC236}">
                <a16:creationId xmlns:a16="http://schemas.microsoft.com/office/drawing/2014/main" id="{4119E7CE-099F-B4C4-170F-96FC8DF52DB7}"/>
              </a:ext>
            </a:extLst>
          </p:cNvPr>
          <p:cNvSpPr txBox="1"/>
          <p:nvPr/>
        </p:nvSpPr>
        <p:spPr>
          <a:xfrm>
            <a:off x="1003681" y="2628926"/>
            <a:ext cx="2266453" cy="1200329"/>
          </a:xfrm>
          <a:prstGeom prst="rect">
            <a:avLst/>
          </a:prstGeom>
          <a:noFill/>
        </p:spPr>
        <p:txBody>
          <a:bodyPr wrap="none" rtlCol="0">
            <a:spAutoFit/>
          </a:bodyPr>
          <a:lstStyle/>
          <a:p>
            <a:pPr algn="ctr"/>
            <a:r>
              <a:rPr lang="en-CA" dirty="0" err="1"/>
              <a:t>pgAdmin</a:t>
            </a:r>
            <a:r>
              <a:rPr lang="en-CA" dirty="0"/>
              <a:t> is an </a:t>
            </a:r>
          </a:p>
          <a:p>
            <a:pPr algn="ctr"/>
            <a:r>
              <a:rPr lang="en-CA" dirty="0"/>
              <a:t>administrative tool</a:t>
            </a:r>
          </a:p>
          <a:p>
            <a:pPr algn="ctr"/>
            <a:r>
              <a:rPr lang="en-CA" dirty="0"/>
              <a:t>Used to configure the </a:t>
            </a:r>
          </a:p>
          <a:p>
            <a:pPr algn="ctr"/>
            <a:r>
              <a:rPr lang="en-CA" dirty="0"/>
              <a:t>Postgres Database</a:t>
            </a:r>
          </a:p>
        </p:txBody>
      </p:sp>
      <p:sp>
        <p:nvSpPr>
          <p:cNvPr id="21" name="TextBox 20">
            <a:extLst>
              <a:ext uri="{FF2B5EF4-FFF2-40B4-BE49-F238E27FC236}">
                <a16:creationId xmlns:a16="http://schemas.microsoft.com/office/drawing/2014/main" id="{9668DEE8-9966-7D62-393A-507FE4B14058}"/>
              </a:ext>
            </a:extLst>
          </p:cNvPr>
          <p:cNvSpPr txBox="1"/>
          <p:nvPr/>
        </p:nvSpPr>
        <p:spPr>
          <a:xfrm>
            <a:off x="8785285" y="2567598"/>
            <a:ext cx="2266453" cy="1200329"/>
          </a:xfrm>
          <a:prstGeom prst="rect">
            <a:avLst/>
          </a:prstGeom>
          <a:noFill/>
        </p:spPr>
        <p:txBody>
          <a:bodyPr wrap="square" rtlCol="0">
            <a:spAutoFit/>
          </a:bodyPr>
          <a:lstStyle/>
          <a:p>
            <a:pPr algn="ctr"/>
            <a:r>
              <a:rPr lang="en-CA" dirty="0"/>
              <a:t>GTAC </a:t>
            </a:r>
            <a:r>
              <a:rPr lang="en-CA" dirty="0" err="1"/>
              <a:t>TcHmi</a:t>
            </a:r>
            <a:r>
              <a:rPr lang="en-CA" dirty="0"/>
              <a:t> Machine UI (with GTAC PostgreSQL Server Extension)</a:t>
            </a:r>
          </a:p>
        </p:txBody>
      </p:sp>
      <p:sp>
        <p:nvSpPr>
          <p:cNvPr id="22" name="TextBox 21">
            <a:extLst>
              <a:ext uri="{FF2B5EF4-FFF2-40B4-BE49-F238E27FC236}">
                <a16:creationId xmlns:a16="http://schemas.microsoft.com/office/drawing/2014/main" id="{A38E5B99-C4F0-A2AB-E53C-183E40F707C8}"/>
              </a:ext>
            </a:extLst>
          </p:cNvPr>
          <p:cNvSpPr txBox="1"/>
          <p:nvPr/>
        </p:nvSpPr>
        <p:spPr>
          <a:xfrm>
            <a:off x="5498622" y="1868059"/>
            <a:ext cx="1058175" cy="923330"/>
          </a:xfrm>
          <a:prstGeom prst="rect">
            <a:avLst/>
          </a:prstGeom>
          <a:noFill/>
        </p:spPr>
        <p:txBody>
          <a:bodyPr wrap="none" rtlCol="0">
            <a:spAutoFit/>
          </a:bodyPr>
          <a:lstStyle/>
          <a:p>
            <a:pPr algn="ctr"/>
            <a:r>
              <a:rPr lang="en-CA" dirty="0"/>
              <a:t>Postgres </a:t>
            </a:r>
          </a:p>
          <a:p>
            <a:pPr algn="ctr"/>
            <a:r>
              <a:rPr lang="en-CA" dirty="0"/>
              <a:t>Database</a:t>
            </a:r>
          </a:p>
          <a:p>
            <a:pPr algn="ctr"/>
            <a:r>
              <a:rPr lang="en-CA" dirty="0"/>
              <a:t>Server</a:t>
            </a:r>
          </a:p>
        </p:txBody>
      </p:sp>
      <p:pic>
        <p:nvPicPr>
          <p:cNvPr id="2" name="Picture 1">
            <a:extLst>
              <a:ext uri="{FF2B5EF4-FFF2-40B4-BE49-F238E27FC236}">
                <a16:creationId xmlns:a16="http://schemas.microsoft.com/office/drawing/2014/main" id="{7D8F1E59-270A-DAB1-91DC-5A3B65C6E8F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79691" y="4737435"/>
            <a:ext cx="975351" cy="975351"/>
          </a:xfrm>
          <a:prstGeom prst="rect">
            <a:avLst/>
          </a:prstGeom>
        </p:spPr>
      </p:pic>
      <p:pic>
        <p:nvPicPr>
          <p:cNvPr id="3" name="Picture 2" descr="Icon&#10;&#10;Description automatically generated">
            <a:extLst>
              <a:ext uri="{FF2B5EF4-FFF2-40B4-BE49-F238E27FC236}">
                <a16:creationId xmlns:a16="http://schemas.microsoft.com/office/drawing/2014/main" id="{93D3F994-7794-944F-F2F9-82929EAA275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76111" y="4023690"/>
            <a:ext cx="975351" cy="975351"/>
          </a:xfrm>
          <a:prstGeom prst="rect">
            <a:avLst/>
          </a:prstGeom>
        </p:spPr>
      </p:pic>
    </p:spTree>
    <p:extLst>
      <p:ext uri="{BB962C8B-B14F-4D97-AF65-F5344CB8AC3E}">
        <p14:creationId xmlns:p14="http://schemas.microsoft.com/office/powerpoint/2010/main" val="415879181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1C392C-DE24-FF50-33B5-97A27D0FF78F}"/>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AC62555-9BD1-6893-50D3-7D2E8D259A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83FDFDE3-3364-FDA5-CC73-3DF3A44D3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C31CB524-D55D-25D7-492B-130CE4CFC6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401BDB67-C9D5-F3A8-3950-DC92DF76638E}"/>
              </a:ext>
            </a:extLst>
          </p:cNvPr>
          <p:cNvSpPr>
            <a:spLocks noChangeArrowheads="1"/>
          </p:cNvSpPr>
          <p:nvPr/>
        </p:nvSpPr>
        <p:spPr bwMode="auto">
          <a:xfrm>
            <a:off x="7767874" y="94138"/>
            <a:ext cx="4274947" cy="1273024"/>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General Topology</a:t>
            </a:r>
            <a:endParaRPr lang="en-US" altLang="en-US" sz="4000" kern="1200" dirty="0">
              <a:solidFill>
                <a:schemeClr val="tx1"/>
              </a:solidFill>
              <a:latin typeface="+mj-lt"/>
              <a:ea typeface="+mj-ea"/>
              <a:cs typeface="+mj-cs"/>
            </a:endParaRPr>
          </a:p>
        </p:txBody>
      </p:sp>
      <p:pic>
        <p:nvPicPr>
          <p:cNvPr id="3" name="Picture 2" descr="Icon&#10;&#10;Description automatically generated">
            <a:extLst>
              <a:ext uri="{FF2B5EF4-FFF2-40B4-BE49-F238E27FC236}">
                <a16:creationId xmlns:a16="http://schemas.microsoft.com/office/drawing/2014/main" id="{291E828E-A8A6-8E01-AD95-88E119EC85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6111" y="4023690"/>
            <a:ext cx="975351" cy="975351"/>
          </a:xfrm>
          <a:prstGeom prst="rect">
            <a:avLst/>
          </a:prstGeom>
        </p:spPr>
      </p:pic>
      <p:pic>
        <p:nvPicPr>
          <p:cNvPr id="4" name="Picture 2" descr="Db Icon">
            <a:extLst>
              <a:ext uri="{FF2B5EF4-FFF2-40B4-BE49-F238E27FC236}">
                <a16:creationId xmlns:a16="http://schemas.microsoft.com/office/drawing/2014/main" id="{AE087925-5F41-E4C7-E457-26D6A8E6E7F8}"/>
              </a:ext>
            </a:extLst>
          </p:cNvPr>
          <p:cNvPicPr/>
          <p:nvPr/>
        </p:nvPicPr>
        <p:blipFill>
          <a:blip r:embed="rId4"/>
          <a:stretch/>
        </p:blipFill>
        <p:spPr>
          <a:xfrm>
            <a:off x="1114300" y="4046468"/>
            <a:ext cx="1080328" cy="1030857"/>
          </a:xfrm>
          <a:prstGeom prst="rect">
            <a:avLst/>
          </a:prstGeom>
          <a:ln w="0">
            <a:noFill/>
          </a:ln>
        </p:spPr>
      </p:pic>
      <p:pic>
        <p:nvPicPr>
          <p:cNvPr id="5" name="Picture 12" descr="Getting Started With PostgreSQL. There are numerous different types of… |  by Alex Mitrani | Medium">
            <a:extLst>
              <a:ext uri="{FF2B5EF4-FFF2-40B4-BE49-F238E27FC236}">
                <a16:creationId xmlns:a16="http://schemas.microsoft.com/office/drawing/2014/main" id="{87DA5E2C-2602-B150-2C06-D9C5D7E72D6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594"/>
          <a:stretch>
            <a:fillRect/>
          </a:stretch>
        </p:blipFill>
        <p:spPr bwMode="auto">
          <a:xfrm>
            <a:off x="783544" y="2835935"/>
            <a:ext cx="1741839" cy="118613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48C72858-92E8-F175-11E0-F0374508D0DE}"/>
              </a:ext>
            </a:extLst>
          </p:cNvPr>
          <p:cNvCxnSpPr>
            <a:cxnSpLocks/>
          </p:cNvCxnSpPr>
          <p:nvPr/>
        </p:nvCxnSpPr>
        <p:spPr>
          <a:xfrm>
            <a:off x="7484064" y="4497088"/>
            <a:ext cx="1371600" cy="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71A64DB0-2F61-473F-2678-AFCF1A8325D8}"/>
              </a:ext>
            </a:extLst>
          </p:cNvPr>
          <p:cNvSpPr/>
          <p:nvPr/>
        </p:nvSpPr>
        <p:spPr>
          <a:xfrm>
            <a:off x="589103" y="3093777"/>
            <a:ext cx="2130724" cy="2535446"/>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433AE703-94DF-5D6D-38E7-D0BA5BCD3C3F}"/>
              </a:ext>
            </a:extLst>
          </p:cNvPr>
          <p:cNvSpPr txBox="1"/>
          <p:nvPr/>
        </p:nvSpPr>
        <p:spPr>
          <a:xfrm>
            <a:off x="7484064" y="4818902"/>
            <a:ext cx="1508939" cy="646331"/>
          </a:xfrm>
          <a:prstGeom prst="rect">
            <a:avLst/>
          </a:prstGeom>
          <a:noFill/>
        </p:spPr>
        <p:txBody>
          <a:bodyPr wrap="none" rtlCol="0">
            <a:spAutoFit/>
          </a:bodyPr>
          <a:lstStyle/>
          <a:p>
            <a:pPr algn="ctr"/>
            <a:r>
              <a:rPr lang="en-CA" dirty="0"/>
              <a:t>Bi-Directional </a:t>
            </a:r>
          </a:p>
          <a:p>
            <a:pPr algn="ctr"/>
            <a:r>
              <a:rPr lang="en-CA" dirty="0"/>
              <a:t>Data</a:t>
            </a:r>
          </a:p>
        </p:txBody>
      </p:sp>
      <p:sp>
        <p:nvSpPr>
          <p:cNvPr id="21" name="TextBox 20">
            <a:extLst>
              <a:ext uri="{FF2B5EF4-FFF2-40B4-BE49-F238E27FC236}">
                <a16:creationId xmlns:a16="http://schemas.microsoft.com/office/drawing/2014/main" id="{ABB4DB3A-3BC2-D8E4-0A80-A4FD7B5F7A65}"/>
              </a:ext>
            </a:extLst>
          </p:cNvPr>
          <p:cNvSpPr txBox="1"/>
          <p:nvPr/>
        </p:nvSpPr>
        <p:spPr>
          <a:xfrm>
            <a:off x="8730559" y="2050103"/>
            <a:ext cx="2266453" cy="646331"/>
          </a:xfrm>
          <a:prstGeom prst="rect">
            <a:avLst/>
          </a:prstGeom>
          <a:noFill/>
        </p:spPr>
        <p:txBody>
          <a:bodyPr wrap="square" rtlCol="0">
            <a:spAutoFit/>
          </a:bodyPr>
          <a:lstStyle/>
          <a:p>
            <a:pPr algn="ctr"/>
            <a:r>
              <a:rPr lang="en-CA" dirty="0"/>
              <a:t>GTAC </a:t>
            </a:r>
            <a:r>
              <a:rPr lang="en-CA" dirty="0" err="1"/>
              <a:t>TcHmi</a:t>
            </a:r>
            <a:r>
              <a:rPr lang="en-CA" dirty="0"/>
              <a:t> </a:t>
            </a:r>
          </a:p>
          <a:p>
            <a:pPr algn="ctr"/>
            <a:r>
              <a:rPr lang="en-CA" dirty="0"/>
              <a:t>Machine UI</a:t>
            </a:r>
          </a:p>
        </p:txBody>
      </p:sp>
      <p:sp>
        <p:nvSpPr>
          <p:cNvPr id="22" name="TextBox 21">
            <a:extLst>
              <a:ext uri="{FF2B5EF4-FFF2-40B4-BE49-F238E27FC236}">
                <a16:creationId xmlns:a16="http://schemas.microsoft.com/office/drawing/2014/main" id="{66790116-795C-ED8E-C58D-AC3920FCE9D0}"/>
              </a:ext>
            </a:extLst>
          </p:cNvPr>
          <p:cNvSpPr txBox="1"/>
          <p:nvPr/>
        </p:nvSpPr>
        <p:spPr>
          <a:xfrm>
            <a:off x="521236" y="2024797"/>
            <a:ext cx="2266453" cy="646331"/>
          </a:xfrm>
          <a:prstGeom prst="rect">
            <a:avLst/>
          </a:prstGeom>
          <a:noFill/>
        </p:spPr>
        <p:txBody>
          <a:bodyPr wrap="square" rtlCol="0">
            <a:spAutoFit/>
          </a:bodyPr>
          <a:lstStyle/>
          <a:p>
            <a:pPr algn="ctr"/>
            <a:r>
              <a:rPr lang="en-CA" dirty="0"/>
              <a:t>Postgres Database</a:t>
            </a:r>
          </a:p>
          <a:p>
            <a:pPr algn="ctr"/>
            <a:r>
              <a:rPr lang="en-CA" dirty="0"/>
              <a:t>Server</a:t>
            </a:r>
          </a:p>
        </p:txBody>
      </p:sp>
      <p:sp>
        <p:nvSpPr>
          <p:cNvPr id="2" name="TextBox 1">
            <a:extLst>
              <a:ext uri="{FF2B5EF4-FFF2-40B4-BE49-F238E27FC236}">
                <a16:creationId xmlns:a16="http://schemas.microsoft.com/office/drawing/2014/main" id="{506AA7B6-FCEC-27A2-ECB1-C0A810186D69}"/>
              </a:ext>
            </a:extLst>
          </p:cNvPr>
          <p:cNvSpPr txBox="1"/>
          <p:nvPr/>
        </p:nvSpPr>
        <p:spPr>
          <a:xfrm>
            <a:off x="4809933" y="2024798"/>
            <a:ext cx="2160849" cy="646331"/>
          </a:xfrm>
          <a:prstGeom prst="rect">
            <a:avLst/>
          </a:prstGeom>
          <a:noFill/>
        </p:spPr>
        <p:txBody>
          <a:bodyPr wrap="none" rtlCol="0">
            <a:spAutoFit/>
          </a:bodyPr>
          <a:lstStyle/>
          <a:p>
            <a:pPr algn="ctr"/>
            <a:r>
              <a:rPr lang="en-CA" dirty="0"/>
              <a:t>GTAC PostgreSQL</a:t>
            </a:r>
          </a:p>
          <a:p>
            <a:pPr algn="ctr"/>
            <a:r>
              <a:rPr lang="en-CA" dirty="0"/>
              <a:t>Server Extension (SE)</a:t>
            </a:r>
          </a:p>
        </p:txBody>
      </p:sp>
      <p:cxnSp>
        <p:nvCxnSpPr>
          <p:cNvPr id="6" name="Straight Arrow Connector 5">
            <a:extLst>
              <a:ext uri="{FF2B5EF4-FFF2-40B4-BE49-F238E27FC236}">
                <a16:creationId xmlns:a16="http://schemas.microsoft.com/office/drawing/2014/main" id="{25A74C89-8AB4-BE1D-3DE3-81E39D41BC2D}"/>
              </a:ext>
            </a:extLst>
          </p:cNvPr>
          <p:cNvCxnSpPr>
            <a:cxnSpLocks/>
          </p:cNvCxnSpPr>
          <p:nvPr/>
        </p:nvCxnSpPr>
        <p:spPr>
          <a:xfrm>
            <a:off x="2971402" y="4497088"/>
            <a:ext cx="1371600" cy="0"/>
          </a:xfrm>
          <a:prstGeom prst="straightConnector1">
            <a:avLst/>
          </a:prstGeom>
          <a:ln w="57150">
            <a:headEnd type="triangle"/>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79E5CA62-1D40-3F63-AFFD-C428EA87EE16}"/>
              </a:ext>
            </a:extLst>
          </p:cNvPr>
          <p:cNvSpPr txBox="1"/>
          <p:nvPr/>
        </p:nvSpPr>
        <p:spPr>
          <a:xfrm>
            <a:off x="2971402" y="4818902"/>
            <a:ext cx="1508939" cy="646331"/>
          </a:xfrm>
          <a:prstGeom prst="rect">
            <a:avLst/>
          </a:prstGeom>
          <a:noFill/>
        </p:spPr>
        <p:txBody>
          <a:bodyPr wrap="none" rtlCol="0">
            <a:spAutoFit/>
          </a:bodyPr>
          <a:lstStyle/>
          <a:p>
            <a:pPr algn="ctr"/>
            <a:r>
              <a:rPr lang="en-CA" dirty="0"/>
              <a:t>Bi-Directional </a:t>
            </a:r>
          </a:p>
          <a:p>
            <a:pPr algn="ctr"/>
            <a:r>
              <a:rPr lang="en-CA" dirty="0"/>
              <a:t>Data</a:t>
            </a:r>
          </a:p>
        </p:txBody>
      </p:sp>
      <p:pic>
        <p:nvPicPr>
          <p:cNvPr id="13" name="Picture 12">
            <a:extLst>
              <a:ext uri="{FF2B5EF4-FFF2-40B4-BE49-F238E27FC236}">
                <a16:creationId xmlns:a16="http://schemas.microsoft.com/office/drawing/2014/main" id="{682CF15E-11F0-DAEC-E968-F7ECDD82DD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00657" y="4023690"/>
            <a:ext cx="975351" cy="975351"/>
          </a:xfrm>
          <a:prstGeom prst="rect">
            <a:avLst/>
          </a:prstGeom>
        </p:spPr>
      </p:pic>
    </p:spTree>
    <p:extLst>
      <p:ext uri="{BB962C8B-B14F-4D97-AF65-F5344CB8AC3E}">
        <p14:creationId xmlns:p14="http://schemas.microsoft.com/office/powerpoint/2010/main" val="3045356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D02032-72DC-955D-86F0-8E1C1D86CD22}"/>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E6A0566-3366-4EE6-0B97-2DC4AE4ADC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005D53F-4D83-B6B0-193B-AF33247B6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470718EC-CF50-5088-C0CC-41995D5DB2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pic>
        <p:nvPicPr>
          <p:cNvPr id="13" name="Picture 12">
            <a:extLst>
              <a:ext uri="{FF2B5EF4-FFF2-40B4-BE49-F238E27FC236}">
                <a16:creationId xmlns:a16="http://schemas.microsoft.com/office/drawing/2014/main" id="{51BD89DC-D9CE-4577-A04A-EA75B737E7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374" y="1651426"/>
            <a:ext cx="975351" cy="975351"/>
          </a:xfrm>
          <a:prstGeom prst="rect">
            <a:avLst/>
          </a:prstGeom>
        </p:spPr>
      </p:pic>
      <p:sp>
        <p:nvSpPr>
          <p:cNvPr id="16" name="TextBox 15">
            <a:extLst>
              <a:ext uri="{FF2B5EF4-FFF2-40B4-BE49-F238E27FC236}">
                <a16:creationId xmlns:a16="http://schemas.microsoft.com/office/drawing/2014/main" id="{A51757A8-D5C3-C4A4-02FE-38A857CCD98B}"/>
              </a:ext>
            </a:extLst>
          </p:cNvPr>
          <p:cNvSpPr txBox="1"/>
          <p:nvPr/>
        </p:nvSpPr>
        <p:spPr>
          <a:xfrm>
            <a:off x="3098427" y="1435359"/>
            <a:ext cx="5995166" cy="923330"/>
          </a:xfrm>
          <a:prstGeom prst="rect">
            <a:avLst/>
          </a:prstGeom>
          <a:noFill/>
        </p:spPr>
        <p:txBody>
          <a:bodyPr wrap="none" rtlCol="0">
            <a:spAutoFit/>
          </a:bodyPr>
          <a:lstStyle/>
          <a:p>
            <a:pPr algn="ctr"/>
            <a:r>
              <a:rPr lang="en-CA" dirty="0"/>
              <a:t>The GTAC PostgreSQL Server Extension (SE)</a:t>
            </a:r>
          </a:p>
          <a:p>
            <a:pPr algn="ctr"/>
            <a:r>
              <a:rPr lang="en-CA" dirty="0"/>
              <a:t>can be opened, edited and packaged using Visual Studio 2022</a:t>
            </a:r>
          </a:p>
          <a:p>
            <a:pPr algn="ctr"/>
            <a:r>
              <a:rPr lang="en-CA" dirty="0"/>
              <a:t>(version 17.14.25 used in all the following examples)</a:t>
            </a:r>
          </a:p>
        </p:txBody>
      </p:sp>
      <p:sp>
        <p:nvSpPr>
          <p:cNvPr id="2" name="Rectangle 1">
            <a:extLst>
              <a:ext uri="{FF2B5EF4-FFF2-40B4-BE49-F238E27FC236}">
                <a16:creationId xmlns:a16="http://schemas.microsoft.com/office/drawing/2014/main" id="{99CEF097-4810-487B-0906-DEC7B5BE6E51}"/>
              </a:ext>
            </a:extLst>
          </p:cNvPr>
          <p:cNvSpPr>
            <a:spLocks noChangeArrowheads="1"/>
          </p:cNvSpPr>
          <p:nvPr/>
        </p:nvSpPr>
        <p:spPr bwMode="auto">
          <a:xfrm>
            <a:off x="8820298" y="94138"/>
            <a:ext cx="3256684" cy="949658"/>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fontScale="92500" lnSpcReduction="20000"/>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General Layout of the SE</a:t>
            </a:r>
            <a:endParaRPr lang="en-US" altLang="en-US" sz="4000" kern="1200" dirty="0">
              <a:solidFill>
                <a:schemeClr val="tx1"/>
              </a:solidFill>
              <a:latin typeface="+mj-lt"/>
              <a:ea typeface="+mj-ea"/>
              <a:cs typeface="+mj-cs"/>
            </a:endParaRPr>
          </a:p>
        </p:txBody>
      </p:sp>
      <p:pic>
        <p:nvPicPr>
          <p:cNvPr id="4" name="Picture 3">
            <a:extLst>
              <a:ext uri="{FF2B5EF4-FFF2-40B4-BE49-F238E27FC236}">
                <a16:creationId xmlns:a16="http://schemas.microsoft.com/office/drawing/2014/main" id="{CAAEB476-B09C-29FE-E168-76DE2C7FEDC8}"/>
              </a:ext>
            </a:extLst>
          </p:cNvPr>
          <p:cNvPicPr>
            <a:picLocks noChangeAspect="1"/>
          </p:cNvPicPr>
          <p:nvPr/>
        </p:nvPicPr>
        <p:blipFill>
          <a:blip r:embed="rId4"/>
          <a:stretch>
            <a:fillRect/>
          </a:stretch>
        </p:blipFill>
        <p:spPr>
          <a:xfrm>
            <a:off x="3511323" y="2750252"/>
            <a:ext cx="5169353" cy="39751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0197315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6CA82D-2C36-0A79-F1BA-D7F01A34ECC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6EDE3CF-0D8B-F27F-0107-D65EEA5D1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E0CFB0D-C5EE-59F1-F036-F07C190B23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4B4C3D58-9E31-779A-AB78-A5B6825498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B4D3122E-B430-2D1C-BEB4-436B95A93C27}"/>
              </a:ext>
            </a:extLst>
          </p:cNvPr>
          <p:cNvSpPr>
            <a:spLocks noChangeArrowheads="1"/>
          </p:cNvSpPr>
          <p:nvPr/>
        </p:nvSpPr>
        <p:spPr bwMode="auto">
          <a:xfrm>
            <a:off x="8820298" y="94138"/>
            <a:ext cx="3256684" cy="949658"/>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fontScale="92500" lnSpcReduction="20000"/>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General Layout of the SE</a:t>
            </a:r>
            <a:endParaRPr lang="en-US" altLang="en-US" sz="4000" kern="1200" dirty="0">
              <a:solidFill>
                <a:schemeClr val="tx1"/>
              </a:solidFill>
              <a:latin typeface="+mj-lt"/>
              <a:ea typeface="+mj-ea"/>
              <a:cs typeface="+mj-cs"/>
            </a:endParaRPr>
          </a:p>
        </p:txBody>
      </p:sp>
      <p:pic>
        <p:nvPicPr>
          <p:cNvPr id="13" name="Picture 12">
            <a:extLst>
              <a:ext uri="{FF2B5EF4-FFF2-40B4-BE49-F238E27FC236}">
                <a16:creationId xmlns:a16="http://schemas.microsoft.com/office/drawing/2014/main" id="{DC655567-E4FF-0B12-AFC8-E0BFA4DC84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374" y="1651426"/>
            <a:ext cx="975351" cy="975351"/>
          </a:xfrm>
          <a:prstGeom prst="rect">
            <a:avLst/>
          </a:prstGeom>
        </p:spPr>
      </p:pic>
      <p:pic>
        <p:nvPicPr>
          <p:cNvPr id="12" name="Picture 11">
            <a:extLst>
              <a:ext uri="{FF2B5EF4-FFF2-40B4-BE49-F238E27FC236}">
                <a16:creationId xmlns:a16="http://schemas.microsoft.com/office/drawing/2014/main" id="{ECF08D82-5B64-9F06-B6EF-491CA2D35162}"/>
              </a:ext>
            </a:extLst>
          </p:cNvPr>
          <p:cNvPicPr>
            <a:picLocks noChangeAspect="1"/>
          </p:cNvPicPr>
          <p:nvPr/>
        </p:nvPicPr>
        <p:blipFill>
          <a:blip r:embed="rId4"/>
          <a:stretch>
            <a:fillRect/>
          </a:stretch>
        </p:blipFill>
        <p:spPr>
          <a:xfrm>
            <a:off x="2153728" y="2520354"/>
            <a:ext cx="7884543" cy="4243508"/>
          </a:xfrm>
          <a:prstGeom prst="rect">
            <a:avLst/>
          </a:prstGeom>
        </p:spPr>
      </p:pic>
      <p:sp>
        <p:nvSpPr>
          <p:cNvPr id="16" name="TextBox 15">
            <a:extLst>
              <a:ext uri="{FF2B5EF4-FFF2-40B4-BE49-F238E27FC236}">
                <a16:creationId xmlns:a16="http://schemas.microsoft.com/office/drawing/2014/main" id="{D7A55FA3-796D-854D-1EC6-165076597BB7}"/>
              </a:ext>
            </a:extLst>
          </p:cNvPr>
          <p:cNvSpPr txBox="1"/>
          <p:nvPr/>
        </p:nvSpPr>
        <p:spPr>
          <a:xfrm>
            <a:off x="3964490" y="1435359"/>
            <a:ext cx="4263025" cy="830997"/>
          </a:xfrm>
          <a:prstGeom prst="rect">
            <a:avLst/>
          </a:prstGeom>
          <a:noFill/>
        </p:spPr>
        <p:txBody>
          <a:bodyPr wrap="none" rtlCol="0">
            <a:spAutoFit/>
          </a:bodyPr>
          <a:lstStyle/>
          <a:p>
            <a:pPr algn="ctr"/>
            <a:r>
              <a:rPr lang="en-CA" dirty="0"/>
              <a:t>Here we see the GTAC PostgreSQL Server</a:t>
            </a:r>
          </a:p>
          <a:p>
            <a:pPr algn="ctr"/>
            <a:r>
              <a:rPr lang="en-CA" dirty="0"/>
              <a:t>Extension, opened in VS 2022 </a:t>
            </a:r>
            <a:endParaRPr lang="en-CA" sz="1200" dirty="0"/>
          </a:p>
          <a:p>
            <a:pPr algn="ctr"/>
            <a:r>
              <a:rPr lang="en-CA" sz="1200" dirty="0"/>
              <a:t>(the </a:t>
            </a:r>
            <a:r>
              <a:rPr lang="en-CA" sz="1200" dirty="0" err="1"/>
              <a:t>GTAC_TcUI_PostgreSQL.cs</a:t>
            </a:r>
            <a:r>
              <a:rPr lang="en-CA" sz="1200" dirty="0"/>
              <a:t> file opened in the example below)</a:t>
            </a:r>
          </a:p>
        </p:txBody>
      </p:sp>
    </p:spTree>
    <p:extLst>
      <p:ext uri="{BB962C8B-B14F-4D97-AF65-F5344CB8AC3E}">
        <p14:creationId xmlns:p14="http://schemas.microsoft.com/office/powerpoint/2010/main" val="3214479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2D2F5E-8186-A1D8-7892-8B4C548776E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6AF8538-C84E-8A72-80B7-0C8B554F50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DF3C8DA-E0BA-959C-4C2A-ECEDEAF099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F87387B6-58DB-AFD4-C34F-2D2A93F5DA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0F2242DF-E7D9-7922-83FD-A883AE67FAA7}"/>
              </a:ext>
            </a:extLst>
          </p:cNvPr>
          <p:cNvSpPr>
            <a:spLocks noChangeArrowheads="1"/>
          </p:cNvSpPr>
          <p:nvPr/>
        </p:nvSpPr>
        <p:spPr bwMode="auto">
          <a:xfrm>
            <a:off x="8820298" y="94138"/>
            <a:ext cx="3256684" cy="949658"/>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4000" dirty="0">
                <a:latin typeface="+mj-lt"/>
                <a:ea typeface="+mj-ea"/>
                <a:cs typeface="+mj-cs"/>
              </a:rPr>
              <a:t>File Breakdown</a:t>
            </a:r>
            <a:endParaRPr lang="en-US" altLang="en-US" sz="4000" kern="1200" dirty="0">
              <a:solidFill>
                <a:schemeClr val="tx1"/>
              </a:solidFill>
              <a:latin typeface="+mj-lt"/>
              <a:ea typeface="+mj-ea"/>
              <a:cs typeface="+mj-cs"/>
            </a:endParaRPr>
          </a:p>
        </p:txBody>
      </p:sp>
      <p:sp>
        <p:nvSpPr>
          <p:cNvPr id="16" name="TextBox 15">
            <a:extLst>
              <a:ext uri="{FF2B5EF4-FFF2-40B4-BE49-F238E27FC236}">
                <a16:creationId xmlns:a16="http://schemas.microsoft.com/office/drawing/2014/main" id="{D6019C26-4C32-6B04-934E-D28967D283E9}"/>
              </a:ext>
            </a:extLst>
          </p:cNvPr>
          <p:cNvSpPr txBox="1"/>
          <p:nvPr/>
        </p:nvSpPr>
        <p:spPr>
          <a:xfrm>
            <a:off x="3796279" y="1513290"/>
            <a:ext cx="6032870" cy="369332"/>
          </a:xfrm>
          <a:prstGeom prst="rect">
            <a:avLst/>
          </a:prstGeom>
          <a:noFill/>
        </p:spPr>
        <p:txBody>
          <a:bodyPr wrap="none" rtlCol="0">
            <a:spAutoFit/>
          </a:bodyPr>
          <a:lstStyle/>
          <a:p>
            <a:pPr algn="ctr"/>
            <a:r>
              <a:rPr lang="en-CA" dirty="0"/>
              <a:t>Let’s have a look at some of the files contained in the Package:</a:t>
            </a:r>
          </a:p>
        </p:txBody>
      </p:sp>
      <p:pic>
        <p:nvPicPr>
          <p:cNvPr id="3" name="Picture 2">
            <a:extLst>
              <a:ext uri="{FF2B5EF4-FFF2-40B4-BE49-F238E27FC236}">
                <a16:creationId xmlns:a16="http://schemas.microsoft.com/office/drawing/2014/main" id="{680053D7-71A2-2BA3-3087-B6BE5AD97495}"/>
              </a:ext>
            </a:extLst>
          </p:cNvPr>
          <p:cNvPicPr>
            <a:picLocks noChangeAspect="1"/>
          </p:cNvPicPr>
          <p:nvPr/>
        </p:nvPicPr>
        <p:blipFill>
          <a:blip r:embed="rId3"/>
          <a:stretch>
            <a:fillRect/>
          </a:stretch>
        </p:blipFill>
        <p:spPr>
          <a:xfrm>
            <a:off x="115018" y="1857442"/>
            <a:ext cx="1607913" cy="2025437"/>
          </a:xfrm>
          <a:prstGeom prst="rect">
            <a:avLst/>
          </a:prstGeom>
        </p:spPr>
      </p:pic>
      <p:sp>
        <p:nvSpPr>
          <p:cNvPr id="4" name="TextBox 3">
            <a:extLst>
              <a:ext uri="{FF2B5EF4-FFF2-40B4-BE49-F238E27FC236}">
                <a16:creationId xmlns:a16="http://schemas.microsoft.com/office/drawing/2014/main" id="{7E612F06-BCA3-D6B8-C294-25E9AC537D49}"/>
              </a:ext>
            </a:extLst>
          </p:cNvPr>
          <p:cNvSpPr txBox="1"/>
          <p:nvPr/>
        </p:nvSpPr>
        <p:spPr>
          <a:xfrm>
            <a:off x="1780439" y="2352116"/>
            <a:ext cx="7177176" cy="4401205"/>
          </a:xfrm>
          <a:prstGeom prst="rect">
            <a:avLst/>
          </a:prstGeom>
          <a:noFill/>
        </p:spPr>
        <p:txBody>
          <a:bodyPr wrap="square" rtlCol="0">
            <a:spAutoFit/>
          </a:bodyPr>
          <a:lstStyle/>
          <a:p>
            <a:pPr marL="285750" indent="-285750">
              <a:buFont typeface="Arial" panose="020B0604020202020204" pitchFamily="34" charset="0"/>
              <a:buChar char="•"/>
            </a:pPr>
            <a:r>
              <a:rPr lang="en-CA" sz="1400" b="1" dirty="0" err="1"/>
              <a:t>GTAC_TcUI_PostgreSQL.config.json</a:t>
            </a:r>
            <a:r>
              <a:rPr lang="en-CA" sz="1400" dirty="0"/>
              <a:t> -&gt; A JSON file used to describe the symbol interface that will be used for our </a:t>
            </a:r>
            <a:r>
              <a:rPr lang="en-CA" sz="1400" dirty="0" err="1"/>
              <a:t>TcHmi</a:t>
            </a:r>
            <a:r>
              <a:rPr lang="en-CA" sz="1400" dirty="0"/>
              <a:t> UI and the PostgreSQL SE to communicate thru. Symbols described in this file will show up in the </a:t>
            </a:r>
            <a:r>
              <a:rPr lang="en-CA" sz="1400" dirty="0" err="1"/>
              <a:t>TcHmi</a:t>
            </a:r>
            <a:r>
              <a:rPr lang="en-CA" sz="1400" dirty="0"/>
              <a:t> project similar to PLC symbols (see right)</a:t>
            </a:r>
          </a:p>
          <a:p>
            <a:pPr marL="285750" indent="-285750">
              <a:buFont typeface="Arial" panose="020B0604020202020204" pitchFamily="34" charset="0"/>
              <a:buChar char="•"/>
            </a:pPr>
            <a:endParaRPr lang="en-CA" sz="1400" dirty="0"/>
          </a:p>
          <a:p>
            <a:pPr marL="285750" indent="-285750">
              <a:buFont typeface="Arial" panose="020B0604020202020204" pitchFamily="34" charset="0"/>
              <a:buChar char="•"/>
            </a:pPr>
            <a:r>
              <a:rPr lang="en-CA" sz="1400" b="1" dirty="0" err="1"/>
              <a:t>GTAC_TcUI_PostgreSQL.Schema.json</a:t>
            </a:r>
            <a:r>
              <a:rPr lang="en-CA" sz="1400" dirty="0"/>
              <a:t> -&gt; This file describes the SE’s configuration interface that will show up in XAE when you click on the SE. This allows the </a:t>
            </a:r>
            <a:r>
              <a:rPr lang="en-CA" sz="1400" dirty="0" err="1"/>
              <a:t>TcHmi</a:t>
            </a:r>
            <a:r>
              <a:rPr lang="en-CA" sz="1400" dirty="0"/>
              <a:t> developer to customize aspects of the SE such as the database server location and port etc.  (see right)</a:t>
            </a:r>
          </a:p>
          <a:p>
            <a:pPr marL="285750" indent="-285750">
              <a:buFont typeface="Arial" panose="020B0604020202020204" pitchFamily="34" charset="0"/>
              <a:buChar char="•"/>
            </a:pPr>
            <a:endParaRPr lang="en-CA" sz="1400" b="1" dirty="0"/>
          </a:p>
          <a:p>
            <a:pPr marL="285750" indent="-285750">
              <a:buFont typeface="Arial" panose="020B0604020202020204" pitchFamily="34" charset="0"/>
              <a:buChar char="•"/>
            </a:pPr>
            <a:r>
              <a:rPr lang="en-CA" sz="1400" b="1" dirty="0" err="1"/>
              <a:t>GTAC_TcUI_PostgreSQL.Language.json</a:t>
            </a:r>
            <a:r>
              <a:rPr lang="en-CA" sz="1400" dirty="0"/>
              <a:t> -&gt; In this file we can see English language locales for the configuration points set out in the </a:t>
            </a:r>
            <a:r>
              <a:rPr lang="en-CA" sz="1400" dirty="0" err="1"/>
              <a:t>GTAC_TcUI_PostgreSQL.Schema.json</a:t>
            </a:r>
            <a:r>
              <a:rPr lang="en-CA" sz="1400" dirty="0"/>
              <a:t> file  (see right)</a:t>
            </a:r>
          </a:p>
          <a:p>
            <a:pPr marL="285750" indent="-285750">
              <a:buFont typeface="Arial" panose="020B0604020202020204" pitchFamily="34" charset="0"/>
              <a:buChar char="•"/>
            </a:pPr>
            <a:endParaRPr lang="en-CA" sz="1400" dirty="0"/>
          </a:p>
          <a:p>
            <a:pPr marL="285750" indent="-285750">
              <a:buFont typeface="Arial" panose="020B0604020202020204" pitchFamily="34" charset="0"/>
              <a:buChar char="•"/>
            </a:pPr>
            <a:r>
              <a:rPr lang="en-CA" sz="1400" b="1" dirty="0" err="1"/>
              <a:t>GTAC_TcUI_PostgreSQL.cs</a:t>
            </a:r>
            <a:r>
              <a:rPr lang="en-CA" sz="1400" dirty="0"/>
              <a:t> -&gt; This is the source code file. The bulk of the functional code is contained in this file. This is generally where you will spend most of your time.</a:t>
            </a:r>
          </a:p>
          <a:p>
            <a:pPr marL="285750" indent="-285750">
              <a:buFont typeface="Arial" panose="020B0604020202020204" pitchFamily="34" charset="0"/>
              <a:buChar char="•"/>
            </a:pPr>
            <a:endParaRPr lang="en-CA" sz="1400" b="1" dirty="0"/>
          </a:p>
          <a:p>
            <a:pPr marL="285750" indent="-285750">
              <a:buFont typeface="Arial" panose="020B0604020202020204" pitchFamily="34" charset="0"/>
              <a:buChar char="•"/>
            </a:pPr>
            <a:r>
              <a:rPr lang="en-CA" sz="1400" b="1" dirty="0" err="1"/>
              <a:t>GTAC_TcUI_PostgreSQL.csproj</a:t>
            </a:r>
            <a:r>
              <a:rPr lang="en-CA" sz="1400" b="1" dirty="0"/>
              <a:t> </a:t>
            </a:r>
            <a:r>
              <a:rPr lang="en-CA" sz="1400" dirty="0"/>
              <a:t>-&gt; This is an XML based file that contains meta data about your project, including how resultant build files, dependencies and other files get packed into a NuGet package. The NuGet package is what is brought into our </a:t>
            </a:r>
            <a:r>
              <a:rPr lang="en-CA" sz="1400" dirty="0" err="1"/>
              <a:t>TcHMI</a:t>
            </a:r>
            <a:r>
              <a:rPr lang="en-CA" sz="1400" dirty="0"/>
              <a:t> UI project. </a:t>
            </a:r>
            <a:r>
              <a:rPr lang="en-CA" sz="1400" dirty="0">
                <a:highlight>
                  <a:srgbClr val="FFFF00"/>
                </a:highlight>
              </a:rPr>
              <a:t>NOTE: using the </a:t>
            </a:r>
            <a:r>
              <a:rPr lang="en-CA" sz="1400" dirty="0" err="1">
                <a:highlight>
                  <a:srgbClr val="FFFF00"/>
                </a:highlight>
              </a:rPr>
              <a:t>csproj</a:t>
            </a:r>
            <a:r>
              <a:rPr lang="en-CA" sz="1400" dirty="0">
                <a:highlight>
                  <a:srgbClr val="FFFF00"/>
                </a:highlight>
              </a:rPr>
              <a:t> file to list out NuGet packing directives is a replacement to the older </a:t>
            </a:r>
            <a:r>
              <a:rPr lang="en-CA" sz="1400" dirty="0" err="1">
                <a:highlight>
                  <a:srgbClr val="FFFF00"/>
                </a:highlight>
              </a:rPr>
              <a:t>nuspec</a:t>
            </a:r>
            <a:r>
              <a:rPr lang="en-CA" sz="1400" dirty="0">
                <a:highlight>
                  <a:srgbClr val="FFFF00"/>
                </a:highlight>
              </a:rPr>
              <a:t> method where these directives were held in a separate .</a:t>
            </a:r>
            <a:r>
              <a:rPr lang="en-CA" sz="1400" dirty="0" err="1">
                <a:highlight>
                  <a:srgbClr val="FFFF00"/>
                </a:highlight>
              </a:rPr>
              <a:t>nusepc</a:t>
            </a:r>
            <a:r>
              <a:rPr lang="en-CA" sz="1400" dirty="0">
                <a:highlight>
                  <a:srgbClr val="FFFF00"/>
                </a:highlight>
              </a:rPr>
              <a:t> file</a:t>
            </a:r>
          </a:p>
          <a:p>
            <a:pPr marL="285750" indent="-285750">
              <a:buFont typeface="Arial" panose="020B0604020202020204" pitchFamily="34" charset="0"/>
              <a:buChar char="•"/>
            </a:pPr>
            <a:endParaRPr lang="en-CA" sz="1400" b="1" dirty="0"/>
          </a:p>
        </p:txBody>
      </p:sp>
      <p:pic>
        <p:nvPicPr>
          <p:cNvPr id="6" name="Picture 5">
            <a:extLst>
              <a:ext uri="{FF2B5EF4-FFF2-40B4-BE49-F238E27FC236}">
                <a16:creationId xmlns:a16="http://schemas.microsoft.com/office/drawing/2014/main" id="{E0116A1C-71ED-5A72-6AF7-DB4BC53AB831}"/>
              </a:ext>
            </a:extLst>
          </p:cNvPr>
          <p:cNvPicPr>
            <a:picLocks noChangeAspect="1"/>
          </p:cNvPicPr>
          <p:nvPr/>
        </p:nvPicPr>
        <p:blipFill>
          <a:blip r:embed="rId4"/>
          <a:stretch>
            <a:fillRect/>
          </a:stretch>
        </p:blipFill>
        <p:spPr>
          <a:xfrm>
            <a:off x="8820298" y="3294922"/>
            <a:ext cx="3234439" cy="1340962"/>
          </a:xfrm>
          <a:prstGeom prst="rect">
            <a:avLst/>
          </a:prstGeom>
        </p:spPr>
      </p:pic>
      <p:pic>
        <p:nvPicPr>
          <p:cNvPr id="8" name="Picture 7">
            <a:extLst>
              <a:ext uri="{FF2B5EF4-FFF2-40B4-BE49-F238E27FC236}">
                <a16:creationId xmlns:a16="http://schemas.microsoft.com/office/drawing/2014/main" id="{2169ACE7-675A-6269-8016-2A02B87FB1B8}"/>
              </a:ext>
            </a:extLst>
          </p:cNvPr>
          <p:cNvPicPr>
            <a:picLocks noChangeAspect="1"/>
          </p:cNvPicPr>
          <p:nvPr/>
        </p:nvPicPr>
        <p:blipFill>
          <a:blip r:embed="rId5"/>
          <a:stretch>
            <a:fillRect/>
          </a:stretch>
        </p:blipFill>
        <p:spPr>
          <a:xfrm>
            <a:off x="8798052" y="2110196"/>
            <a:ext cx="3256684" cy="1017478"/>
          </a:xfrm>
          <a:prstGeom prst="rect">
            <a:avLst/>
          </a:prstGeom>
        </p:spPr>
      </p:pic>
    </p:spTree>
    <p:extLst>
      <p:ext uri="{BB962C8B-B14F-4D97-AF65-F5344CB8AC3E}">
        <p14:creationId xmlns:p14="http://schemas.microsoft.com/office/powerpoint/2010/main" val="3147337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8A9DF2-326D-2A08-E9B6-3E49D0878957}"/>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B591145-982D-7D85-EA10-C87E1A9E2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769D237-5284-5942-EA57-33D0FBFFD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79B22078-F48A-9C6F-B530-9E95D5C4DC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09BE6450-405E-1A1A-EEBE-BB0C7C7AA2F1}"/>
              </a:ext>
            </a:extLst>
          </p:cNvPr>
          <p:cNvSpPr>
            <a:spLocks noChangeArrowheads="1"/>
          </p:cNvSpPr>
          <p:nvPr/>
        </p:nvSpPr>
        <p:spPr bwMode="auto">
          <a:xfrm>
            <a:off x="7703389" y="94138"/>
            <a:ext cx="4373593" cy="604602"/>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err="1">
                <a:latin typeface="+mj-lt"/>
                <a:ea typeface="+mj-ea"/>
                <a:cs typeface="+mj-cs"/>
              </a:rPr>
              <a:t>GTAC_TcUI_PostgreSQL.cs</a:t>
            </a:r>
            <a:endParaRPr lang="en-US" altLang="en-US" sz="3200" kern="1200" dirty="0">
              <a:solidFill>
                <a:schemeClr val="tx1"/>
              </a:solidFill>
              <a:latin typeface="+mj-lt"/>
              <a:ea typeface="+mj-ea"/>
              <a:cs typeface="+mj-cs"/>
            </a:endParaRPr>
          </a:p>
        </p:txBody>
      </p:sp>
      <p:sp>
        <p:nvSpPr>
          <p:cNvPr id="2" name="TextBox 1">
            <a:extLst>
              <a:ext uri="{FF2B5EF4-FFF2-40B4-BE49-F238E27FC236}">
                <a16:creationId xmlns:a16="http://schemas.microsoft.com/office/drawing/2014/main" id="{5636F04C-9A8C-8169-FF04-7419198C6891}"/>
              </a:ext>
            </a:extLst>
          </p:cNvPr>
          <p:cNvSpPr txBox="1"/>
          <p:nvPr/>
        </p:nvSpPr>
        <p:spPr>
          <a:xfrm>
            <a:off x="3483313" y="1733234"/>
            <a:ext cx="6549208" cy="4524315"/>
          </a:xfrm>
          <a:prstGeom prst="rect">
            <a:avLst/>
          </a:prstGeom>
          <a:noFill/>
        </p:spPr>
        <p:txBody>
          <a:bodyPr wrap="square" rtlCol="0">
            <a:spAutoFit/>
          </a:bodyPr>
          <a:lstStyle/>
          <a:p>
            <a:r>
              <a:rPr lang="en-CA" dirty="0"/>
              <a:t>Since the bulk of the functional code is contained </a:t>
            </a:r>
          </a:p>
          <a:p>
            <a:r>
              <a:rPr lang="en-CA" dirty="0"/>
              <a:t>in the </a:t>
            </a:r>
            <a:r>
              <a:rPr lang="en-CA" dirty="0" err="1"/>
              <a:t>GTAC_TcUI_PostgreSQL.cs</a:t>
            </a:r>
            <a:r>
              <a:rPr lang="en-CA" dirty="0"/>
              <a:t> file, lets have a closer look!</a:t>
            </a:r>
          </a:p>
          <a:p>
            <a:endParaRPr lang="en-CA" dirty="0"/>
          </a:p>
          <a:p>
            <a:r>
              <a:rPr lang="en-CA" dirty="0"/>
              <a:t>The file can be primarily broken down into three parts:</a:t>
            </a:r>
          </a:p>
          <a:p>
            <a:endParaRPr lang="en-CA" dirty="0"/>
          </a:p>
          <a:p>
            <a:endParaRPr lang="en-CA" dirty="0"/>
          </a:p>
          <a:p>
            <a:pPr marL="342900" indent="-342900">
              <a:buFont typeface="+mj-lt"/>
              <a:buAutoNum type="arabicPeriod"/>
            </a:pPr>
            <a:r>
              <a:rPr lang="en-CA" dirty="0"/>
              <a:t>Using Directives</a:t>
            </a:r>
          </a:p>
          <a:p>
            <a:pPr marL="342900" indent="-342900">
              <a:buFont typeface="+mj-lt"/>
              <a:buAutoNum type="arabicPeriod"/>
            </a:pPr>
            <a:r>
              <a:rPr lang="en-CA" dirty="0"/>
              <a:t>Class Declaration / Definition</a:t>
            </a:r>
          </a:p>
          <a:p>
            <a:pPr marL="342900" indent="-342900">
              <a:buFont typeface="+mj-lt"/>
              <a:buAutoNum type="arabicPeriod"/>
            </a:pPr>
            <a:r>
              <a:rPr lang="en-CA" dirty="0"/>
              <a:t>Application Specific Methods</a:t>
            </a:r>
          </a:p>
          <a:p>
            <a:pPr marL="342900" indent="-342900">
              <a:buFont typeface="+mj-lt"/>
              <a:buAutoNum type="arabicPeriod"/>
            </a:pPr>
            <a:r>
              <a:rPr lang="en-CA" dirty="0"/>
              <a:t>The </a:t>
            </a:r>
            <a:r>
              <a:rPr lang="en-CA" dirty="0" err="1"/>
              <a:t>OnRequest</a:t>
            </a:r>
            <a:r>
              <a:rPr lang="en-CA" dirty="0"/>
              <a:t> method</a:t>
            </a:r>
          </a:p>
          <a:p>
            <a:pPr marL="342900" indent="-342900">
              <a:buFont typeface="+mj-lt"/>
              <a:buAutoNum type="arabicPeriod"/>
            </a:pPr>
            <a:endParaRPr lang="en-CA" dirty="0"/>
          </a:p>
          <a:p>
            <a:endParaRPr lang="en-CA" dirty="0"/>
          </a:p>
          <a:p>
            <a:r>
              <a:rPr lang="en-CA" dirty="0"/>
              <a:t>Please note that all the methods in 3 and 4 are contained in the </a:t>
            </a:r>
          </a:p>
          <a:p>
            <a:r>
              <a:rPr lang="en-CA" dirty="0" err="1"/>
              <a:t>GTAC_TcUI_PostgreSQL</a:t>
            </a:r>
            <a:r>
              <a:rPr lang="en-CA" dirty="0"/>
              <a:t> class (2).</a:t>
            </a:r>
          </a:p>
          <a:p>
            <a:pPr marL="342900" indent="-342900">
              <a:buFont typeface="+mj-lt"/>
              <a:buAutoNum type="arabicPeriod"/>
            </a:pPr>
            <a:endParaRPr lang="en-CA" dirty="0"/>
          </a:p>
          <a:p>
            <a:pPr algn="ctr"/>
            <a:endParaRPr lang="en-CA" dirty="0"/>
          </a:p>
        </p:txBody>
      </p:sp>
    </p:spTree>
    <p:extLst>
      <p:ext uri="{BB962C8B-B14F-4D97-AF65-F5344CB8AC3E}">
        <p14:creationId xmlns:p14="http://schemas.microsoft.com/office/powerpoint/2010/main" val="1391585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3E4E46-688E-50E4-5486-6D1D407C3C6F}"/>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819C75F-ADFE-DA01-7033-FE2D74B03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DCAD8B2-3BB9-4B68-C068-6C7DC0F877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7EDEF583-767D-01AD-4AA8-5DBD267E2D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5E2F8D3C-6820-3C56-DC63-1B3FA7EE3B7C}"/>
              </a:ext>
            </a:extLst>
          </p:cNvPr>
          <p:cNvSpPr>
            <a:spLocks noChangeArrowheads="1"/>
          </p:cNvSpPr>
          <p:nvPr/>
        </p:nvSpPr>
        <p:spPr bwMode="auto">
          <a:xfrm>
            <a:off x="7703389" y="94138"/>
            <a:ext cx="4373593"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err="1">
                <a:latin typeface="+mj-lt"/>
                <a:ea typeface="+mj-ea"/>
                <a:cs typeface="+mj-cs"/>
              </a:rPr>
              <a:t>GTAC_TcUI_PostgreSQL.cs</a:t>
            </a:r>
            <a:endParaRPr lang="en-US" altLang="en-US" sz="3200" dirty="0">
              <a:latin typeface="+mj-lt"/>
              <a:ea typeface="+mj-ea"/>
              <a:cs typeface="+mj-cs"/>
            </a:endParaRPr>
          </a:p>
          <a:p>
            <a:pPr algn="ctr" eaLnBrk="1" hangingPunct="1">
              <a:lnSpc>
                <a:spcPct val="90000"/>
              </a:lnSpc>
              <a:spcBef>
                <a:spcPct val="0"/>
              </a:spcBef>
              <a:spcAft>
                <a:spcPts val="600"/>
              </a:spcAft>
            </a:pPr>
            <a:r>
              <a:rPr lang="en-US" altLang="en-US" sz="3200" kern="1200" dirty="0">
                <a:solidFill>
                  <a:schemeClr val="tx1"/>
                </a:solidFill>
                <a:latin typeface="+mj-lt"/>
                <a:ea typeface="+mj-ea"/>
                <a:cs typeface="+mj-cs"/>
              </a:rPr>
              <a:t>1. Using </a:t>
            </a:r>
            <a:r>
              <a:rPr lang="en-US" altLang="en-US" sz="3200" dirty="0">
                <a:latin typeface="+mj-lt"/>
                <a:ea typeface="+mj-ea"/>
                <a:cs typeface="+mj-cs"/>
              </a:rPr>
              <a:t>Directives</a:t>
            </a:r>
            <a:endParaRPr lang="en-US" altLang="en-US" sz="3200" kern="1200" dirty="0">
              <a:solidFill>
                <a:schemeClr val="tx1"/>
              </a:solidFill>
              <a:latin typeface="+mj-lt"/>
              <a:ea typeface="+mj-ea"/>
              <a:cs typeface="+mj-cs"/>
            </a:endParaRPr>
          </a:p>
        </p:txBody>
      </p:sp>
      <p:sp>
        <p:nvSpPr>
          <p:cNvPr id="2" name="TextBox 1">
            <a:extLst>
              <a:ext uri="{FF2B5EF4-FFF2-40B4-BE49-F238E27FC236}">
                <a16:creationId xmlns:a16="http://schemas.microsoft.com/office/drawing/2014/main" id="{AD40E350-82AA-7D71-9553-3FAE6F2559BD}"/>
              </a:ext>
            </a:extLst>
          </p:cNvPr>
          <p:cNvSpPr txBox="1"/>
          <p:nvPr/>
        </p:nvSpPr>
        <p:spPr>
          <a:xfrm>
            <a:off x="593464" y="1705239"/>
            <a:ext cx="6143766" cy="923330"/>
          </a:xfrm>
          <a:prstGeom prst="rect">
            <a:avLst/>
          </a:prstGeom>
          <a:noFill/>
        </p:spPr>
        <p:txBody>
          <a:bodyPr wrap="square" rtlCol="0">
            <a:spAutoFit/>
          </a:bodyPr>
          <a:lstStyle/>
          <a:p>
            <a:r>
              <a:rPr lang="en-CA" dirty="0"/>
              <a:t>The “Using Directives” of the </a:t>
            </a:r>
            <a:r>
              <a:rPr lang="en-CA" dirty="0" err="1"/>
              <a:t>GTAC_TcUI_PostgreSQL.cs</a:t>
            </a:r>
            <a:r>
              <a:rPr lang="en-CA" dirty="0"/>
              <a:t> file lists out other namespaces (think dependencies) we will leverage in our code</a:t>
            </a:r>
          </a:p>
        </p:txBody>
      </p:sp>
      <p:pic>
        <p:nvPicPr>
          <p:cNvPr id="4" name="Picture 3">
            <a:extLst>
              <a:ext uri="{FF2B5EF4-FFF2-40B4-BE49-F238E27FC236}">
                <a16:creationId xmlns:a16="http://schemas.microsoft.com/office/drawing/2014/main" id="{81DBABFE-C0BE-B21C-A354-325F1C4D6D4C}"/>
              </a:ext>
            </a:extLst>
          </p:cNvPr>
          <p:cNvPicPr>
            <a:picLocks noChangeAspect="1"/>
          </p:cNvPicPr>
          <p:nvPr/>
        </p:nvPicPr>
        <p:blipFill>
          <a:blip r:embed="rId3"/>
          <a:stretch>
            <a:fillRect/>
          </a:stretch>
        </p:blipFill>
        <p:spPr>
          <a:xfrm>
            <a:off x="1979443" y="3182567"/>
            <a:ext cx="9716856" cy="3353268"/>
          </a:xfrm>
          <a:prstGeom prst="rect">
            <a:avLst/>
          </a:prstGeom>
        </p:spPr>
      </p:pic>
    </p:spTree>
    <p:extLst>
      <p:ext uri="{BB962C8B-B14F-4D97-AF65-F5344CB8AC3E}">
        <p14:creationId xmlns:p14="http://schemas.microsoft.com/office/powerpoint/2010/main" val="4276720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EF2097-0A71-8699-E3C8-7734922082E2}"/>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472C7F0-CC66-A416-EB34-F1F2CC9086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0CB901F-B4F4-D8C2-8705-AEF8751E1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E8827068-A806-84E8-AABB-2D48C490EF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F84EFA8E-A480-3CF8-BCCF-693F71A3BCEE}"/>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err="1">
                <a:latin typeface="+mj-lt"/>
                <a:ea typeface="+mj-ea"/>
                <a:cs typeface="+mj-cs"/>
              </a:rPr>
              <a:t>GTAC_TcUI_PostgreSQL.cs</a:t>
            </a:r>
            <a:endParaRPr lang="en-US" altLang="en-US" sz="3200" dirty="0">
              <a:latin typeface="+mj-lt"/>
              <a:ea typeface="+mj-ea"/>
              <a:cs typeface="+mj-cs"/>
            </a:endParaRPr>
          </a:p>
          <a:p>
            <a:pPr algn="ctr" eaLnBrk="1" hangingPunct="1">
              <a:lnSpc>
                <a:spcPct val="90000"/>
              </a:lnSpc>
              <a:spcBef>
                <a:spcPct val="0"/>
              </a:spcBef>
              <a:spcAft>
                <a:spcPts val="600"/>
              </a:spcAft>
            </a:pPr>
            <a:r>
              <a:rPr lang="en-US" altLang="en-US" sz="3200" dirty="0">
                <a:latin typeface="+mj-lt"/>
                <a:ea typeface="+mj-ea"/>
                <a:cs typeface="+mj-cs"/>
              </a:rPr>
              <a:t>2</a:t>
            </a:r>
            <a:r>
              <a:rPr lang="en-US" altLang="en-US" sz="3200" kern="1200" dirty="0">
                <a:solidFill>
                  <a:schemeClr val="tx1"/>
                </a:solidFill>
                <a:latin typeface="+mj-lt"/>
                <a:ea typeface="+mj-ea"/>
                <a:cs typeface="+mj-cs"/>
              </a:rPr>
              <a:t>. </a:t>
            </a:r>
            <a:r>
              <a:rPr lang="en-US" altLang="en-US" sz="3200" dirty="0">
                <a:latin typeface="+mj-lt"/>
                <a:ea typeface="+mj-ea"/>
                <a:cs typeface="+mj-cs"/>
              </a:rPr>
              <a:t>Class Declaration / Definition</a:t>
            </a:r>
            <a:endParaRPr lang="en-US" altLang="en-US" sz="3200" kern="1200" dirty="0">
              <a:solidFill>
                <a:schemeClr val="tx1"/>
              </a:solidFill>
              <a:latin typeface="+mj-lt"/>
              <a:ea typeface="+mj-ea"/>
              <a:cs typeface="+mj-cs"/>
            </a:endParaRPr>
          </a:p>
        </p:txBody>
      </p:sp>
      <p:sp>
        <p:nvSpPr>
          <p:cNvPr id="2" name="TextBox 1">
            <a:extLst>
              <a:ext uri="{FF2B5EF4-FFF2-40B4-BE49-F238E27FC236}">
                <a16:creationId xmlns:a16="http://schemas.microsoft.com/office/drawing/2014/main" id="{C9C2CD33-3432-90EF-7AA9-8847E782C5C5}"/>
              </a:ext>
            </a:extLst>
          </p:cNvPr>
          <p:cNvSpPr txBox="1"/>
          <p:nvPr/>
        </p:nvSpPr>
        <p:spPr>
          <a:xfrm>
            <a:off x="1732151" y="1481916"/>
            <a:ext cx="6143766" cy="4524315"/>
          </a:xfrm>
          <a:prstGeom prst="rect">
            <a:avLst/>
          </a:prstGeom>
          <a:noFill/>
        </p:spPr>
        <p:txBody>
          <a:bodyPr wrap="square" rtlCol="0">
            <a:spAutoFit/>
          </a:bodyPr>
          <a:lstStyle/>
          <a:p>
            <a:r>
              <a:rPr lang="en-CA" dirty="0"/>
              <a:t>The term “Class” may be new to you. You can think of a class like an FB in </a:t>
            </a:r>
            <a:r>
              <a:rPr lang="en-CA" dirty="0" err="1"/>
              <a:t>TwinCAT</a:t>
            </a:r>
            <a:r>
              <a:rPr lang="en-CA" dirty="0"/>
              <a:t> structured text. A class contains variables, methods (IE actions) and functional code just like an FB. </a:t>
            </a:r>
          </a:p>
          <a:p>
            <a:r>
              <a:rPr lang="en-CA" dirty="0"/>
              <a:t>In our case, as is typical in C#, we declare and define the class in the same block of code.</a:t>
            </a:r>
          </a:p>
          <a:p>
            <a:endParaRPr lang="en-CA" dirty="0"/>
          </a:p>
          <a:p>
            <a:endParaRPr lang="en-CA" dirty="0"/>
          </a:p>
          <a:p>
            <a:r>
              <a:rPr lang="en-CA" dirty="0"/>
              <a:t>This is the class declaration   -&gt;</a:t>
            </a:r>
          </a:p>
          <a:p>
            <a:endParaRPr lang="en-CA" dirty="0"/>
          </a:p>
          <a:p>
            <a:endParaRPr lang="en-CA" dirty="0"/>
          </a:p>
          <a:p>
            <a:endParaRPr lang="en-CA" dirty="0"/>
          </a:p>
          <a:p>
            <a:endParaRPr lang="en-CA" dirty="0"/>
          </a:p>
          <a:p>
            <a:endParaRPr lang="en-CA" dirty="0"/>
          </a:p>
          <a:p>
            <a:r>
              <a:rPr lang="en-CA" dirty="0"/>
              <a:t>Technically, everything else in the class </a:t>
            </a:r>
          </a:p>
          <a:p>
            <a:r>
              <a:rPr lang="en-CA" dirty="0"/>
              <a:t>(which in our case is the rest of the </a:t>
            </a:r>
          </a:p>
          <a:p>
            <a:r>
              <a:rPr lang="en-CA" dirty="0"/>
              <a:t>file contents) is the class definition   -&gt;</a:t>
            </a:r>
          </a:p>
        </p:txBody>
      </p:sp>
      <p:pic>
        <p:nvPicPr>
          <p:cNvPr id="5" name="Picture 4">
            <a:extLst>
              <a:ext uri="{FF2B5EF4-FFF2-40B4-BE49-F238E27FC236}">
                <a16:creationId xmlns:a16="http://schemas.microsoft.com/office/drawing/2014/main" id="{60F6F335-B5C1-640D-CE22-38770F7B3918}"/>
              </a:ext>
            </a:extLst>
          </p:cNvPr>
          <p:cNvPicPr>
            <a:picLocks noChangeAspect="1"/>
          </p:cNvPicPr>
          <p:nvPr/>
        </p:nvPicPr>
        <p:blipFill>
          <a:blip r:embed="rId3"/>
          <a:stretch>
            <a:fillRect/>
          </a:stretch>
        </p:blipFill>
        <p:spPr>
          <a:xfrm>
            <a:off x="5224061" y="2817257"/>
            <a:ext cx="4838678" cy="1498870"/>
          </a:xfrm>
          <a:prstGeom prst="rect">
            <a:avLst/>
          </a:prstGeom>
        </p:spPr>
      </p:pic>
      <p:pic>
        <p:nvPicPr>
          <p:cNvPr id="7" name="Picture 6">
            <a:extLst>
              <a:ext uri="{FF2B5EF4-FFF2-40B4-BE49-F238E27FC236}">
                <a16:creationId xmlns:a16="http://schemas.microsoft.com/office/drawing/2014/main" id="{CE6214AB-4A1E-CF45-8E83-E7F0FCBD1641}"/>
              </a:ext>
            </a:extLst>
          </p:cNvPr>
          <p:cNvPicPr>
            <a:picLocks noChangeAspect="1"/>
          </p:cNvPicPr>
          <p:nvPr/>
        </p:nvPicPr>
        <p:blipFill>
          <a:blip r:embed="rId4"/>
          <a:stretch>
            <a:fillRect/>
          </a:stretch>
        </p:blipFill>
        <p:spPr>
          <a:xfrm>
            <a:off x="5651042" y="4878320"/>
            <a:ext cx="3984716" cy="1885542"/>
          </a:xfrm>
          <a:prstGeom prst="rect">
            <a:avLst/>
          </a:prstGeom>
        </p:spPr>
      </p:pic>
    </p:spTree>
    <p:extLst>
      <p:ext uri="{BB962C8B-B14F-4D97-AF65-F5344CB8AC3E}">
        <p14:creationId xmlns:p14="http://schemas.microsoft.com/office/powerpoint/2010/main" val="2658241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F3D330-F5A9-4C07-0C80-15DC9C4BD463}"/>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A08569E-322D-07FE-01A2-839EB321C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71F0CD33-9B4D-6557-E770-EFAC0BB1C2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F03AAC94-618B-6978-F4F6-EB96A11686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6BC6EEC3-B12B-3508-DBE3-23A1B3863363}"/>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err="1">
                <a:latin typeface="+mj-lt"/>
                <a:ea typeface="+mj-ea"/>
                <a:cs typeface="+mj-cs"/>
              </a:rPr>
              <a:t>GTAC_TcUI_PostgreSQL.cs</a:t>
            </a:r>
            <a:endParaRPr lang="en-US" altLang="en-US" sz="3200" dirty="0">
              <a:latin typeface="+mj-lt"/>
              <a:ea typeface="+mj-ea"/>
              <a:cs typeface="+mj-cs"/>
            </a:endParaRPr>
          </a:p>
          <a:p>
            <a:pPr algn="ctr" eaLnBrk="1" hangingPunct="1">
              <a:lnSpc>
                <a:spcPct val="90000"/>
              </a:lnSpc>
              <a:spcBef>
                <a:spcPct val="0"/>
              </a:spcBef>
              <a:spcAft>
                <a:spcPts val="600"/>
              </a:spcAft>
            </a:pPr>
            <a:r>
              <a:rPr lang="en-US" altLang="en-US" sz="3200" kern="1200" dirty="0">
                <a:solidFill>
                  <a:schemeClr val="tx1"/>
                </a:solidFill>
                <a:latin typeface="+mj-lt"/>
                <a:ea typeface="+mj-ea"/>
                <a:cs typeface="+mj-cs"/>
              </a:rPr>
              <a:t>3. Application Specific Methods</a:t>
            </a:r>
          </a:p>
        </p:txBody>
      </p:sp>
      <p:sp>
        <p:nvSpPr>
          <p:cNvPr id="2" name="TextBox 1">
            <a:extLst>
              <a:ext uri="{FF2B5EF4-FFF2-40B4-BE49-F238E27FC236}">
                <a16:creationId xmlns:a16="http://schemas.microsoft.com/office/drawing/2014/main" id="{2AF4F1E9-C7D0-9B3E-99C1-E5DA7B6680B4}"/>
              </a:ext>
            </a:extLst>
          </p:cNvPr>
          <p:cNvSpPr txBox="1"/>
          <p:nvPr/>
        </p:nvSpPr>
        <p:spPr>
          <a:xfrm>
            <a:off x="2557292" y="1596826"/>
            <a:ext cx="7077415" cy="5078313"/>
          </a:xfrm>
          <a:prstGeom prst="rect">
            <a:avLst/>
          </a:prstGeom>
          <a:noFill/>
        </p:spPr>
        <p:txBody>
          <a:bodyPr wrap="square" rtlCol="0">
            <a:spAutoFit/>
          </a:bodyPr>
          <a:lstStyle/>
          <a:p>
            <a:r>
              <a:rPr lang="en-CA" dirty="0"/>
              <a:t>The Application Specific Methods are the real nuts and bolts of how our server extension works. They are the functional code that end up being called when the </a:t>
            </a:r>
            <a:r>
              <a:rPr lang="en-CA" dirty="0" err="1"/>
              <a:t>TcHmi</a:t>
            </a:r>
            <a:r>
              <a:rPr lang="en-CA" dirty="0"/>
              <a:t> UI accesses a Server Extension symbol.</a:t>
            </a:r>
          </a:p>
          <a:p>
            <a:endParaRPr lang="en-CA" dirty="0"/>
          </a:p>
          <a:p>
            <a:endParaRPr lang="en-CA" dirty="0"/>
          </a:p>
          <a:p>
            <a:r>
              <a:rPr lang="en-CA" dirty="0"/>
              <a:t>The full list of methods is too large for the scope of this document. You are encouraged to study the code in depth to gain a good understanding of how each method works. </a:t>
            </a:r>
          </a:p>
          <a:p>
            <a:endParaRPr lang="en-CA" dirty="0"/>
          </a:p>
          <a:p>
            <a:r>
              <a:rPr lang="en-CA" dirty="0"/>
              <a:t>Some methods of particular interest are: “</a:t>
            </a:r>
            <a:r>
              <a:rPr lang="en-CA" dirty="0" err="1"/>
              <a:t>Connect_Base</a:t>
            </a:r>
            <a:r>
              <a:rPr lang="en-CA" dirty="0"/>
              <a:t>”, “</a:t>
            </a:r>
            <a:r>
              <a:rPr lang="en-CA" dirty="0" err="1"/>
              <a:t>Read_Base</a:t>
            </a:r>
            <a:r>
              <a:rPr lang="en-CA" dirty="0"/>
              <a:t>”, “</a:t>
            </a:r>
            <a:r>
              <a:rPr lang="en-CA" dirty="0" err="1"/>
              <a:t>Write_Base</a:t>
            </a:r>
            <a:r>
              <a:rPr lang="en-CA" dirty="0"/>
              <a:t>” where the heavy lifting is done.</a:t>
            </a:r>
          </a:p>
          <a:p>
            <a:endParaRPr lang="en-CA" dirty="0"/>
          </a:p>
          <a:p>
            <a:r>
              <a:rPr lang="en-CA" dirty="0"/>
              <a:t>Please note that some typical C# best practices were not used during the development of this SE in such cases where code style more typical of what you may have seen in </a:t>
            </a:r>
            <a:r>
              <a:rPr lang="en-CA" dirty="0" err="1"/>
              <a:t>TwinCAT</a:t>
            </a:r>
            <a:r>
              <a:rPr lang="en-CA" dirty="0"/>
              <a:t> were used. This was done to help the migration from one environment to the other. </a:t>
            </a:r>
          </a:p>
          <a:p>
            <a:endParaRPr lang="en-CA" dirty="0"/>
          </a:p>
          <a:p>
            <a:endParaRPr lang="en-CA" dirty="0"/>
          </a:p>
        </p:txBody>
      </p:sp>
    </p:spTree>
    <p:extLst>
      <p:ext uri="{BB962C8B-B14F-4D97-AF65-F5344CB8AC3E}">
        <p14:creationId xmlns:p14="http://schemas.microsoft.com/office/powerpoint/2010/main" val="164434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B21112-00C5-E11E-01B3-413F24C5F75C}"/>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C4B798F-D2BE-EB03-0BB2-BAED126ED9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CCDAC5E-76AE-3599-AACD-42E0CC48E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7673F610-4B33-D7CD-3B49-85C4579BEC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BD5EB878-23D4-FF8A-BA88-8EA29C985934}"/>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err="1">
                <a:latin typeface="+mj-lt"/>
                <a:ea typeface="+mj-ea"/>
                <a:cs typeface="+mj-cs"/>
              </a:rPr>
              <a:t>GTAC_TcUI_PostgreSQL.cs</a:t>
            </a:r>
            <a:endParaRPr lang="en-US" altLang="en-US" sz="3200" dirty="0">
              <a:latin typeface="+mj-lt"/>
              <a:ea typeface="+mj-ea"/>
              <a:cs typeface="+mj-cs"/>
            </a:endParaRPr>
          </a:p>
          <a:p>
            <a:pPr algn="ctr" eaLnBrk="1" hangingPunct="1">
              <a:lnSpc>
                <a:spcPct val="90000"/>
              </a:lnSpc>
              <a:spcBef>
                <a:spcPct val="0"/>
              </a:spcBef>
              <a:spcAft>
                <a:spcPts val="600"/>
              </a:spcAft>
            </a:pPr>
            <a:r>
              <a:rPr lang="en-US" altLang="en-US" sz="3200" dirty="0">
                <a:latin typeface="+mj-lt"/>
                <a:ea typeface="+mj-ea"/>
                <a:cs typeface="+mj-cs"/>
              </a:rPr>
              <a:t>4</a:t>
            </a:r>
            <a:r>
              <a:rPr lang="en-US" altLang="en-US" sz="3200" kern="1200" dirty="0">
                <a:solidFill>
                  <a:schemeClr val="tx1"/>
                </a:solidFill>
                <a:latin typeface="+mj-lt"/>
                <a:ea typeface="+mj-ea"/>
                <a:cs typeface="+mj-cs"/>
              </a:rPr>
              <a:t>. </a:t>
            </a:r>
            <a:r>
              <a:rPr lang="en-US" altLang="en-US" sz="3200" kern="1200" dirty="0" err="1">
                <a:solidFill>
                  <a:schemeClr val="tx1"/>
                </a:solidFill>
                <a:latin typeface="+mj-lt"/>
                <a:ea typeface="+mj-ea"/>
                <a:cs typeface="+mj-cs"/>
              </a:rPr>
              <a:t>OnRequest</a:t>
            </a:r>
            <a:r>
              <a:rPr lang="en-US" altLang="en-US" sz="3200" kern="1200" dirty="0">
                <a:solidFill>
                  <a:schemeClr val="tx1"/>
                </a:solidFill>
                <a:latin typeface="+mj-lt"/>
                <a:ea typeface="+mj-ea"/>
                <a:cs typeface="+mj-cs"/>
              </a:rPr>
              <a:t> Method</a:t>
            </a:r>
          </a:p>
        </p:txBody>
      </p:sp>
      <p:sp>
        <p:nvSpPr>
          <p:cNvPr id="2" name="TextBox 1">
            <a:extLst>
              <a:ext uri="{FF2B5EF4-FFF2-40B4-BE49-F238E27FC236}">
                <a16:creationId xmlns:a16="http://schemas.microsoft.com/office/drawing/2014/main" id="{8E365D5F-6296-D246-8134-7E809E31D026}"/>
              </a:ext>
            </a:extLst>
          </p:cNvPr>
          <p:cNvSpPr txBox="1"/>
          <p:nvPr/>
        </p:nvSpPr>
        <p:spPr>
          <a:xfrm>
            <a:off x="481701" y="1465309"/>
            <a:ext cx="7354459" cy="5970865"/>
          </a:xfrm>
          <a:prstGeom prst="rect">
            <a:avLst/>
          </a:prstGeom>
          <a:noFill/>
        </p:spPr>
        <p:txBody>
          <a:bodyPr wrap="square" rtlCol="0">
            <a:spAutoFit/>
          </a:bodyPr>
          <a:lstStyle/>
          <a:p>
            <a:r>
              <a:rPr lang="en-CA" sz="1600" dirty="0"/>
              <a:t>The </a:t>
            </a:r>
            <a:r>
              <a:rPr lang="en-CA" sz="1600" dirty="0" err="1"/>
              <a:t>OnRequest</a:t>
            </a:r>
            <a:r>
              <a:rPr lang="en-CA" sz="1600" dirty="0"/>
              <a:t> Method is the last method in the </a:t>
            </a:r>
            <a:r>
              <a:rPr lang="en-CA" sz="1600" dirty="0" err="1"/>
              <a:t>GTAC_TcUI_PostgreSQL</a:t>
            </a:r>
            <a:r>
              <a:rPr lang="en-CA" sz="1600" dirty="0"/>
              <a:t> class. It is a “callback” method registered against the Server Extensions request listener. So, when the </a:t>
            </a:r>
            <a:r>
              <a:rPr lang="en-CA" sz="1600" dirty="0" err="1"/>
              <a:t>TcHmi</a:t>
            </a:r>
            <a:r>
              <a:rPr lang="en-CA" sz="1600" dirty="0"/>
              <a:t> UI makes a request to the server extension by accessing one of the Server Extension symbols, this </a:t>
            </a:r>
            <a:r>
              <a:rPr lang="en-CA" sz="1600" dirty="0" err="1"/>
              <a:t>OnRequest</a:t>
            </a:r>
            <a:r>
              <a:rPr lang="en-CA" sz="1600" dirty="0"/>
              <a:t> method is executed. The symbol that was accessed in the request by </a:t>
            </a:r>
            <a:r>
              <a:rPr lang="en-CA" sz="1600" dirty="0" err="1"/>
              <a:t>TcHmi</a:t>
            </a:r>
            <a:r>
              <a:rPr lang="en-CA" sz="1600" dirty="0"/>
              <a:t> contains a “command” object. The command object contains a mapping string that identifies which symbol was accessed.</a:t>
            </a:r>
          </a:p>
          <a:p>
            <a:endParaRPr lang="en-CA" sz="1600" dirty="0"/>
          </a:p>
          <a:p>
            <a:r>
              <a:rPr lang="en-CA" sz="1600" dirty="0"/>
              <a:t>Here is where we register the </a:t>
            </a:r>
            <a:r>
              <a:rPr lang="en-CA" sz="1600" dirty="0" err="1"/>
              <a:t>OnRequest</a:t>
            </a:r>
            <a:r>
              <a:rPr lang="en-CA" sz="1600" dirty="0"/>
              <a:t> method to the request listener   -&gt;</a:t>
            </a:r>
          </a:p>
          <a:p>
            <a:endParaRPr lang="en-CA" sz="1600" dirty="0"/>
          </a:p>
          <a:p>
            <a:r>
              <a:rPr lang="en-US" sz="1600" dirty="0"/>
              <a:t>Further to above, an example; if the “CONNECT” symbol is accessed in the machine’s </a:t>
            </a:r>
            <a:r>
              <a:rPr lang="en-US" sz="1600" dirty="0" err="1"/>
              <a:t>TcHmi</a:t>
            </a:r>
            <a:r>
              <a:rPr lang="en-US" sz="1600" dirty="0"/>
              <a:t> UI, the request listener detects this event and passes the associated command object — which includes the command mapping string (in this case, </a:t>
            </a:r>
            <a:r>
              <a:rPr lang="en-US" dirty="0"/>
              <a:t>"CONNECT"</a:t>
            </a:r>
            <a:r>
              <a:rPr lang="en-US" sz="1600" dirty="0"/>
              <a:t>) — to the server extension     -&gt;</a:t>
            </a:r>
          </a:p>
          <a:p>
            <a:endParaRPr lang="en-US" sz="1600" dirty="0"/>
          </a:p>
          <a:p>
            <a:endParaRPr lang="en-US" sz="1600" dirty="0"/>
          </a:p>
          <a:p>
            <a:r>
              <a:rPr lang="en-US" sz="1600" dirty="0"/>
              <a:t>Inside the server extension, the </a:t>
            </a:r>
            <a:r>
              <a:rPr lang="en-US" dirty="0" err="1"/>
              <a:t>OnRequest</a:t>
            </a:r>
            <a:r>
              <a:rPr lang="en-US" sz="1600" dirty="0"/>
              <a:t> method processes the incoming command by checking the command’s mapping string in a switch statement.</a:t>
            </a:r>
          </a:p>
          <a:p>
            <a:r>
              <a:rPr lang="en-US" sz="1600" dirty="0"/>
              <a:t>When the </a:t>
            </a:r>
            <a:r>
              <a:rPr lang="en-US" dirty="0"/>
              <a:t>"CONNECT"</a:t>
            </a:r>
            <a:r>
              <a:rPr lang="en-US" sz="1600" dirty="0"/>
              <a:t> mapping is detected, the </a:t>
            </a:r>
            <a:r>
              <a:rPr lang="en-US" dirty="0" err="1"/>
              <a:t>OnRequest</a:t>
            </a:r>
            <a:r>
              <a:rPr lang="en-US" sz="1600" dirty="0"/>
              <a:t> method calls the corresponding </a:t>
            </a:r>
            <a:r>
              <a:rPr lang="en-US" dirty="0"/>
              <a:t>CONNECT</a:t>
            </a:r>
            <a:r>
              <a:rPr lang="en-US" sz="1600" dirty="0"/>
              <a:t> method and passes the command object to it. The </a:t>
            </a:r>
            <a:r>
              <a:rPr lang="en-US" dirty="0"/>
              <a:t>CONNECT</a:t>
            </a:r>
            <a:r>
              <a:rPr lang="en-US" sz="1600" dirty="0"/>
              <a:t> method then performs the necessary operations and uses the command object to send data or results back to the </a:t>
            </a:r>
            <a:r>
              <a:rPr lang="en-US" sz="1600" dirty="0" err="1"/>
              <a:t>TcHmi</a:t>
            </a:r>
            <a:r>
              <a:rPr lang="en-US" sz="1600" dirty="0"/>
              <a:t> client        -&gt;</a:t>
            </a:r>
          </a:p>
          <a:p>
            <a:endParaRPr lang="en-CA" dirty="0"/>
          </a:p>
          <a:p>
            <a:endParaRPr lang="en-CA" dirty="0"/>
          </a:p>
        </p:txBody>
      </p:sp>
      <p:pic>
        <p:nvPicPr>
          <p:cNvPr id="4" name="Picture 3">
            <a:extLst>
              <a:ext uri="{FF2B5EF4-FFF2-40B4-BE49-F238E27FC236}">
                <a16:creationId xmlns:a16="http://schemas.microsoft.com/office/drawing/2014/main" id="{CCB01B8B-BC92-6FF8-5E31-E791F1DD9320}"/>
              </a:ext>
            </a:extLst>
          </p:cNvPr>
          <p:cNvPicPr>
            <a:picLocks noChangeAspect="1"/>
          </p:cNvPicPr>
          <p:nvPr/>
        </p:nvPicPr>
        <p:blipFill>
          <a:blip r:embed="rId3"/>
          <a:stretch>
            <a:fillRect/>
          </a:stretch>
        </p:blipFill>
        <p:spPr>
          <a:xfrm>
            <a:off x="7836160" y="2895487"/>
            <a:ext cx="4048890" cy="994559"/>
          </a:xfrm>
          <a:prstGeom prst="rect">
            <a:avLst/>
          </a:prstGeom>
        </p:spPr>
      </p:pic>
      <p:pic>
        <p:nvPicPr>
          <p:cNvPr id="6" name="Picture 5">
            <a:extLst>
              <a:ext uri="{FF2B5EF4-FFF2-40B4-BE49-F238E27FC236}">
                <a16:creationId xmlns:a16="http://schemas.microsoft.com/office/drawing/2014/main" id="{2858DA16-FE23-C743-3DEE-513536EF18C7}"/>
              </a:ext>
            </a:extLst>
          </p:cNvPr>
          <p:cNvPicPr>
            <a:picLocks noChangeAspect="1"/>
          </p:cNvPicPr>
          <p:nvPr/>
        </p:nvPicPr>
        <p:blipFill>
          <a:blip r:embed="rId4"/>
          <a:stretch>
            <a:fillRect/>
          </a:stretch>
        </p:blipFill>
        <p:spPr>
          <a:xfrm>
            <a:off x="2682109" y="4485215"/>
            <a:ext cx="5930634" cy="423617"/>
          </a:xfrm>
          <a:prstGeom prst="rect">
            <a:avLst/>
          </a:prstGeom>
        </p:spPr>
      </p:pic>
      <p:pic>
        <p:nvPicPr>
          <p:cNvPr id="8" name="Picture 7">
            <a:extLst>
              <a:ext uri="{FF2B5EF4-FFF2-40B4-BE49-F238E27FC236}">
                <a16:creationId xmlns:a16="http://schemas.microsoft.com/office/drawing/2014/main" id="{6A538DD2-C706-573F-A4CD-E50F8E5FD3B5}"/>
              </a:ext>
            </a:extLst>
          </p:cNvPr>
          <p:cNvPicPr>
            <a:picLocks noChangeAspect="1"/>
          </p:cNvPicPr>
          <p:nvPr/>
        </p:nvPicPr>
        <p:blipFill>
          <a:blip r:embed="rId5"/>
          <a:stretch>
            <a:fillRect/>
          </a:stretch>
        </p:blipFill>
        <p:spPr>
          <a:xfrm>
            <a:off x="7793025" y="4973590"/>
            <a:ext cx="4326909" cy="1790271"/>
          </a:xfrm>
          <a:prstGeom prst="rect">
            <a:avLst/>
          </a:prstGeom>
        </p:spPr>
      </p:pic>
      <p:sp>
        <p:nvSpPr>
          <p:cNvPr id="9" name="Arrow: Bent-Up 8">
            <a:extLst>
              <a:ext uri="{FF2B5EF4-FFF2-40B4-BE49-F238E27FC236}">
                <a16:creationId xmlns:a16="http://schemas.microsoft.com/office/drawing/2014/main" id="{C1B32C6E-4A95-05DD-2EAA-759BD03E2B5B}"/>
              </a:ext>
            </a:extLst>
          </p:cNvPr>
          <p:cNvSpPr/>
          <p:nvPr/>
        </p:nvSpPr>
        <p:spPr>
          <a:xfrm rot="16200000" flipH="1" flipV="1">
            <a:off x="7094401" y="4520358"/>
            <a:ext cx="423617" cy="1059898"/>
          </a:xfrm>
          <a:prstGeom prst="bentUpArrow">
            <a:avLst>
              <a:gd name="adj1" fmla="val 25000"/>
              <a:gd name="adj2" fmla="val 26018"/>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3895564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99350E-78A8-8DB6-F61A-5D4999F47272}"/>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A79937C-1D74-4D44-8910-B35C3E885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B164A64-A840-2E35-06A3-1E2EB2C786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3FF90EBC-06BC-AE11-8FF1-450B8729A9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516E796F-0E89-987B-180E-B99B83B59B68}"/>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Edit, Build, Pack</a:t>
            </a:r>
            <a:endParaRPr lang="en-US" altLang="en-US" sz="3200"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206F9BB0-94C7-E43D-AEE3-78326BB005C6}"/>
              </a:ext>
            </a:extLst>
          </p:cNvPr>
          <p:cNvSpPr txBox="1"/>
          <p:nvPr/>
        </p:nvSpPr>
        <p:spPr>
          <a:xfrm>
            <a:off x="4770020" y="2147936"/>
            <a:ext cx="5136282" cy="2308324"/>
          </a:xfrm>
          <a:prstGeom prst="rect">
            <a:avLst/>
          </a:prstGeom>
          <a:noFill/>
        </p:spPr>
        <p:txBody>
          <a:bodyPr wrap="square" rtlCol="0">
            <a:spAutoFit/>
          </a:bodyPr>
          <a:lstStyle/>
          <a:p>
            <a:r>
              <a:rPr lang="en-US" dirty="0"/>
              <a:t>So, you’ve decided to make some edits to our PostgreSQL package! Be it a new feature, fixing a bug or whatever, the routine is all the same. First you will perform your edits, next you will build the code and check for build errors, last you will pack the product into a NuGet package. Let’s get started…</a:t>
            </a:r>
          </a:p>
          <a:p>
            <a:endParaRPr lang="en-CA" dirty="0"/>
          </a:p>
          <a:p>
            <a:endParaRPr lang="en-CA" dirty="0"/>
          </a:p>
        </p:txBody>
      </p:sp>
      <p:pic>
        <p:nvPicPr>
          <p:cNvPr id="1026" name="Picture 2" descr="desktop computer software developer ...">
            <a:extLst>
              <a:ext uri="{FF2B5EF4-FFF2-40B4-BE49-F238E27FC236}">
                <a16:creationId xmlns:a16="http://schemas.microsoft.com/office/drawing/2014/main" id="{CDA9AEAC-C115-D28B-F60F-CDBDB143A9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4113" y="4578616"/>
            <a:ext cx="2790825" cy="16383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eme Monday: I like my coffee like I like my code - Cisco Community">
            <a:extLst>
              <a:ext uri="{FF2B5EF4-FFF2-40B4-BE49-F238E27FC236}">
                <a16:creationId xmlns:a16="http://schemas.microsoft.com/office/drawing/2014/main" id="{7BDC6BAD-0E1E-50CD-57BA-20DB3191B7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057" y="3276398"/>
            <a:ext cx="2940518" cy="2940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24728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3F53B3-5CDF-853E-2BEC-58CBE27C2C45}"/>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1121604-4A4D-3688-DF7F-D07886B1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9A88546-6411-A4E2-81F6-CA8AF52FE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8EA38855-8826-CF62-7789-413CABB6D2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DF8707D9-2048-D6CC-A2CC-A6C408806A4A}"/>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Edit, Build, Pack</a:t>
            </a:r>
            <a:endParaRPr lang="en-US" altLang="en-US" sz="3200"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7E807905-C285-637F-3C2C-2C4BC748F9DE}"/>
              </a:ext>
            </a:extLst>
          </p:cNvPr>
          <p:cNvSpPr txBox="1"/>
          <p:nvPr/>
        </p:nvSpPr>
        <p:spPr>
          <a:xfrm>
            <a:off x="871602" y="1877157"/>
            <a:ext cx="5136282" cy="3416320"/>
          </a:xfrm>
          <a:prstGeom prst="rect">
            <a:avLst/>
          </a:prstGeom>
          <a:noFill/>
        </p:spPr>
        <p:txBody>
          <a:bodyPr wrap="square" rtlCol="0">
            <a:spAutoFit/>
          </a:bodyPr>
          <a:lstStyle/>
          <a:p>
            <a:r>
              <a:rPr lang="en-US" dirty="0"/>
              <a:t>First, begin by performing your edits. Remember to take into account functional criteria, style best practices, commenting etc.</a:t>
            </a:r>
          </a:p>
          <a:p>
            <a:r>
              <a:rPr lang="en-US" dirty="0"/>
              <a:t>We will not go into depth on this topic as it is a topic unto itself. Most of your editing will likely be done in the </a:t>
            </a:r>
            <a:r>
              <a:rPr lang="en-US" dirty="0" err="1"/>
              <a:t>GTAC_TcUI_PostgreSQL.cs</a:t>
            </a:r>
            <a:r>
              <a:rPr lang="en-US" dirty="0"/>
              <a:t> file.</a:t>
            </a:r>
          </a:p>
          <a:p>
            <a:endParaRPr lang="en-US" dirty="0"/>
          </a:p>
          <a:p>
            <a:endParaRPr lang="en-US" dirty="0"/>
          </a:p>
          <a:p>
            <a:r>
              <a:rPr lang="en-US" dirty="0"/>
              <a:t>Also, remember to edit the version information tags and release notes in the </a:t>
            </a:r>
            <a:r>
              <a:rPr lang="en-US" dirty="0" err="1"/>
              <a:t>csproj</a:t>
            </a:r>
            <a:r>
              <a:rPr lang="en-US" dirty="0"/>
              <a:t> file as well. </a:t>
            </a:r>
          </a:p>
          <a:p>
            <a:endParaRPr lang="en-CA" dirty="0"/>
          </a:p>
          <a:p>
            <a:endParaRPr lang="en-CA" dirty="0"/>
          </a:p>
        </p:txBody>
      </p:sp>
      <p:pic>
        <p:nvPicPr>
          <p:cNvPr id="4" name="Picture 3">
            <a:extLst>
              <a:ext uri="{FF2B5EF4-FFF2-40B4-BE49-F238E27FC236}">
                <a16:creationId xmlns:a16="http://schemas.microsoft.com/office/drawing/2014/main" id="{B3B0E08E-923A-2270-C8DC-F70EC084A9D8}"/>
              </a:ext>
            </a:extLst>
          </p:cNvPr>
          <p:cNvPicPr>
            <a:picLocks noChangeAspect="1"/>
          </p:cNvPicPr>
          <p:nvPr/>
        </p:nvPicPr>
        <p:blipFill>
          <a:blip r:embed="rId3"/>
          <a:stretch>
            <a:fillRect/>
          </a:stretch>
        </p:blipFill>
        <p:spPr>
          <a:xfrm>
            <a:off x="5873127" y="4115135"/>
            <a:ext cx="4918518" cy="2648727"/>
          </a:xfrm>
          <a:prstGeom prst="rect">
            <a:avLst/>
          </a:prstGeom>
        </p:spPr>
      </p:pic>
      <p:pic>
        <p:nvPicPr>
          <p:cNvPr id="6" name="Picture 5">
            <a:extLst>
              <a:ext uri="{FF2B5EF4-FFF2-40B4-BE49-F238E27FC236}">
                <a16:creationId xmlns:a16="http://schemas.microsoft.com/office/drawing/2014/main" id="{9C5C9824-AF4A-5F61-FB13-6EF5BD33C7AE}"/>
              </a:ext>
            </a:extLst>
          </p:cNvPr>
          <p:cNvPicPr>
            <a:picLocks noChangeAspect="1"/>
          </p:cNvPicPr>
          <p:nvPr/>
        </p:nvPicPr>
        <p:blipFill>
          <a:blip r:embed="rId4"/>
          <a:stretch>
            <a:fillRect/>
          </a:stretch>
        </p:blipFill>
        <p:spPr>
          <a:xfrm>
            <a:off x="6096000" y="1467373"/>
            <a:ext cx="5224398" cy="2453755"/>
          </a:xfrm>
          <a:prstGeom prst="rect">
            <a:avLst/>
          </a:prstGeom>
        </p:spPr>
      </p:pic>
    </p:spTree>
    <p:extLst>
      <p:ext uri="{BB962C8B-B14F-4D97-AF65-F5344CB8AC3E}">
        <p14:creationId xmlns:p14="http://schemas.microsoft.com/office/powerpoint/2010/main" val="26968420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4123C0-6C03-6911-61AB-68D72299ADAD}"/>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E498370-BDE5-CD33-1583-E74CDE245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60BB822-8E82-3B47-0038-1CE99024DE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63D451F5-2542-F66F-2E3E-43576B5E33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40B2DAA1-5A7F-C7C2-9A42-9E323B4699E4}"/>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Edit, Build, Pack</a:t>
            </a:r>
            <a:endParaRPr lang="en-US" altLang="en-US" sz="3200"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79E506B2-C8BC-067F-312B-236D4B52B672}"/>
              </a:ext>
            </a:extLst>
          </p:cNvPr>
          <p:cNvSpPr txBox="1"/>
          <p:nvPr/>
        </p:nvSpPr>
        <p:spPr>
          <a:xfrm>
            <a:off x="6357668" y="1502012"/>
            <a:ext cx="5136282" cy="1477328"/>
          </a:xfrm>
          <a:prstGeom prst="rect">
            <a:avLst/>
          </a:prstGeom>
          <a:noFill/>
        </p:spPr>
        <p:txBody>
          <a:bodyPr wrap="square" rtlCol="0">
            <a:spAutoFit/>
          </a:bodyPr>
          <a:lstStyle/>
          <a:p>
            <a:r>
              <a:rPr lang="en-US" dirty="0"/>
              <a:t>Next, as you complete with your edits, build your code and check for build errors, correct as required.</a:t>
            </a:r>
          </a:p>
          <a:p>
            <a:endParaRPr lang="en-CA" dirty="0"/>
          </a:p>
          <a:p>
            <a:endParaRPr lang="en-CA" dirty="0"/>
          </a:p>
          <a:p>
            <a:endParaRPr lang="en-CA" dirty="0"/>
          </a:p>
        </p:txBody>
      </p:sp>
      <p:pic>
        <p:nvPicPr>
          <p:cNvPr id="5" name="Picture 4">
            <a:extLst>
              <a:ext uri="{FF2B5EF4-FFF2-40B4-BE49-F238E27FC236}">
                <a16:creationId xmlns:a16="http://schemas.microsoft.com/office/drawing/2014/main" id="{DE6FDF01-20F6-8ED5-505F-64EBA08EA9A6}"/>
              </a:ext>
            </a:extLst>
          </p:cNvPr>
          <p:cNvPicPr>
            <a:picLocks noChangeAspect="1"/>
          </p:cNvPicPr>
          <p:nvPr/>
        </p:nvPicPr>
        <p:blipFill>
          <a:blip r:embed="rId3"/>
          <a:stretch>
            <a:fillRect/>
          </a:stretch>
        </p:blipFill>
        <p:spPr>
          <a:xfrm>
            <a:off x="167367" y="1716657"/>
            <a:ext cx="4112301" cy="1929618"/>
          </a:xfrm>
          <a:prstGeom prst="rect">
            <a:avLst/>
          </a:prstGeom>
        </p:spPr>
      </p:pic>
      <p:pic>
        <p:nvPicPr>
          <p:cNvPr id="8" name="Picture 7">
            <a:extLst>
              <a:ext uri="{FF2B5EF4-FFF2-40B4-BE49-F238E27FC236}">
                <a16:creationId xmlns:a16="http://schemas.microsoft.com/office/drawing/2014/main" id="{2C7C909C-E803-3A22-BE9F-CF7E6753E4F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920019" y="2651957"/>
            <a:ext cx="4541550" cy="3797494"/>
          </a:xfrm>
          <a:prstGeom prst="rect">
            <a:avLst/>
          </a:prstGeom>
        </p:spPr>
      </p:pic>
      <p:pic>
        <p:nvPicPr>
          <p:cNvPr id="11" name="Picture 10">
            <a:extLst>
              <a:ext uri="{FF2B5EF4-FFF2-40B4-BE49-F238E27FC236}">
                <a16:creationId xmlns:a16="http://schemas.microsoft.com/office/drawing/2014/main" id="{BC80DA99-6DE9-995B-0D68-CF53AA978CF5}"/>
              </a:ext>
            </a:extLst>
          </p:cNvPr>
          <p:cNvPicPr>
            <a:picLocks noChangeAspect="1"/>
          </p:cNvPicPr>
          <p:nvPr/>
        </p:nvPicPr>
        <p:blipFill>
          <a:blip r:embed="rId5"/>
          <a:stretch>
            <a:fillRect/>
          </a:stretch>
        </p:blipFill>
        <p:spPr>
          <a:xfrm>
            <a:off x="7001207" y="3664886"/>
            <a:ext cx="4751411" cy="3098976"/>
          </a:xfrm>
          <a:prstGeom prst="rect">
            <a:avLst/>
          </a:prstGeom>
        </p:spPr>
      </p:pic>
    </p:spTree>
    <p:extLst>
      <p:ext uri="{BB962C8B-B14F-4D97-AF65-F5344CB8AC3E}">
        <p14:creationId xmlns:p14="http://schemas.microsoft.com/office/powerpoint/2010/main" val="37033013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52E35C-8A7D-0E70-B3F6-51AE68C80F09}"/>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FC29175-A61C-C10F-A03A-CC1610E81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443B8ED-EF68-C5BF-FFB2-75833C0920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C2AB93CE-1D52-FA0D-83D2-E5056DD1A9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98079299-F339-0282-F244-F55B52DCC07E}"/>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Edit, Build, Pack</a:t>
            </a:r>
            <a:endParaRPr lang="en-US" altLang="en-US" sz="3200"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8CC5D4E6-CE5E-84FF-B10D-60D465809753}"/>
              </a:ext>
            </a:extLst>
          </p:cNvPr>
          <p:cNvSpPr txBox="1"/>
          <p:nvPr/>
        </p:nvSpPr>
        <p:spPr>
          <a:xfrm>
            <a:off x="3458848" y="2036850"/>
            <a:ext cx="5136282" cy="3693319"/>
          </a:xfrm>
          <a:prstGeom prst="rect">
            <a:avLst/>
          </a:prstGeom>
          <a:noFill/>
        </p:spPr>
        <p:txBody>
          <a:bodyPr wrap="square" rtlCol="0">
            <a:spAutoFit/>
          </a:bodyPr>
          <a:lstStyle/>
          <a:p>
            <a:r>
              <a:rPr lang="en-US" dirty="0"/>
              <a:t>Last, Packing. </a:t>
            </a:r>
          </a:p>
          <a:p>
            <a:endParaRPr lang="en-US" dirty="0"/>
          </a:p>
          <a:p>
            <a:r>
              <a:rPr lang="en-US" dirty="0"/>
              <a:t>Your editing is done, built successfully and you’re happy with it. So, now how do we get the newly edited Server Extension into our </a:t>
            </a:r>
            <a:r>
              <a:rPr lang="en-US" dirty="0" err="1"/>
              <a:t>TcHmi</a:t>
            </a:r>
            <a:r>
              <a:rPr lang="en-US" dirty="0"/>
              <a:t> UI project? We use NuGet to create a package (or </a:t>
            </a:r>
            <a:r>
              <a:rPr lang="en-US" dirty="0" err="1"/>
              <a:t>nupkg</a:t>
            </a:r>
            <a:r>
              <a:rPr lang="en-US" dirty="0"/>
              <a:t>)!</a:t>
            </a:r>
          </a:p>
          <a:p>
            <a:r>
              <a:rPr lang="en-US" dirty="0"/>
              <a:t>A NuGet package is a highly portable method of creating one file that contains all your compiled code, dependencies and other files that are required for your product to run.</a:t>
            </a:r>
          </a:p>
          <a:p>
            <a:endParaRPr lang="en-CA" dirty="0"/>
          </a:p>
          <a:p>
            <a:endParaRPr lang="en-CA" dirty="0"/>
          </a:p>
          <a:p>
            <a:endParaRPr lang="en-CA" dirty="0"/>
          </a:p>
        </p:txBody>
      </p:sp>
      <p:pic>
        <p:nvPicPr>
          <p:cNvPr id="2050" name="Picture 2">
            <a:extLst>
              <a:ext uri="{FF2B5EF4-FFF2-40B4-BE49-F238E27FC236}">
                <a16:creationId xmlns:a16="http://schemas.microsoft.com/office/drawing/2014/main" id="{CF2D0861-9424-911A-3902-29BA21A117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7282" y="5254592"/>
            <a:ext cx="140970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67222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9D2B55-5C73-D768-D419-59726DAEC702}"/>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7AD9A05-1EDE-E841-E165-772ECBB8A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210BE97-2A36-CE62-4C36-1F4EC232BB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EF1827F3-BA99-7538-3645-EC19985BBF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74F6EF50-CE5F-9E55-9DE6-EFE4FA7F3D4F}"/>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Edit, Build, Pack</a:t>
            </a:r>
            <a:endParaRPr lang="en-US" altLang="en-US" sz="3200" kern="1200" dirty="0">
              <a:solidFill>
                <a:schemeClr val="tx1"/>
              </a:solidFill>
              <a:latin typeface="+mj-lt"/>
              <a:ea typeface="+mj-ea"/>
              <a:cs typeface="+mj-cs"/>
            </a:endParaRPr>
          </a:p>
        </p:txBody>
      </p:sp>
      <p:pic>
        <p:nvPicPr>
          <p:cNvPr id="4" name="Picture 3">
            <a:extLst>
              <a:ext uri="{FF2B5EF4-FFF2-40B4-BE49-F238E27FC236}">
                <a16:creationId xmlns:a16="http://schemas.microsoft.com/office/drawing/2014/main" id="{C8345F65-BA0D-0694-BE53-0ECBF8F78BD5}"/>
              </a:ext>
            </a:extLst>
          </p:cNvPr>
          <p:cNvPicPr>
            <a:picLocks noChangeAspect="1"/>
          </p:cNvPicPr>
          <p:nvPr/>
        </p:nvPicPr>
        <p:blipFill>
          <a:blip r:embed="rId3"/>
          <a:stretch>
            <a:fillRect/>
          </a:stretch>
        </p:blipFill>
        <p:spPr>
          <a:xfrm>
            <a:off x="266036" y="1929941"/>
            <a:ext cx="4396486" cy="3467211"/>
          </a:xfrm>
          <a:prstGeom prst="rect">
            <a:avLst/>
          </a:prstGeom>
        </p:spPr>
      </p:pic>
      <p:sp>
        <p:nvSpPr>
          <p:cNvPr id="5" name="TextBox 4">
            <a:extLst>
              <a:ext uri="{FF2B5EF4-FFF2-40B4-BE49-F238E27FC236}">
                <a16:creationId xmlns:a16="http://schemas.microsoft.com/office/drawing/2014/main" id="{47BBDD67-71A8-F772-B17C-8261B29347AF}"/>
              </a:ext>
            </a:extLst>
          </p:cNvPr>
          <p:cNvSpPr txBox="1"/>
          <p:nvPr/>
        </p:nvSpPr>
        <p:spPr>
          <a:xfrm>
            <a:off x="6096000" y="1305341"/>
            <a:ext cx="5136282" cy="4524315"/>
          </a:xfrm>
          <a:prstGeom prst="rect">
            <a:avLst/>
          </a:prstGeom>
          <a:noFill/>
        </p:spPr>
        <p:txBody>
          <a:bodyPr wrap="square" rtlCol="0">
            <a:spAutoFit/>
          </a:bodyPr>
          <a:lstStyle/>
          <a:p>
            <a:r>
              <a:rPr lang="en-US" dirty="0"/>
              <a:t>Creating the NuGet package is easy. The directives of how the package will be laid out are stored in the </a:t>
            </a:r>
            <a:r>
              <a:rPr lang="en-US" dirty="0" err="1"/>
              <a:t>csproj</a:t>
            </a:r>
            <a:r>
              <a:rPr lang="en-US" dirty="0"/>
              <a:t> file. Nothing needs to be modified with these directives except the version and release notes (as previously mentioned). You simply right click the </a:t>
            </a:r>
            <a:r>
              <a:rPr lang="en-US" dirty="0" err="1"/>
              <a:t>csproj</a:t>
            </a:r>
            <a:r>
              <a:rPr lang="en-US" dirty="0"/>
              <a:t> file and select “Pack”, the </a:t>
            </a:r>
            <a:r>
              <a:rPr lang="en-US" dirty="0" err="1"/>
              <a:t>Nuget</a:t>
            </a:r>
            <a:r>
              <a:rPr lang="en-US" dirty="0"/>
              <a:t> Package manager will take over. </a:t>
            </a:r>
          </a:p>
          <a:p>
            <a:r>
              <a:rPr lang="en-US" dirty="0"/>
              <a:t>The output window will show you the status of the pack routine.</a:t>
            </a:r>
          </a:p>
          <a:p>
            <a:r>
              <a:rPr lang="en-US" dirty="0"/>
              <a:t>Please note the version of the package is integrated into the name of the package file (the .</a:t>
            </a:r>
            <a:r>
              <a:rPr lang="en-US" dirty="0" err="1"/>
              <a:t>nupkg</a:t>
            </a:r>
            <a:r>
              <a:rPr lang="en-US" dirty="0"/>
              <a:t> file). This is why it’s important to ensure the version information is updated.</a:t>
            </a:r>
          </a:p>
          <a:p>
            <a:endParaRPr lang="en-CA" dirty="0"/>
          </a:p>
          <a:p>
            <a:endParaRPr lang="en-CA" dirty="0"/>
          </a:p>
          <a:p>
            <a:endParaRPr lang="en-CA" dirty="0"/>
          </a:p>
        </p:txBody>
      </p:sp>
      <p:pic>
        <p:nvPicPr>
          <p:cNvPr id="7" name="Picture 6">
            <a:extLst>
              <a:ext uri="{FF2B5EF4-FFF2-40B4-BE49-F238E27FC236}">
                <a16:creationId xmlns:a16="http://schemas.microsoft.com/office/drawing/2014/main" id="{5382B5BF-C90B-23AA-8A94-1D6DD866EADD}"/>
              </a:ext>
            </a:extLst>
          </p:cNvPr>
          <p:cNvPicPr>
            <a:picLocks noChangeAspect="1"/>
          </p:cNvPicPr>
          <p:nvPr/>
        </p:nvPicPr>
        <p:blipFill>
          <a:blip r:embed="rId4"/>
          <a:stretch>
            <a:fillRect/>
          </a:stretch>
        </p:blipFill>
        <p:spPr>
          <a:xfrm>
            <a:off x="4528868" y="4962428"/>
            <a:ext cx="7397096" cy="1801434"/>
          </a:xfrm>
          <a:prstGeom prst="rect">
            <a:avLst/>
          </a:prstGeom>
        </p:spPr>
      </p:pic>
      <p:sp>
        <p:nvSpPr>
          <p:cNvPr id="8" name="Arrow: Bent-Up 7">
            <a:extLst>
              <a:ext uri="{FF2B5EF4-FFF2-40B4-BE49-F238E27FC236}">
                <a16:creationId xmlns:a16="http://schemas.microsoft.com/office/drawing/2014/main" id="{6F305CD1-E852-17B8-4CFF-F96EDCE68D20}"/>
              </a:ext>
            </a:extLst>
          </p:cNvPr>
          <p:cNvSpPr/>
          <p:nvPr/>
        </p:nvSpPr>
        <p:spPr>
          <a:xfrm rot="16200000" flipH="1" flipV="1">
            <a:off x="3512678" y="5335555"/>
            <a:ext cx="1139610" cy="1059898"/>
          </a:xfrm>
          <a:prstGeom prst="bentUpArrow">
            <a:avLst>
              <a:gd name="adj1" fmla="val 25000"/>
              <a:gd name="adj2" fmla="val 26018"/>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17291978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850B59-9AD1-27C6-03DC-7F9F4488D9D0}"/>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F629C4-03A8-D3F3-D493-A6A999AFC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63FB6AF-A871-7F79-0779-23233CB250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CFD17DA1-49D2-0FCE-8242-DCBEACEF20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D3DDE99B-9B34-9C22-5E5C-D3308D140A59}"/>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Edit, Build, Pack</a:t>
            </a:r>
            <a:endParaRPr lang="en-US" altLang="en-US" sz="3200" kern="1200" dirty="0">
              <a:solidFill>
                <a:schemeClr val="tx1"/>
              </a:solidFill>
              <a:latin typeface="+mj-lt"/>
              <a:ea typeface="+mj-ea"/>
              <a:cs typeface="+mj-cs"/>
            </a:endParaRPr>
          </a:p>
        </p:txBody>
      </p:sp>
      <p:pic>
        <p:nvPicPr>
          <p:cNvPr id="7" name="Picture 6">
            <a:extLst>
              <a:ext uri="{FF2B5EF4-FFF2-40B4-BE49-F238E27FC236}">
                <a16:creationId xmlns:a16="http://schemas.microsoft.com/office/drawing/2014/main" id="{9B4654E3-29A6-E69C-78B5-DDA64A08766D}"/>
              </a:ext>
            </a:extLst>
          </p:cNvPr>
          <p:cNvPicPr>
            <a:picLocks noChangeAspect="1"/>
          </p:cNvPicPr>
          <p:nvPr/>
        </p:nvPicPr>
        <p:blipFill>
          <a:blip r:embed="rId3"/>
          <a:stretch>
            <a:fillRect/>
          </a:stretch>
        </p:blipFill>
        <p:spPr>
          <a:xfrm>
            <a:off x="336374" y="1975449"/>
            <a:ext cx="3847059" cy="936884"/>
          </a:xfrm>
          <a:prstGeom prst="rect">
            <a:avLst/>
          </a:prstGeom>
        </p:spPr>
      </p:pic>
      <p:pic>
        <p:nvPicPr>
          <p:cNvPr id="3" name="Picture 2">
            <a:extLst>
              <a:ext uri="{FF2B5EF4-FFF2-40B4-BE49-F238E27FC236}">
                <a16:creationId xmlns:a16="http://schemas.microsoft.com/office/drawing/2014/main" id="{09A91142-1DFA-96C2-8820-45BDCE73F296}"/>
              </a:ext>
            </a:extLst>
          </p:cNvPr>
          <p:cNvPicPr>
            <a:picLocks noChangeAspect="1"/>
          </p:cNvPicPr>
          <p:nvPr/>
        </p:nvPicPr>
        <p:blipFill>
          <a:blip r:embed="rId4"/>
          <a:stretch>
            <a:fillRect/>
          </a:stretch>
        </p:blipFill>
        <p:spPr>
          <a:xfrm>
            <a:off x="115017" y="2831451"/>
            <a:ext cx="3940563" cy="3886583"/>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9BC01B15-F60C-B03C-FBE3-3EBBB14CCE3B}"/>
              </a:ext>
            </a:extLst>
          </p:cNvPr>
          <p:cNvPicPr>
            <a:picLocks noChangeAspect="1"/>
          </p:cNvPicPr>
          <p:nvPr/>
        </p:nvPicPr>
        <p:blipFill>
          <a:blip r:embed="rId5"/>
          <a:stretch>
            <a:fillRect/>
          </a:stretch>
        </p:blipFill>
        <p:spPr>
          <a:xfrm>
            <a:off x="4183433" y="2831450"/>
            <a:ext cx="4371075" cy="3886583"/>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AA49D6FC-1273-978D-6917-F5620E0E9A4B}"/>
              </a:ext>
            </a:extLst>
          </p:cNvPr>
          <p:cNvSpPr txBox="1"/>
          <p:nvPr/>
        </p:nvSpPr>
        <p:spPr>
          <a:xfrm>
            <a:off x="7599872" y="1543927"/>
            <a:ext cx="4330462" cy="4062651"/>
          </a:xfrm>
          <a:prstGeom prst="rect">
            <a:avLst/>
          </a:prstGeom>
          <a:solidFill>
            <a:schemeClr val="bg1"/>
          </a:solidFill>
        </p:spPr>
        <p:txBody>
          <a:bodyPr wrap="square" rtlCol="0">
            <a:spAutoFit/>
          </a:bodyPr>
          <a:lstStyle/>
          <a:p>
            <a:r>
              <a:rPr lang="en-US" sz="1600" dirty="0"/>
              <a:t>In the previous slide, we packaged up our SE, this created a NuGet package (</a:t>
            </a:r>
            <a:r>
              <a:rPr lang="en-US" sz="1600" dirty="0" err="1"/>
              <a:t>nupkg</a:t>
            </a:r>
            <a:r>
              <a:rPr lang="en-US" sz="1600" dirty="0"/>
              <a:t> file). Note the location it stored this file in.</a:t>
            </a:r>
          </a:p>
          <a:p>
            <a:r>
              <a:rPr lang="en-US" sz="1600" dirty="0"/>
              <a:t>Navigate to this location and grab a copy of the </a:t>
            </a:r>
            <a:r>
              <a:rPr lang="en-US" sz="1600" dirty="0" err="1"/>
              <a:t>nupkg</a:t>
            </a:r>
            <a:r>
              <a:rPr lang="en-US" sz="1600" dirty="0"/>
              <a:t> file.</a:t>
            </a:r>
          </a:p>
          <a:p>
            <a:r>
              <a:rPr lang="en-US" sz="1600" dirty="0"/>
              <a:t>To be able to integrate the package into your </a:t>
            </a:r>
            <a:r>
              <a:rPr lang="en-US" sz="1600" dirty="0" err="1"/>
              <a:t>TcHMI</a:t>
            </a:r>
            <a:r>
              <a:rPr lang="en-US" sz="1600" dirty="0"/>
              <a:t> UI project, you will add the new </a:t>
            </a:r>
            <a:r>
              <a:rPr lang="en-US" sz="1600" dirty="0" err="1"/>
              <a:t>nupkg</a:t>
            </a:r>
            <a:r>
              <a:rPr lang="en-US" sz="1600" dirty="0"/>
              <a:t> file to your “</a:t>
            </a:r>
            <a:r>
              <a:rPr lang="en-US" sz="1600" dirty="0" err="1"/>
              <a:t>TwinCat</a:t>
            </a:r>
            <a:r>
              <a:rPr lang="en-US" sz="1600" dirty="0"/>
              <a:t> </a:t>
            </a:r>
            <a:r>
              <a:rPr lang="en-US" sz="1600" dirty="0" err="1"/>
              <a:t>Hmi</a:t>
            </a:r>
            <a:r>
              <a:rPr lang="en-US" sz="1600" dirty="0"/>
              <a:t> Customer” location, by default this location is at:</a:t>
            </a:r>
          </a:p>
          <a:p>
            <a:endParaRPr lang="en-US" sz="1600" dirty="0"/>
          </a:p>
          <a:p>
            <a:r>
              <a:rPr lang="en-US" sz="1600" dirty="0"/>
              <a:t>C:\TwinCAT\Functions\TE2000-HMI Engineering\References</a:t>
            </a:r>
          </a:p>
          <a:p>
            <a:endParaRPr lang="en-CA" sz="1600" dirty="0"/>
          </a:p>
          <a:p>
            <a:r>
              <a:rPr lang="en-CA" sz="1600" dirty="0"/>
              <a:t>Paste a copy of the </a:t>
            </a:r>
            <a:r>
              <a:rPr lang="en-CA" sz="1600" dirty="0" err="1"/>
              <a:t>nupkg</a:t>
            </a:r>
            <a:r>
              <a:rPr lang="en-CA" sz="1600" dirty="0"/>
              <a:t> file into this location, you can lave the older version of the </a:t>
            </a:r>
            <a:r>
              <a:rPr lang="en-CA" sz="1600" dirty="0" err="1"/>
              <a:t>nupkg</a:t>
            </a:r>
            <a:r>
              <a:rPr lang="en-CA" sz="1600" dirty="0"/>
              <a:t> file.</a:t>
            </a:r>
          </a:p>
          <a:p>
            <a:endParaRPr lang="en-CA" dirty="0"/>
          </a:p>
        </p:txBody>
      </p:sp>
    </p:spTree>
    <p:extLst>
      <p:ext uri="{BB962C8B-B14F-4D97-AF65-F5344CB8AC3E}">
        <p14:creationId xmlns:p14="http://schemas.microsoft.com/office/powerpoint/2010/main" val="6867830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4117CD-41D0-107B-7573-950B65198A24}"/>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DAEBEE2-9BC9-2B67-EEA7-5542C63B81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279EDDF3-8A53-EF14-1CD2-7A6CFB971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C05AB0FF-7028-B4CA-2A21-9ED0992918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19030169-FE63-25D5-962B-795E2C7837E8}"/>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Update </a:t>
            </a:r>
            <a:r>
              <a:rPr lang="en-US" altLang="en-US" sz="3200" dirty="0" err="1">
                <a:latin typeface="+mj-lt"/>
                <a:ea typeface="+mj-ea"/>
                <a:cs typeface="+mj-cs"/>
              </a:rPr>
              <a:t>TcHmi</a:t>
            </a:r>
            <a:endParaRPr lang="en-US" alt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C24D5DE1-B419-4380-808A-22BA1ECF6FC1}"/>
              </a:ext>
            </a:extLst>
          </p:cNvPr>
          <p:cNvSpPr txBox="1"/>
          <p:nvPr/>
        </p:nvSpPr>
        <p:spPr>
          <a:xfrm>
            <a:off x="336374" y="1608064"/>
            <a:ext cx="4330462" cy="1846659"/>
          </a:xfrm>
          <a:prstGeom prst="rect">
            <a:avLst/>
          </a:prstGeom>
          <a:solidFill>
            <a:schemeClr val="bg1"/>
          </a:solidFill>
        </p:spPr>
        <p:txBody>
          <a:bodyPr wrap="square" rtlCol="0">
            <a:spAutoFit/>
          </a:bodyPr>
          <a:lstStyle/>
          <a:p>
            <a:r>
              <a:rPr lang="en-US" sz="1600" dirty="0"/>
              <a:t>Finally, we can bring the updated NuGet package into the </a:t>
            </a:r>
            <a:r>
              <a:rPr lang="en-US" sz="1600" dirty="0" err="1"/>
              <a:t>TcHmi</a:t>
            </a:r>
            <a:r>
              <a:rPr lang="en-US" sz="1600" dirty="0"/>
              <a:t> UI project. Start by opening the </a:t>
            </a:r>
            <a:r>
              <a:rPr lang="en-US" sz="1600" dirty="0" err="1"/>
              <a:t>TcHmi</a:t>
            </a:r>
            <a:r>
              <a:rPr lang="en-US" sz="1600" dirty="0"/>
              <a:t> UI project in XAE. </a:t>
            </a:r>
          </a:p>
          <a:p>
            <a:r>
              <a:rPr lang="en-US" sz="1600" dirty="0"/>
              <a:t>In the Solution Explorer Window, navigate to References, right click it and then select “Manage NuGet Packages”</a:t>
            </a:r>
            <a:endParaRPr lang="en-CA" sz="1600" dirty="0"/>
          </a:p>
          <a:p>
            <a:endParaRPr lang="en-CA" dirty="0"/>
          </a:p>
        </p:txBody>
      </p:sp>
      <p:pic>
        <p:nvPicPr>
          <p:cNvPr id="4" name="Picture 3">
            <a:extLst>
              <a:ext uri="{FF2B5EF4-FFF2-40B4-BE49-F238E27FC236}">
                <a16:creationId xmlns:a16="http://schemas.microsoft.com/office/drawing/2014/main" id="{8D12FE5F-2B8B-438C-D411-3477E9F0357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6000" y="2365230"/>
            <a:ext cx="4658375" cy="4182058"/>
          </a:xfrm>
          <a:prstGeom prst="rect">
            <a:avLst/>
          </a:prstGeom>
        </p:spPr>
      </p:pic>
    </p:spTree>
    <p:extLst>
      <p:ext uri="{BB962C8B-B14F-4D97-AF65-F5344CB8AC3E}">
        <p14:creationId xmlns:p14="http://schemas.microsoft.com/office/powerpoint/2010/main" val="26102636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9CD7CA-B850-508A-B25B-37F5A118695C}"/>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9EA12AE-A272-2DE5-6BEB-8B308AFAAE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2248426-7D4A-0A3E-3BE1-E556957F40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1A204266-3886-AC1D-33F9-4DC47D3D83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BF664EC3-A007-FA63-297E-3FC902BB3D91}"/>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Update </a:t>
            </a:r>
            <a:r>
              <a:rPr lang="en-US" altLang="en-US" sz="3200" dirty="0" err="1">
                <a:latin typeface="+mj-lt"/>
                <a:ea typeface="+mj-ea"/>
                <a:cs typeface="+mj-cs"/>
              </a:rPr>
              <a:t>TcHmi</a:t>
            </a:r>
            <a:endParaRPr lang="en-US" alt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8DF26882-0547-1381-5127-166C3DC6B3AE}"/>
              </a:ext>
            </a:extLst>
          </p:cNvPr>
          <p:cNvSpPr txBox="1"/>
          <p:nvPr/>
        </p:nvSpPr>
        <p:spPr>
          <a:xfrm>
            <a:off x="336374" y="1608064"/>
            <a:ext cx="4330462" cy="1846659"/>
          </a:xfrm>
          <a:prstGeom prst="rect">
            <a:avLst/>
          </a:prstGeom>
          <a:solidFill>
            <a:schemeClr val="bg1"/>
          </a:solidFill>
        </p:spPr>
        <p:txBody>
          <a:bodyPr wrap="square" rtlCol="0">
            <a:spAutoFit/>
          </a:bodyPr>
          <a:lstStyle/>
          <a:p>
            <a:r>
              <a:rPr lang="en-US" sz="1600" dirty="0"/>
              <a:t>Finally, we can bring the updated NuGet package into the </a:t>
            </a:r>
            <a:r>
              <a:rPr lang="en-US" sz="1600" dirty="0" err="1"/>
              <a:t>TcHmi</a:t>
            </a:r>
            <a:r>
              <a:rPr lang="en-US" sz="1600" dirty="0"/>
              <a:t> UI project. Start by opening the </a:t>
            </a:r>
            <a:r>
              <a:rPr lang="en-US" sz="1600" dirty="0" err="1"/>
              <a:t>TcHmi</a:t>
            </a:r>
            <a:r>
              <a:rPr lang="en-US" sz="1600" dirty="0"/>
              <a:t> UI project in XAE. </a:t>
            </a:r>
          </a:p>
          <a:p>
            <a:r>
              <a:rPr lang="en-US" sz="1600" dirty="0"/>
              <a:t>In the Solution Explorer Window, navigate to References, right click it and then select “Manage NuGet Packages”</a:t>
            </a:r>
            <a:endParaRPr lang="en-CA" sz="1600" dirty="0"/>
          </a:p>
          <a:p>
            <a:endParaRPr lang="en-CA" dirty="0"/>
          </a:p>
        </p:txBody>
      </p:sp>
      <p:pic>
        <p:nvPicPr>
          <p:cNvPr id="4" name="Picture 3">
            <a:extLst>
              <a:ext uri="{FF2B5EF4-FFF2-40B4-BE49-F238E27FC236}">
                <a16:creationId xmlns:a16="http://schemas.microsoft.com/office/drawing/2014/main" id="{74E81FCC-0232-D4C1-F19A-878A1BC74AF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6000" y="2365230"/>
            <a:ext cx="4658375" cy="4182058"/>
          </a:xfrm>
          <a:prstGeom prst="rect">
            <a:avLst/>
          </a:prstGeom>
        </p:spPr>
      </p:pic>
    </p:spTree>
    <p:extLst>
      <p:ext uri="{BB962C8B-B14F-4D97-AF65-F5344CB8AC3E}">
        <p14:creationId xmlns:p14="http://schemas.microsoft.com/office/powerpoint/2010/main" val="15464075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CA362B-830F-7DD3-6060-8BC6A2C392AC}"/>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6BCCC53-7745-EDCB-0C1B-AFDDE9CB71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6E83EAC-0884-96E5-2E43-0D53EB4AF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6B48845B-B041-CA8E-F42E-1F5966252E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74B7C0C7-835E-3658-7093-62F73FFF8BDC}"/>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Update </a:t>
            </a:r>
            <a:r>
              <a:rPr lang="en-US" altLang="en-US" sz="3200" dirty="0" err="1">
                <a:latin typeface="+mj-lt"/>
                <a:ea typeface="+mj-ea"/>
                <a:cs typeface="+mj-cs"/>
              </a:rPr>
              <a:t>TcHmi</a:t>
            </a:r>
            <a:endParaRPr lang="en-US" alt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625AA08F-B7E3-CA0C-9DD1-9220CFA21B02}"/>
              </a:ext>
            </a:extLst>
          </p:cNvPr>
          <p:cNvSpPr txBox="1"/>
          <p:nvPr/>
        </p:nvSpPr>
        <p:spPr>
          <a:xfrm>
            <a:off x="336374" y="1608064"/>
            <a:ext cx="4330462" cy="1354217"/>
          </a:xfrm>
          <a:prstGeom prst="rect">
            <a:avLst/>
          </a:prstGeom>
          <a:solidFill>
            <a:schemeClr val="bg1"/>
          </a:solidFill>
        </p:spPr>
        <p:txBody>
          <a:bodyPr wrap="square" rtlCol="0">
            <a:spAutoFit/>
          </a:bodyPr>
          <a:lstStyle/>
          <a:p>
            <a:r>
              <a:rPr lang="en-US" sz="1600" dirty="0"/>
              <a:t>Once the NuGet Package Manager opens, be sure the Package Source is set to “</a:t>
            </a:r>
            <a:r>
              <a:rPr lang="en-US" sz="1600" dirty="0" err="1"/>
              <a:t>TwinCAT</a:t>
            </a:r>
            <a:r>
              <a:rPr lang="en-US" sz="1600" dirty="0"/>
              <a:t> HMI Customer”, this will point XAE to the location you previously added the new </a:t>
            </a:r>
            <a:r>
              <a:rPr lang="en-US" sz="1600" dirty="0" err="1"/>
              <a:t>nupkg</a:t>
            </a:r>
            <a:r>
              <a:rPr lang="en-US" sz="1600" dirty="0"/>
              <a:t> file to.</a:t>
            </a:r>
            <a:endParaRPr lang="en-CA" sz="1600" dirty="0"/>
          </a:p>
          <a:p>
            <a:endParaRPr lang="en-CA" dirty="0"/>
          </a:p>
        </p:txBody>
      </p:sp>
      <p:pic>
        <p:nvPicPr>
          <p:cNvPr id="4" name="Picture 3">
            <a:extLst>
              <a:ext uri="{FF2B5EF4-FFF2-40B4-BE49-F238E27FC236}">
                <a16:creationId xmlns:a16="http://schemas.microsoft.com/office/drawing/2014/main" id="{35E8F693-C9C3-29C8-9680-4BF19FC6700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6000" y="2713557"/>
            <a:ext cx="4658375" cy="3485403"/>
          </a:xfrm>
          <a:prstGeom prst="rect">
            <a:avLst/>
          </a:prstGeom>
        </p:spPr>
      </p:pic>
    </p:spTree>
    <p:extLst>
      <p:ext uri="{BB962C8B-B14F-4D97-AF65-F5344CB8AC3E}">
        <p14:creationId xmlns:p14="http://schemas.microsoft.com/office/powerpoint/2010/main" val="35443395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9761C9-CC49-78D8-FEAA-D051DD026895}"/>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E58FE77-86C9-51E1-AFC6-CD6776A8E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D6F9574-BAE5-1FAF-4C54-1457F6F82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7784EA5D-26D2-9C6E-8D47-C863D5EDB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FEFEA491-C095-39D6-D2AE-472E38820458}"/>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Update </a:t>
            </a:r>
            <a:r>
              <a:rPr lang="en-US" altLang="en-US" sz="3200" dirty="0" err="1">
                <a:latin typeface="+mj-lt"/>
                <a:ea typeface="+mj-ea"/>
                <a:cs typeface="+mj-cs"/>
              </a:rPr>
              <a:t>TcHmi</a:t>
            </a:r>
            <a:endParaRPr lang="en-US" alt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24950A03-BD6D-A85D-86D0-6F4820506858}"/>
              </a:ext>
            </a:extLst>
          </p:cNvPr>
          <p:cNvSpPr txBox="1"/>
          <p:nvPr/>
        </p:nvSpPr>
        <p:spPr>
          <a:xfrm>
            <a:off x="336374" y="1878731"/>
            <a:ext cx="4330462" cy="1354217"/>
          </a:xfrm>
          <a:prstGeom prst="rect">
            <a:avLst/>
          </a:prstGeom>
          <a:solidFill>
            <a:schemeClr val="bg1"/>
          </a:solidFill>
        </p:spPr>
        <p:txBody>
          <a:bodyPr wrap="square" rtlCol="0">
            <a:spAutoFit/>
          </a:bodyPr>
          <a:lstStyle/>
          <a:p>
            <a:r>
              <a:rPr lang="en-US" sz="1600" dirty="0"/>
              <a:t>Now click the Updates Tab, you should see your newly updated package in the window below.</a:t>
            </a:r>
          </a:p>
          <a:p>
            <a:r>
              <a:rPr lang="en-US" sz="1600" dirty="0"/>
              <a:t>Confirm the version is correct then hit update.</a:t>
            </a:r>
          </a:p>
          <a:p>
            <a:endParaRPr lang="en-CA" sz="1600" dirty="0"/>
          </a:p>
          <a:p>
            <a:endParaRPr lang="en-CA" dirty="0"/>
          </a:p>
        </p:txBody>
      </p:sp>
      <p:pic>
        <p:nvPicPr>
          <p:cNvPr id="4" name="Picture 3">
            <a:extLst>
              <a:ext uri="{FF2B5EF4-FFF2-40B4-BE49-F238E27FC236}">
                <a16:creationId xmlns:a16="http://schemas.microsoft.com/office/drawing/2014/main" id="{017CD58D-7202-90FB-49C0-3964636B537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492924" y="3296651"/>
            <a:ext cx="7355567" cy="2675367"/>
          </a:xfrm>
          <a:prstGeom prst="rect">
            <a:avLst/>
          </a:prstGeom>
        </p:spPr>
      </p:pic>
    </p:spTree>
    <p:extLst>
      <p:ext uri="{BB962C8B-B14F-4D97-AF65-F5344CB8AC3E}">
        <p14:creationId xmlns:p14="http://schemas.microsoft.com/office/powerpoint/2010/main" val="32855562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88737B-C70A-968D-C8F9-4D08FFE9DBD3}"/>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940EF44-12B6-1D71-BA0E-72B602640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3BE7E9D-D4B4-25B9-BE16-8EF45977B0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510FB833-B133-9D85-78AF-B8096535B7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C4F97530-B5AF-0F9E-6911-395D7ACEDCF8}"/>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Update </a:t>
            </a:r>
            <a:r>
              <a:rPr lang="en-US" altLang="en-US" sz="3200" dirty="0" err="1">
                <a:latin typeface="+mj-lt"/>
                <a:ea typeface="+mj-ea"/>
                <a:cs typeface="+mj-cs"/>
              </a:rPr>
              <a:t>TcHmi</a:t>
            </a:r>
            <a:endParaRPr lang="en-US" alt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7FC87ACE-5BB1-73EB-4C54-03B95E06FBE1}"/>
              </a:ext>
            </a:extLst>
          </p:cNvPr>
          <p:cNvSpPr txBox="1"/>
          <p:nvPr/>
        </p:nvSpPr>
        <p:spPr>
          <a:xfrm>
            <a:off x="336374" y="1481916"/>
            <a:ext cx="4330462" cy="1354217"/>
          </a:xfrm>
          <a:prstGeom prst="rect">
            <a:avLst/>
          </a:prstGeom>
          <a:solidFill>
            <a:schemeClr val="bg1"/>
          </a:solidFill>
        </p:spPr>
        <p:txBody>
          <a:bodyPr wrap="square" rtlCol="0">
            <a:spAutoFit/>
          </a:bodyPr>
          <a:lstStyle/>
          <a:p>
            <a:r>
              <a:rPr lang="en-US" sz="1600" dirty="0"/>
              <a:t>Review the Updates and click enter if all the information looks ok. </a:t>
            </a:r>
          </a:p>
          <a:p>
            <a:r>
              <a:rPr lang="en-US" sz="1600" dirty="0"/>
              <a:t>Then Accept the license agreement.</a:t>
            </a:r>
          </a:p>
          <a:p>
            <a:r>
              <a:rPr lang="en-CA" sz="1600" dirty="0"/>
              <a:t>The Update process will begin…..</a:t>
            </a:r>
          </a:p>
          <a:p>
            <a:endParaRPr lang="en-CA" dirty="0"/>
          </a:p>
        </p:txBody>
      </p:sp>
      <p:pic>
        <p:nvPicPr>
          <p:cNvPr id="3" name="Picture 2">
            <a:extLst>
              <a:ext uri="{FF2B5EF4-FFF2-40B4-BE49-F238E27FC236}">
                <a16:creationId xmlns:a16="http://schemas.microsoft.com/office/drawing/2014/main" id="{57EE6E17-EC64-36B3-180D-8A67583B57B4}"/>
              </a:ext>
            </a:extLst>
          </p:cNvPr>
          <p:cNvPicPr>
            <a:picLocks noChangeAspect="1"/>
          </p:cNvPicPr>
          <p:nvPr/>
        </p:nvPicPr>
        <p:blipFill>
          <a:blip r:embed="rId3"/>
          <a:stretch>
            <a:fillRect/>
          </a:stretch>
        </p:blipFill>
        <p:spPr>
          <a:xfrm>
            <a:off x="2330964" y="2870721"/>
            <a:ext cx="3388350" cy="3409181"/>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61AF9AB2-8C9A-DD2F-CE0F-5F7D6DBC8B53}"/>
              </a:ext>
            </a:extLst>
          </p:cNvPr>
          <p:cNvPicPr>
            <a:picLocks noChangeAspect="1"/>
          </p:cNvPicPr>
          <p:nvPr/>
        </p:nvPicPr>
        <p:blipFill>
          <a:blip r:embed="rId4"/>
          <a:stretch>
            <a:fillRect/>
          </a:stretch>
        </p:blipFill>
        <p:spPr>
          <a:xfrm>
            <a:off x="6288907" y="2870722"/>
            <a:ext cx="3303667" cy="340918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618279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CE784C-997F-2125-E765-A5D0DE4DA0D0}"/>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456F233-2C94-01CB-B2D4-807D9F95B0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4E29970B-EEE8-DEAD-D733-4A4B23E55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5ABB086C-0081-4E45-8C11-9C55B656DC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AD8392DA-C0FF-7C4C-95A1-228CA238B760}"/>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Update </a:t>
            </a:r>
            <a:r>
              <a:rPr lang="en-US" altLang="en-US" sz="3200" dirty="0" err="1">
                <a:latin typeface="+mj-lt"/>
                <a:ea typeface="+mj-ea"/>
                <a:cs typeface="+mj-cs"/>
              </a:rPr>
              <a:t>TcHmi</a:t>
            </a:r>
            <a:endParaRPr lang="en-US" alt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563FABAD-8E90-2162-6DCE-58DCB69E18A5}"/>
              </a:ext>
            </a:extLst>
          </p:cNvPr>
          <p:cNvSpPr txBox="1"/>
          <p:nvPr/>
        </p:nvSpPr>
        <p:spPr>
          <a:xfrm>
            <a:off x="336374" y="1481916"/>
            <a:ext cx="4330462" cy="1846659"/>
          </a:xfrm>
          <a:prstGeom prst="rect">
            <a:avLst/>
          </a:prstGeom>
          <a:solidFill>
            <a:schemeClr val="bg1"/>
          </a:solidFill>
        </p:spPr>
        <p:txBody>
          <a:bodyPr wrap="square" rtlCol="0">
            <a:spAutoFit/>
          </a:bodyPr>
          <a:lstStyle/>
          <a:p>
            <a:r>
              <a:rPr lang="en-US" sz="1600" dirty="0"/>
              <a:t>Once the update is complete, go ahead and close down the NuGet Package manager. Under “Server”, find the </a:t>
            </a:r>
            <a:r>
              <a:rPr lang="en-US" sz="1600" dirty="0" err="1"/>
              <a:t>GTAC_TcUI_PostgreSQL</a:t>
            </a:r>
            <a:r>
              <a:rPr lang="en-US" sz="1600" dirty="0"/>
              <a:t> SE and ensure it is green (it may be red for a bit while things settle). Also confirm the Version is as you’re expecting.</a:t>
            </a:r>
            <a:endParaRPr lang="en-CA" sz="1600" dirty="0"/>
          </a:p>
          <a:p>
            <a:endParaRPr lang="en-CA" dirty="0"/>
          </a:p>
        </p:txBody>
      </p:sp>
      <p:pic>
        <p:nvPicPr>
          <p:cNvPr id="6" name="Picture 5">
            <a:extLst>
              <a:ext uri="{FF2B5EF4-FFF2-40B4-BE49-F238E27FC236}">
                <a16:creationId xmlns:a16="http://schemas.microsoft.com/office/drawing/2014/main" id="{B7B38A0E-3E1C-BBF5-4053-2C2B6F410F0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03508" y="3145896"/>
            <a:ext cx="8984984" cy="284889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66237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0E0022-677D-B164-4B13-D997B07DD63F}"/>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C274EA2-A8F8-44A1-568D-712F354B6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D05CC14-9617-118E-EA13-6DB378C86B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291" y="3296652"/>
            <a:ext cx="12202113" cy="3561346"/>
          </a:xfrm>
          <a:custGeom>
            <a:avLst/>
            <a:gdLst>
              <a:gd name="connsiteX0" fmla="*/ 0 w 12202113"/>
              <a:gd name="connsiteY0" fmla="*/ 3188466 h 3188466"/>
              <a:gd name="connsiteX1" fmla="*/ 10116 w 12202113"/>
              <a:gd name="connsiteY1" fmla="*/ 2657641 h 3188466"/>
              <a:gd name="connsiteX2" fmla="*/ 10116 w 12202113"/>
              <a:gd name="connsiteY2" fmla="*/ 0 h 3188466"/>
              <a:gd name="connsiteX3" fmla="*/ 12202113 w 12202113"/>
              <a:gd name="connsiteY3" fmla="*/ 0 h 3188466"/>
              <a:gd name="connsiteX4" fmla="*/ 12202113 w 12202113"/>
              <a:gd name="connsiteY4" fmla="*/ 2879832 h 3188466"/>
              <a:gd name="connsiteX5" fmla="*/ 12198167 w 12202113"/>
              <a:gd name="connsiteY5" fmla="*/ 2880360 h 3188466"/>
              <a:gd name="connsiteX6" fmla="*/ 12122128 w 12202113"/>
              <a:gd name="connsiteY6" fmla="*/ 2887194 h 3188466"/>
              <a:gd name="connsiteX7" fmla="*/ 12028868 w 12202113"/>
              <a:gd name="connsiteY7" fmla="*/ 2911786 h 3188466"/>
              <a:gd name="connsiteX8" fmla="*/ 11995238 w 12202113"/>
              <a:gd name="connsiteY8" fmla="*/ 2914090 h 3188466"/>
              <a:gd name="connsiteX9" fmla="*/ 11996460 w 12202113"/>
              <a:gd name="connsiteY9" fmla="*/ 2918442 h 3188466"/>
              <a:gd name="connsiteX10" fmla="*/ 11983968 w 12202113"/>
              <a:gd name="connsiteY10" fmla="*/ 2918762 h 3188466"/>
              <a:gd name="connsiteX11" fmla="*/ 11956084 w 12202113"/>
              <a:gd name="connsiteY11" fmla="*/ 2918868 h 3188466"/>
              <a:gd name="connsiteX12" fmla="*/ 11872586 w 12202113"/>
              <a:gd name="connsiteY12" fmla="*/ 2920076 h 3188466"/>
              <a:gd name="connsiteX13" fmla="*/ 11849804 w 12202113"/>
              <a:gd name="connsiteY13" fmla="*/ 2928420 h 3188466"/>
              <a:gd name="connsiteX14" fmla="*/ 11828254 w 12202113"/>
              <a:gd name="connsiteY14" fmla="*/ 2928551 h 3188466"/>
              <a:gd name="connsiteX15" fmla="*/ 11703277 w 12202113"/>
              <a:gd name="connsiteY15" fmla="*/ 2939735 h 3188466"/>
              <a:gd name="connsiteX16" fmla="*/ 11686094 w 12202113"/>
              <a:gd name="connsiteY16" fmla="*/ 2940570 h 3188466"/>
              <a:gd name="connsiteX17" fmla="*/ 11676788 w 12202113"/>
              <a:gd name="connsiteY17" fmla="*/ 2944321 h 3188466"/>
              <a:gd name="connsiteX18" fmla="*/ 11643464 w 12202113"/>
              <a:gd name="connsiteY18" fmla="*/ 2945066 h 3188466"/>
              <a:gd name="connsiteX19" fmla="*/ 11641922 w 12202113"/>
              <a:gd name="connsiteY19" fmla="*/ 2947200 h 3188466"/>
              <a:gd name="connsiteX20" fmla="*/ 11532386 w 12202113"/>
              <a:gd name="connsiteY20" fmla="*/ 2965529 h 3188466"/>
              <a:gd name="connsiteX21" fmla="*/ 11513619 w 12202113"/>
              <a:gd name="connsiteY21" fmla="*/ 2968556 h 3188466"/>
              <a:gd name="connsiteX22" fmla="*/ 11497404 w 12202113"/>
              <a:gd name="connsiteY22" fmla="*/ 2967639 h 3188466"/>
              <a:gd name="connsiteX23" fmla="*/ 11407630 w 12202113"/>
              <a:gd name="connsiteY23" fmla="*/ 2970255 h 3188466"/>
              <a:gd name="connsiteX24" fmla="*/ 11386276 w 12202113"/>
              <a:gd name="connsiteY24" fmla="*/ 2968648 h 3188466"/>
              <a:gd name="connsiteX25" fmla="*/ 11377296 w 12202113"/>
              <a:gd name="connsiteY25" fmla="*/ 2965257 h 3188466"/>
              <a:gd name="connsiteX26" fmla="*/ 11342536 w 12202113"/>
              <a:gd name="connsiteY26" fmla="*/ 2971666 h 3188466"/>
              <a:gd name="connsiteX27" fmla="*/ 11288902 w 12202113"/>
              <a:gd name="connsiteY27" fmla="*/ 2976058 h 3188466"/>
              <a:gd name="connsiteX28" fmla="*/ 11263411 w 12202113"/>
              <a:gd name="connsiteY28" fmla="*/ 2979228 h 3188466"/>
              <a:gd name="connsiteX29" fmla="*/ 11242843 w 12202113"/>
              <a:gd name="connsiteY29" fmla="*/ 2977303 h 3188466"/>
              <a:gd name="connsiteX30" fmla="*/ 11125798 w 12202113"/>
              <a:gd name="connsiteY30" fmla="*/ 2976816 h 3188466"/>
              <a:gd name="connsiteX31" fmla="*/ 11098884 w 12202113"/>
              <a:gd name="connsiteY31" fmla="*/ 2973758 h 3188466"/>
              <a:gd name="connsiteX32" fmla="*/ 11086128 w 12202113"/>
              <a:gd name="connsiteY32" fmla="*/ 2967663 h 3188466"/>
              <a:gd name="connsiteX33" fmla="*/ 11076132 w 12202113"/>
              <a:gd name="connsiteY33" fmla="*/ 2969836 h 3188466"/>
              <a:gd name="connsiteX34" fmla="*/ 11005337 w 12202113"/>
              <a:gd name="connsiteY34" fmla="*/ 2970053 h 3188466"/>
              <a:gd name="connsiteX35" fmla="*/ 10959154 w 12202113"/>
              <a:gd name="connsiteY35" fmla="*/ 2970750 h 3188466"/>
              <a:gd name="connsiteX36" fmla="*/ 10956347 w 12202113"/>
              <a:gd name="connsiteY36" fmla="*/ 2979118 h 3188466"/>
              <a:gd name="connsiteX37" fmla="*/ 10915223 w 12202113"/>
              <a:gd name="connsiteY37" fmla="*/ 2982099 h 3188466"/>
              <a:gd name="connsiteX38" fmla="*/ 10871398 w 12202113"/>
              <a:gd name="connsiteY38" fmla="*/ 2976728 h 3188466"/>
              <a:gd name="connsiteX39" fmla="*/ 10819743 w 12202113"/>
              <a:gd name="connsiteY39" fmla="*/ 2977481 h 3188466"/>
              <a:gd name="connsiteX40" fmla="*/ 10788834 w 12202113"/>
              <a:gd name="connsiteY40" fmla="*/ 2977840 h 3188466"/>
              <a:gd name="connsiteX41" fmla="*/ 10707711 w 12202113"/>
              <a:gd name="connsiteY41" fmla="*/ 2985644 h 3188466"/>
              <a:gd name="connsiteX42" fmla="*/ 10576086 w 12202113"/>
              <a:gd name="connsiteY42" fmla="*/ 3015319 h 3188466"/>
              <a:gd name="connsiteX43" fmla="*/ 10534761 w 12202113"/>
              <a:gd name="connsiteY43" fmla="*/ 3019524 h 3188466"/>
              <a:gd name="connsiteX44" fmla="*/ 10527537 w 12202113"/>
              <a:gd name="connsiteY44" fmla="*/ 3017814 h 3188466"/>
              <a:gd name="connsiteX45" fmla="*/ 10321799 w 12202113"/>
              <a:gd name="connsiteY45" fmla="*/ 3035635 h 3188466"/>
              <a:gd name="connsiteX46" fmla="*/ 10284989 w 12202113"/>
              <a:gd name="connsiteY46" fmla="*/ 3036679 h 3188466"/>
              <a:gd name="connsiteX47" fmla="*/ 10257423 w 12202113"/>
              <a:gd name="connsiteY47" fmla="*/ 3036027 h 3188466"/>
              <a:gd name="connsiteX48" fmla="*/ 10191450 w 12202113"/>
              <a:gd name="connsiteY48" fmla="*/ 3041963 h 3188466"/>
              <a:gd name="connsiteX49" fmla="*/ 10083845 w 12202113"/>
              <a:gd name="connsiteY49" fmla="*/ 3054978 h 3188466"/>
              <a:gd name="connsiteX50" fmla="*/ 10060611 w 12202113"/>
              <a:gd name="connsiteY50" fmla="*/ 3057035 h 3188466"/>
              <a:gd name="connsiteX51" fmla="*/ 10039363 w 12202113"/>
              <a:gd name="connsiteY51" fmla="*/ 3055961 h 3188466"/>
              <a:gd name="connsiteX52" fmla="*/ 10033322 w 12202113"/>
              <a:gd name="connsiteY52" fmla="*/ 3053238 h 3188466"/>
              <a:gd name="connsiteX53" fmla="*/ 10020337 w 12202113"/>
              <a:gd name="connsiteY53" fmla="*/ 3053912 h 3188466"/>
              <a:gd name="connsiteX54" fmla="*/ 10016616 w 12202113"/>
              <a:gd name="connsiteY54" fmla="*/ 3053498 h 3188466"/>
              <a:gd name="connsiteX55" fmla="*/ 9995549 w 12202113"/>
              <a:gd name="connsiteY55" fmla="*/ 3051719 h 3188466"/>
              <a:gd name="connsiteX56" fmla="*/ 9957212 w 12202113"/>
              <a:gd name="connsiteY56" fmla="*/ 3062663 h 3188466"/>
              <a:gd name="connsiteX57" fmla="*/ 9904584 w 12202113"/>
              <a:gd name="connsiteY57" fmla="*/ 3063999 h 3188466"/>
              <a:gd name="connsiteX58" fmla="*/ 9713857 w 12202113"/>
              <a:gd name="connsiteY58" fmla="*/ 3087955 h 3188466"/>
              <a:gd name="connsiteX59" fmla="*/ 9678879 w 12202113"/>
              <a:gd name="connsiteY59" fmla="*/ 3079676 h 3188466"/>
              <a:gd name="connsiteX60" fmla="*/ 9598760 w 12202113"/>
              <a:gd name="connsiteY60" fmla="*/ 3085228 h 3188466"/>
              <a:gd name="connsiteX61" fmla="*/ 9488796 w 12202113"/>
              <a:gd name="connsiteY61" fmla="*/ 3115384 h 3188466"/>
              <a:gd name="connsiteX62" fmla="*/ 9341972 w 12202113"/>
              <a:gd name="connsiteY62" fmla="*/ 3126583 h 3188466"/>
              <a:gd name="connsiteX63" fmla="*/ 9333795 w 12202113"/>
              <a:gd name="connsiteY63" fmla="*/ 3132083 h 3188466"/>
              <a:gd name="connsiteX64" fmla="*/ 9321736 w 12202113"/>
              <a:gd name="connsiteY64" fmla="*/ 3135834 h 3188466"/>
              <a:gd name="connsiteX65" fmla="*/ 9319405 w 12202113"/>
              <a:gd name="connsiteY65" fmla="*/ 3135561 h 3188466"/>
              <a:gd name="connsiteX66" fmla="*/ 9302847 w 12202113"/>
              <a:gd name="connsiteY66" fmla="*/ 3137746 h 3188466"/>
              <a:gd name="connsiteX67" fmla="*/ 9300930 w 12202113"/>
              <a:gd name="connsiteY67" fmla="*/ 3139687 h 3188466"/>
              <a:gd name="connsiteX68" fmla="*/ 9290106 w 12202113"/>
              <a:gd name="connsiteY68" fmla="*/ 3141645 h 3188466"/>
              <a:gd name="connsiteX69" fmla="*/ 9270220 w 12202113"/>
              <a:gd name="connsiteY69" fmla="*/ 3146737 h 3188466"/>
              <a:gd name="connsiteX70" fmla="*/ 9265150 w 12202113"/>
              <a:gd name="connsiteY70" fmla="*/ 3146531 h 3188466"/>
              <a:gd name="connsiteX71" fmla="*/ 9233057 w 12202113"/>
              <a:gd name="connsiteY71" fmla="*/ 3152408 h 3188466"/>
              <a:gd name="connsiteX72" fmla="*/ 9231974 w 12202113"/>
              <a:gd name="connsiteY72" fmla="*/ 3151938 h 3188466"/>
              <a:gd name="connsiteX73" fmla="*/ 9220130 w 12202113"/>
              <a:gd name="connsiteY73" fmla="*/ 3151189 h 3188466"/>
              <a:gd name="connsiteX74" fmla="*/ 9198955 w 12202113"/>
              <a:gd name="connsiteY74" fmla="*/ 3151015 h 3188466"/>
              <a:gd name="connsiteX75" fmla="*/ 9142196 w 12202113"/>
              <a:gd name="connsiteY75" fmla="*/ 3143802 h 3188466"/>
              <a:gd name="connsiteX76" fmla="*/ 9108665 w 12202113"/>
              <a:gd name="connsiteY76" fmla="*/ 3149868 h 3188466"/>
              <a:gd name="connsiteX77" fmla="*/ 9014086 w 12202113"/>
              <a:gd name="connsiteY77" fmla="*/ 3150791 h 3188466"/>
              <a:gd name="connsiteX78" fmla="*/ 8915037 w 12202113"/>
              <a:gd name="connsiteY78" fmla="*/ 3140020 h 3188466"/>
              <a:gd name="connsiteX79" fmla="*/ 8815667 w 12202113"/>
              <a:gd name="connsiteY79" fmla="*/ 3138606 h 3188466"/>
              <a:gd name="connsiteX80" fmla="*/ 8779688 w 12202113"/>
              <a:gd name="connsiteY80" fmla="*/ 3138895 h 3188466"/>
              <a:gd name="connsiteX81" fmla="*/ 8715556 w 12202113"/>
              <a:gd name="connsiteY81" fmla="*/ 3135878 h 3188466"/>
              <a:gd name="connsiteX82" fmla="*/ 8686183 w 12202113"/>
              <a:gd name="connsiteY82" fmla="*/ 3132307 h 3188466"/>
              <a:gd name="connsiteX83" fmla="*/ 8684895 w 12202113"/>
              <a:gd name="connsiteY83" fmla="*/ 3132527 h 3188466"/>
              <a:gd name="connsiteX84" fmla="*/ 8682270 w 12202113"/>
              <a:gd name="connsiteY84" fmla="*/ 3130989 h 3188466"/>
              <a:gd name="connsiteX85" fmla="*/ 8676836 w 12202113"/>
              <a:gd name="connsiteY85" fmla="*/ 3130278 h 3188466"/>
              <a:gd name="connsiteX86" fmla="*/ 8662002 w 12202113"/>
              <a:gd name="connsiteY86" fmla="*/ 3130735 h 3188466"/>
              <a:gd name="connsiteX87" fmla="*/ 8656423 w 12202113"/>
              <a:gd name="connsiteY87" fmla="*/ 3131304 h 3188466"/>
              <a:gd name="connsiteX88" fmla="*/ 8648261 w 12202113"/>
              <a:gd name="connsiteY88" fmla="*/ 3131294 h 3188466"/>
              <a:gd name="connsiteX89" fmla="*/ 8648057 w 12202113"/>
              <a:gd name="connsiteY89" fmla="*/ 3131167 h 3188466"/>
              <a:gd name="connsiteX90" fmla="*/ 8640412 w 12202113"/>
              <a:gd name="connsiteY90" fmla="*/ 3131403 h 3188466"/>
              <a:gd name="connsiteX91" fmla="*/ 8603003 w 12202113"/>
              <a:gd name="connsiteY91" fmla="*/ 3134155 h 3188466"/>
              <a:gd name="connsiteX92" fmla="*/ 8553571 w 12202113"/>
              <a:gd name="connsiteY92" fmla="*/ 3122125 h 3188466"/>
              <a:gd name="connsiteX93" fmla="*/ 8533128 w 12202113"/>
              <a:gd name="connsiteY93" fmla="*/ 3120039 h 3188466"/>
              <a:gd name="connsiteX94" fmla="*/ 8522209 w 12202113"/>
              <a:gd name="connsiteY94" fmla="*/ 3118252 h 3188466"/>
              <a:gd name="connsiteX95" fmla="*/ 8521532 w 12202113"/>
              <a:gd name="connsiteY95" fmla="*/ 3117705 h 3188466"/>
              <a:gd name="connsiteX96" fmla="*/ 8485667 w 12202113"/>
              <a:gd name="connsiteY96" fmla="*/ 3120406 h 3188466"/>
              <a:gd name="connsiteX97" fmla="*/ 8480905 w 12202113"/>
              <a:gd name="connsiteY97" fmla="*/ 3119749 h 3188466"/>
              <a:gd name="connsiteX98" fmla="*/ 8457530 w 12202113"/>
              <a:gd name="connsiteY98" fmla="*/ 3122810 h 3188466"/>
              <a:gd name="connsiteX99" fmla="*/ 8445451 w 12202113"/>
              <a:gd name="connsiteY99" fmla="*/ 3123697 h 3188466"/>
              <a:gd name="connsiteX100" fmla="*/ 8442039 w 12202113"/>
              <a:gd name="connsiteY100" fmla="*/ 3125378 h 3188466"/>
              <a:gd name="connsiteX101" fmla="*/ 8424215 w 12202113"/>
              <a:gd name="connsiteY101" fmla="*/ 3125963 h 3188466"/>
              <a:gd name="connsiteX102" fmla="*/ 8422165 w 12202113"/>
              <a:gd name="connsiteY102" fmla="*/ 3125491 h 3188466"/>
              <a:gd name="connsiteX103" fmla="*/ 8407465 w 12202113"/>
              <a:gd name="connsiteY103" fmla="*/ 3127979 h 3188466"/>
              <a:gd name="connsiteX104" fmla="*/ 8395146 w 12202113"/>
              <a:gd name="connsiteY104" fmla="*/ 3132488 h 3188466"/>
              <a:gd name="connsiteX105" fmla="*/ 8243538 w 12202113"/>
              <a:gd name="connsiteY105" fmla="*/ 3129873 h 3188466"/>
              <a:gd name="connsiteX106" fmla="*/ 8112685 w 12202113"/>
              <a:gd name="connsiteY106" fmla="*/ 3148698 h 3188466"/>
              <a:gd name="connsiteX107" fmla="*/ 8026741 w 12202113"/>
              <a:gd name="connsiteY107" fmla="*/ 3154015 h 3188466"/>
              <a:gd name="connsiteX108" fmla="*/ 8030400 w 12202113"/>
              <a:gd name="connsiteY108" fmla="*/ 3146736 h 3188466"/>
              <a:gd name="connsiteX109" fmla="*/ 8002987 w 12202113"/>
              <a:gd name="connsiteY109" fmla="*/ 3135663 h 3188466"/>
              <a:gd name="connsiteX110" fmla="*/ 7798568 w 12202113"/>
              <a:gd name="connsiteY110" fmla="*/ 3141249 h 3188466"/>
              <a:gd name="connsiteX111" fmla="*/ 7746353 w 12202113"/>
              <a:gd name="connsiteY111" fmla="*/ 3137755 h 3188466"/>
              <a:gd name="connsiteX112" fmla="*/ 7700395 w 12202113"/>
              <a:gd name="connsiteY112" fmla="*/ 3144729 h 3188466"/>
              <a:gd name="connsiteX113" fmla="*/ 7681335 w 12202113"/>
              <a:gd name="connsiteY113" fmla="*/ 3141120 h 3188466"/>
              <a:gd name="connsiteX114" fmla="*/ 7678044 w 12202113"/>
              <a:gd name="connsiteY114" fmla="*/ 3140387 h 3188466"/>
              <a:gd name="connsiteX115" fmla="*/ 7664890 w 12202113"/>
              <a:gd name="connsiteY115" fmla="*/ 3139855 h 3188466"/>
              <a:gd name="connsiteX116" fmla="*/ 7661183 w 12202113"/>
              <a:gd name="connsiteY116" fmla="*/ 3136706 h 3188466"/>
              <a:gd name="connsiteX117" fmla="*/ 7641383 w 12202113"/>
              <a:gd name="connsiteY117" fmla="*/ 3133755 h 3188466"/>
              <a:gd name="connsiteX118" fmla="*/ 7617169 w 12202113"/>
              <a:gd name="connsiteY118" fmla="*/ 3133614 h 3188466"/>
              <a:gd name="connsiteX119" fmla="*/ 7531143 w 12202113"/>
              <a:gd name="connsiteY119" fmla="*/ 3132781 h 3188466"/>
              <a:gd name="connsiteX120" fmla="*/ 7517113 w 12202113"/>
              <a:gd name="connsiteY120" fmla="*/ 3134483 h 3188466"/>
              <a:gd name="connsiteX121" fmla="*/ 7471320 w 12202113"/>
              <a:gd name="connsiteY121" fmla="*/ 3131645 h 3188466"/>
              <a:gd name="connsiteX122" fmla="*/ 7430512 w 12202113"/>
              <a:gd name="connsiteY122" fmla="*/ 3131007 h 3188466"/>
              <a:gd name="connsiteX123" fmla="*/ 7404071 w 12202113"/>
              <a:gd name="connsiteY123" fmla="*/ 3132361 h 3188466"/>
              <a:gd name="connsiteX124" fmla="*/ 7397140 w 12202113"/>
              <a:gd name="connsiteY124" fmla="*/ 3131239 h 3188466"/>
              <a:gd name="connsiteX125" fmla="*/ 7370514 w 12202113"/>
              <a:gd name="connsiteY125" fmla="*/ 3130516 h 3188466"/>
              <a:gd name="connsiteX126" fmla="*/ 7356953 w 12202113"/>
              <a:gd name="connsiteY126" fmla="*/ 3132179 h 3188466"/>
              <a:gd name="connsiteX127" fmla="*/ 7343567 w 12202113"/>
              <a:gd name="connsiteY127" fmla="*/ 3128350 h 3188466"/>
              <a:gd name="connsiteX128" fmla="*/ 7340295 w 12202113"/>
              <a:gd name="connsiteY128" fmla="*/ 3125545 h 3188466"/>
              <a:gd name="connsiteX129" fmla="*/ 7321348 w 12202113"/>
              <a:gd name="connsiteY129" fmla="*/ 3126804 h 3188466"/>
              <a:gd name="connsiteX130" fmla="*/ 7305815 w 12202113"/>
              <a:gd name="connsiteY130" fmla="*/ 3124063 h 3188466"/>
              <a:gd name="connsiteX131" fmla="*/ 7292274 w 12202113"/>
              <a:gd name="connsiteY131" fmla="*/ 3125855 h 3188466"/>
              <a:gd name="connsiteX132" fmla="*/ 7286654 w 12202113"/>
              <a:gd name="connsiteY132" fmla="*/ 3125451 h 3188466"/>
              <a:gd name="connsiteX133" fmla="*/ 7272685 w 12202113"/>
              <a:gd name="connsiteY133" fmla="*/ 3124094 h 3188466"/>
              <a:gd name="connsiteX134" fmla="*/ 7248584 w 12202113"/>
              <a:gd name="connsiteY134" fmla="*/ 3121080 h 3188466"/>
              <a:gd name="connsiteX135" fmla="*/ 7241065 w 12202113"/>
              <a:gd name="connsiteY135" fmla="*/ 3120661 h 3188466"/>
              <a:gd name="connsiteX136" fmla="*/ 7224696 w 12202113"/>
              <a:gd name="connsiteY136" fmla="*/ 3116051 h 3188466"/>
              <a:gd name="connsiteX137" fmla="*/ 7193009 w 12202113"/>
              <a:gd name="connsiteY137" fmla="*/ 3112108 h 3188466"/>
              <a:gd name="connsiteX138" fmla="*/ 7137220 w 12202113"/>
              <a:gd name="connsiteY138" fmla="*/ 3098354 h 3188466"/>
              <a:gd name="connsiteX139" fmla="*/ 7104427 w 12202113"/>
              <a:gd name="connsiteY139" fmla="*/ 3091790 h 3188466"/>
              <a:gd name="connsiteX140" fmla="*/ 7082240 w 12202113"/>
              <a:gd name="connsiteY140" fmla="*/ 3085740 h 3188466"/>
              <a:gd name="connsiteX141" fmla="*/ 7016754 w 12202113"/>
              <a:gd name="connsiteY141" fmla="*/ 3077196 h 3188466"/>
              <a:gd name="connsiteX142" fmla="*/ 6904436 w 12202113"/>
              <a:gd name="connsiteY142" fmla="*/ 3065900 h 3188466"/>
              <a:gd name="connsiteX143" fmla="*/ 6881434 w 12202113"/>
              <a:gd name="connsiteY143" fmla="*/ 3062865 h 3188466"/>
              <a:gd name="connsiteX144" fmla="*/ 6865273 w 12202113"/>
              <a:gd name="connsiteY144" fmla="*/ 3057749 h 3188466"/>
              <a:gd name="connsiteX145" fmla="*/ 6864671 w 12202113"/>
              <a:gd name="connsiteY145" fmla="*/ 3054378 h 3188466"/>
              <a:gd name="connsiteX146" fmla="*/ 6852599 w 12202113"/>
              <a:gd name="connsiteY146" fmla="*/ 3052306 h 3188466"/>
              <a:gd name="connsiteX147" fmla="*/ 6850143 w 12202113"/>
              <a:gd name="connsiteY147" fmla="*/ 3051232 h 3188466"/>
              <a:gd name="connsiteX148" fmla="*/ 6835301 w 12202113"/>
              <a:gd name="connsiteY148" fmla="*/ 3045593 h 3188466"/>
              <a:gd name="connsiteX149" fmla="*/ 6784871 w 12202113"/>
              <a:gd name="connsiteY149" fmla="*/ 3046562 h 3188466"/>
              <a:gd name="connsiteX150" fmla="*/ 6738245 w 12202113"/>
              <a:gd name="connsiteY150" fmla="*/ 3037055 h 3188466"/>
              <a:gd name="connsiteX151" fmla="*/ 6537703 w 12202113"/>
              <a:gd name="connsiteY151" fmla="*/ 3017736 h 3188466"/>
              <a:gd name="connsiteX152" fmla="*/ 6521858 w 12202113"/>
              <a:gd name="connsiteY152" fmla="*/ 3004158 h 3188466"/>
              <a:gd name="connsiteX153" fmla="*/ 6445069 w 12202113"/>
              <a:gd name="connsiteY153" fmla="*/ 2992470 h 3188466"/>
              <a:gd name="connsiteX154" fmla="*/ 6302447 w 12202113"/>
              <a:gd name="connsiteY154" fmla="*/ 2994274 h 3188466"/>
              <a:gd name="connsiteX155" fmla="*/ 6160029 w 12202113"/>
              <a:gd name="connsiteY155" fmla="*/ 2973666 h 3188466"/>
              <a:gd name="connsiteX156" fmla="*/ 6144046 w 12202113"/>
              <a:gd name="connsiteY156" fmla="*/ 2976380 h 3188466"/>
              <a:gd name="connsiteX157" fmla="*/ 6127670 w 12202113"/>
              <a:gd name="connsiteY157" fmla="*/ 2976929 h 3188466"/>
              <a:gd name="connsiteX158" fmla="*/ 6126155 w 12202113"/>
              <a:gd name="connsiteY158" fmla="*/ 2976245 h 3188466"/>
              <a:gd name="connsiteX159" fmla="*/ 6108575 w 12202113"/>
              <a:gd name="connsiteY159" fmla="*/ 2974651 h 3188466"/>
              <a:gd name="connsiteX160" fmla="*/ 6103746 w 12202113"/>
              <a:gd name="connsiteY160" fmla="*/ 2975803 h 3188466"/>
              <a:gd name="connsiteX161" fmla="*/ 6091377 w 12202113"/>
              <a:gd name="connsiteY161" fmla="*/ 2975180 h 3188466"/>
              <a:gd name="connsiteX162" fmla="*/ 6066183 w 12202113"/>
              <a:gd name="connsiteY162" fmla="*/ 2975222 h 3188466"/>
              <a:gd name="connsiteX163" fmla="*/ 6063287 w 12202113"/>
              <a:gd name="connsiteY163" fmla="*/ 2974353 h 3188466"/>
              <a:gd name="connsiteX164" fmla="*/ 6054813 w 12202113"/>
              <a:gd name="connsiteY164" fmla="*/ 2974911 h 3188466"/>
              <a:gd name="connsiteX165" fmla="*/ 6050809 w 12202113"/>
              <a:gd name="connsiteY165" fmla="*/ 2973985 h 3188466"/>
              <a:gd name="connsiteX166" fmla="*/ 6013979 w 12202113"/>
              <a:gd name="connsiteY166" fmla="*/ 2974553 h 3188466"/>
              <a:gd name="connsiteX167" fmla="*/ 6013800 w 12202113"/>
              <a:gd name="connsiteY167" fmla="*/ 2973973 h 3188466"/>
              <a:gd name="connsiteX168" fmla="*/ 6004866 w 12202113"/>
              <a:gd name="connsiteY168" fmla="*/ 2971570 h 3188466"/>
              <a:gd name="connsiteX169" fmla="*/ 5987036 w 12202113"/>
              <a:gd name="connsiteY169" fmla="*/ 2968315 h 3188466"/>
              <a:gd name="connsiteX170" fmla="*/ 5950027 w 12202113"/>
              <a:gd name="connsiteY170" fmla="*/ 2953546 h 3188466"/>
              <a:gd name="connsiteX171" fmla="*/ 5911668 w 12202113"/>
              <a:gd name="connsiteY171" fmla="*/ 2954074 h 3188466"/>
              <a:gd name="connsiteX172" fmla="*/ 5904110 w 12202113"/>
              <a:gd name="connsiteY172" fmla="*/ 2953861 h 3188466"/>
              <a:gd name="connsiteX173" fmla="*/ 5904026 w 12202113"/>
              <a:gd name="connsiteY173" fmla="*/ 2953724 h 3188466"/>
              <a:gd name="connsiteX174" fmla="*/ 5896189 w 12202113"/>
              <a:gd name="connsiteY174" fmla="*/ 2953236 h 3188466"/>
              <a:gd name="connsiteX175" fmla="*/ 5890331 w 12202113"/>
              <a:gd name="connsiteY175" fmla="*/ 2953471 h 3188466"/>
              <a:gd name="connsiteX176" fmla="*/ 5875672 w 12202113"/>
              <a:gd name="connsiteY176" fmla="*/ 2953056 h 3188466"/>
              <a:gd name="connsiteX177" fmla="*/ 5871070 w 12202113"/>
              <a:gd name="connsiteY177" fmla="*/ 2952035 h 3188466"/>
              <a:gd name="connsiteX178" fmla="*/ 5869888 w 12202113"/>
              <a:gd name="connsiteY178" fmla="*/ 2950364 h 3188466"/>
              <a:gd name="connsiteX179" fmla="*/ 5868461 w 12202113"/>
              <a:gd name="connsiteY179" fmla="*/ 2950506 h 3188466"/>
              <a:gd name="connsiteX180" fmla="*/ 5843343 w 12202113"/>
              <a:gd name="connsiteY180" fmla="*/ 2945262 h 3188466"/>
              <a:gd name="connsiteX181" fmla="*/ 5784331 w 12202113"/>
              <a:gd name="connsiteY181" fmla="*/ 2938531 h 3188466"/>
              <a:gd name="connsiteX182" fmla="*/ 5749498 w 12202113"/>
              <a:gd name="connsiteY182" fmla="*/ 2936713 h 3188466"/>
              <a:gd name="connsiteX183" fmla="*/ 5655214 w 12202113"/>
              <a:gd name="connsiteY183" fmla="*/ 2929503 h 3188466"/>
              <a:gd name="connsiteX184" fmla="*/ 5561446 w 12202113"/>
              <a:gd name="connsiteY184" fmla="*/ 2920575 h 3188466"/>
              <a:gd name="connsiteX185" fmla="*/ 5519456 w 12202113"/>
              <a:gd name="connsiteY185" fmla="*/ 2906631 h 3188466"/>
              <a:gd name="connsiteX186" fmla="*/ 5514099 w 12202113"/>
              <a:gd name="connsiteY186" fmla="*/ 2906097 h 3188466"/>
              <a:gd name="connsiteX187" fmla="*/ 5499273 w 12202113"/>
              <a:gd name="connsiteY187" fmla="*/ 2907057 h 3188466"/>
              <a:gd name="connsiteX188" fmla="*/ 5493664 w 12202113"/>
              <a:gd name="connsiteY188" fmla="*/ 2907817 h 3188466"/>
              <a:gd name="connsiteX189" fmla="*/ 5485530 w 12202113"/>
              <a:gd name="connsiteY189" fmla="*/ 2908080 h 3188466"/>
              <a:gd name="connsiteX190" fmla="*/ 5485337 w 12202113"/>
              <a:gd name="connsiteY190" fmla="*/ 2907959 h 3188466"/>
              <a:gd name="connsiteX191" fmla="*/ 5477696 w 12202113"/>
              <a:gd name="connsiteY191" fmla="*/ 2908455 h 3188466"/>
              <a:gd name="connsiteX192" fmla="*/ 5440170 w 12202113"/>
              <a:gd name="connsiteY192" fmla="*/ 2912482 h 3188466"/>
              <a:gd name="connsiteX193" fmla="*/ 5391911 w 12202113"/>
              <a:gd name="connsiteY193" fmla="*/ 2902040 h 3188466"/>
              <a:gd name="connsiteX194" fmla="*/ 5371708 w 12202113"/>
              <a:gd name="connsiteY194" fmla="*/ 2900629 h 3188466"/>
              <a:gd name="connsiteX195" fmla="*/ 5360976 w 12202113"/>
              <a:gd name="connsiteY195" fmla="*/ 2899197 h 3188466"/>
              <a:gd name="connsiteX196" fmla="*/ 5360345 w 12202113"/>
              <a:gd name="connsiteY196" fmla="*/ 2898671 h 3188466"/>
              <a:gd name="connsiteX197" fmla="*/ 5324367 w 12202113"/>
              <a:gd name="connsiteY197" fmla="*/ 2902593 h 3188466"/>
              <a:gd name="connsiteX198" fmla="*/ 5319673 w 12202113"/>
              <a:gd name="connsiteY198" fmla="*/ 2902094 h 3188466"/>
              <a:gd name="connsiteX199" fmla="*/ 5296114 w 12202113"/>
              <a:gd name="connsiteY199" fmla="*/ 2905958 h 3188466"/>
              <a:gd name="connsiteX200" fmla="*/ 5283999 w 12202113"/>
              <a:gd name="connsiteY200" fmla="*/ 2907258 h 3188466"/>
              <a:gd name="connsiteX201" fmla="*/ 5280460 w 12202113"/>
              <a:gd name="connsiteY201" fmla="*/ 2909063 h 3188466"/>
              <a:gd name="connsiteX202" fmla="*/ 5262637 w 12202113"/>
              <a:gd name="connsiteY202" fmla="*/ 2910250 h 3188466"/>
              <a:gd name="connsiteX203" fmla="*/ 5260635 w 12202113"/>
              <a:gd name="connsiteY203" fmla="*/ 2909845 h 3188466"/>
              <a:gd name="connsiteX204" fmla="*/ 5245770 w 12202113"/>
              <a:gd name="connsiteY204" fmla="*/ 2912842 h 3188466"/>
              <a:gd name="connsiteX205" fmla="*/ 5233108 w 12202113"/>
              <a:gd name="connsiteY205" fmla="*/ 2917794 h 3188466"/>
              <a:gd name="connsiteX206" fmla="*/ 5082201 w 12202113"/>
              <a:gd name="connsiteY206" fmla="*/ 2920260 h 3188466"/>
              <a:gd name="connsiteX207" fmla="*/ 4939211 w 12202113"/>
              <a:gd name="connsiteY207" fmla="*/ 2931760 h 3188466"/>
              <a:gd name="connsiteX208" fmla="*/ 4794309 w 12202113"/>
              <a:gd name="connsiteY208" fmla="*/ 2937227 h 3188466"/>
              <a:gd name="connsiteX209" fmla="*/ 4637676 w 12202113"/>
              <a:gd name="connsiteY209" fmla="*/ 2946666 h 3188466"/>
              <a:gd name="connsiteX210" fmla="*/ 4585922 w 12202113"/>
              <a:gd name="connsiteY210" fmla="*/ 2944906 h 3188466"/>
              <a:gd name="connsiteX211" fmla="*/ 4539516 w 12202113"/>
              <a:gd name="connsiteY211" fmla="*/ 2953466 h 3188466"/>
              <a:gd name="connsiteX212" fmla="*/ 4520819 w 12202113"/>
              <a:gd name="connsiteY212" fmla="*/ 2950477 h 3188466"/>
              <a:gd name="connsiteX213" fmla="*/ 4517604 w 12202113"/>
              <a:gd name="connsiteY213" fmla="*/ 2949852 h 3188466"/>
              <a:gd name="connsiteX214" fmla="*/ 4504537 w 12202113"/>
              <a:gd name="connsiteY214" fmla="*/ 2949759 h 3188466"/>
              <a:gd name="connsiteX215" fmla="*/ 4501104 w 12202113"/>
              <a:gd name="connsiteY215" fmla="*/ 2946715 h 3188466"/>
              <a:gd name="connsiteX216" fmla="*/ 4342695 w 12202113"/>
              <a:gd name="connsiteY216" fmla="*/ 2951638 h 3188466"/>
              <a:gd name="connsiteX217" fmla="*/ 4274096 w 12202113"/>
              <a:gd name="connsiteY217" fmla="*/ 2953640 h 3188466"/>
              <a:gd name="connsiteX218" fmla="*/ 4248170 w 12202113"/>
              <a:gd name="connsiteY218" fmla="*/ 2951384 h 3188466"/>
              <a:gd name="connsiteX219" fmla="*/ 4147924 w 12202113"/>
              <a:gd name="connsiteY219" fmla="*/ 2945945 h 3188466"/>
              <a:gd name="connsiteX220" fmla="*/ 4061825 w 12202113"/>
              <a:gd name="connsiteY220" fmla="*/ 2944206 h 3188466"/>
              <a:gd name="connsiteX221" fmla="*/ 3998557 w 12202113"/>
              <a:gd name="connsiteY221" fmla="*/ 2955821 h 3188466"/>
              <a:gd name="connsiteX222" fmla="*/ 3993107 w 12202113"/>
              <a:gd name="connsiteY222" fmla="*/ 2953708 h 3188466"/>
              <a:gd name="connsiteX223" fmla="*/ 3949713 w 12202113"/>
              <a:gd name="connsiteY223" fmla="*/ 2955441 h 3188466"/>
              <a:gd name="connsiteX224" fmla="*/ 3797284 w 12202113"/>
              <a:gd name="connsiteY224" fmla="*/ 2977037 h 3188466"/>
              <a:gd name="connsiteX225" fmla="*/ 3712498 w 12202113"/>
              <a:gd name="connsiteY225" fmla="*/ 2979996 h 3188466"/>
              <a:gd name="connsiteX226" fmla="*/ 3682471 w 12202113"/>
              <a:gd name="connsiteY226" fmla="*/ 2978543 h 3188466"/>
              <a:gd name="connsiteX227" fmla="*/ 3632163 w 12202113"/>
              <a:gd name="connsiteY227" fmla="*/ 2976264 h 3188466"/>
              <a:gd name="connsiteX228" fmla="*/ 3594728 w 12202113"/>
              <a:gd name="connsiteY228" fmla="*/ 2968398 h 3188466"/>
              <a:gd name="connsiteX229" fmla="*/ 3552594 w 12202113"/>
              <a:gd name="connsiteY229" fmla="*/ 2968934 h 3188466"/>
              <a:gd name="connsiteX230" fmla="*/ 3542589 w 12202113"/>
              <a:gd name="connsiteY230" fmla="*/ 2977031 h 3188466"/>
              <a:gd name="connsiteX231" fmla="*/ 3497591 w 12202113"/>
              <a:gd name="connsiteY231" fmla="*/ 2975018 h 3188466"/>
              <a:gd name="connsiteX232" fmla="*/ 3429352 w 12202113"/>
              <a:gd name="connsiteY232" fmla="*/ 2971090 h 3188466"/>
              <a:gd name="connsiteX233" fmla="*/ 3389938 w 12202113"/>
              <a:gd name="connsiteY233" fmla="*/ 2970884 h 3188466"/>
              <a:gd name="connsiteX234" fmla="*/ 3282344 w 12202113"/>
              <a:gd name="connsiteY234" fmla="*/ 2968084 h 3188466"/>
              <a:gd name="connsiteX235" fmla="*/ 3174624 w 12202113"/>
              <a:gd name="connsiteY235" fmla="*/ 2963576 h 3188466"/>
              <a:gd name="connsiteX236" fmla="*/ 3111077 w 12202113"/>
              <a:gd name="connsiteY236" fmla="*/ 2951285 h 3188466"/>
              <a:gd name="connsiteX237" fmla="*/ 3022501 w 12202113"/>
              <a:gd name="connsiteY237" fmla="*/ 2948619 h 3188466"/>
              <a:gd name="connsiteX238" fmla="*/ 3007714 w 12202113"/>
              <a:gd name="connsiteY238" fmla="*/ 2946762 h 3188466"/>
              <a:gd name="connsiteX239" fmla="*/ 2903098 w 12202113"/>
              <a:gd name="connsiteY239" fmla="*/ 2940576 h 3188466"/>
              <a:gd name="connsiteX240" fmla="*/ 2781591 w 12202113"/>
              <a:gd name="connsiteY240" fmla="*/ 2946394 h 3188466"/>
              <a:gd name="connsiteX241" fmla="*/ 2627942 w 12202113"/>
              <a:gd name="connsiteY241" fmla="*/ 2919996 h 3188466"/>
              <a:gd name="connsiteX242" fmla="*/ 2354959 w 12202113"/>
              <a:gd name="connsiteY242" fmla="*/ 2882080 h 3188466"/>
              <a:gd name="connsiteX243" fmla="*/ 2063184 w 12202113"/>
              <a:gd name="connsiteY243" fmla="*/ 2879109 h 3188466"/>
              <a:gd name="connsiteX244" fmla="*/ 1986946 w 12202113"/>
              <a:gd name="connsiteY244" fmla="*/ 2887619 h 3188466"/>
              <a:gd name="connsiteX245" fmla="*/ 1763479 w 12202113"/>
              <a:gd name="connsiteY245" fmla="*/ 2909077 h 3188466"/>
              <a:gd name="connsiteX246" fmla="*/ 1537980 w 12202113"/>
              <a:gd name="connsiteY246" fmla="*/ 2960398 h 3188466"/>
              <a:gd name="connsiteX247" fmla="*/ 1395229 w 12202113"/>
              <a:gd name="connsiteY247" fmla="*/ 2975625 h 3188466"/>
              <a:gd name="connsiteX248" fmla="*/ 1327834 w 12202113"/>
              <a:gd name="connsiteY248" fmla="*/ 2989485 h 3188466"/>
              <a:gd name="connsiteX249" fmla="*/ 1280757 w 12202113"/>
              <a:gd name="connsiteY249" fmla="*/ 2992959 h 3188466"/>
              <a:gd name="connsiteX250" fmla="*/ 1252582 w 12202113"/>
              <a:gd name="connsiteY250" fmla="*/ 2995877 h 3188466"/>
              <a:gd name="connsiteX251" fmla="*/ 1204670 w 12202113"/>
              <a:gd name="connsiteY251" fmla="*/ 3014826 h 3188466"/>
              <a:gd name="connsiteX252" fmla="*/ 1020457 w 12202113"/>
              <a:gd name="connsiteY252" fmla="*/ 3031603 h 3188466"/>
              <a:gd name="connsiteX253" fmla="*/ 843248 w 12202113"/>
              <a:gd name="connsiteY253" fmla="*/ 3026954 h 3188466"/>
              <a:gd name="connsiteX254" fmla="*/ 583517 w 12202113"/>
              <a:gd name="connsiteY254" fmla="*/ 3089095 h 3188466"/>
              <a:gd name="connsiteX255" fmla="*/ 556836 w 12202113"/>
              <a:gd name="connsiteY255" fmla="*/ 3094374 h 3188466"/>
              <a:gd name="connsiteX256" fmla="*/ 412089 w 12202113"/>
              <a:gd name="connsiteY256" fmla="*/ 3121334 h 3188466"/>
              <a:gd name="connsiteX257" fmla="*/ 83929 w 12202113"/>
              <a:gd name="connsiteY257" fmla="*/ 3150566 h 3188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12202113" h="3188466">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Logo&#10;&#10;Description automatically generated">
            <a:extLst>
              <a:ext uri="{FF2B5EF4-FFF2-40B4-BE49-F238E27FC236}">
                <a16:creationId xmlns:a16="http://schemas.microsoft.com/office/drawing/2014/main" id="{E68C638D-5D76-12E4-8497-AF756EDA66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374" y="208223"/>
            <a:ext cx="2933760" cy="1065470"/>
          </a:xfrm>
          <a:prstGeom prst="rect">
            <a:avLst/>
          </a:prstGeom>
        </p:spPr>
      </p:pic>
      <p:sp>
        <p:nvSpPr>
          <p:cNvPr id="24" name="Rectangle 1">
            <a:extLst>
              <a:ext uri="{FF2B5EF4-FFF2-40B4-BE49-F238E27FC236}">
                <a16:creationId xmlns:a16="http://schemas.microsoft.com/office/drawing/2014/main" id="{811E9389-F88C-E778-CF43-918739CD586A}"/>
              </a:ext>
            </a:extLst>
          </p:cNvPr>
          <p:cNvSpPr>
            <a:spLocks noChangeArrowheads="1"/>
          </p:cNvSpPr>
          <p:nvPr/>
        </p:nvSpPr>
        <p:spPr bwMode="auto">
          <a:xfrm>
            <a:off x="6676845" y="94138"/>
            <a:ext cx="5400137" cy="106547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3200" dirty="0">
                <a:latin typeface="+mj-lt"/>
                <a:ea typeface="+mj-ea"/>
                <a:cs typeface="+mj-cs"/>
              </a:rPr>
              <a:t>Update </a:t>
            </a:r>
            <a:r>
              <a:rPr lang="en-US" altLang="en-US" sz="3200" dirty="0" err="1">
                <a:latin typeface="+mj-lt"/>
                <a:ea typeface="+mj-ea"/>
                <a:cs typeface="+mj-cs"/>
              </a:rPr>
              <a:t>TcHmi</a:t>
            </a:r>
            <a:endParaRPr lang="en-US" altLang="en-US" sz="3200" kern="1200" dirty="0">
              <a:solidFill>
                <a:schemeClr val="tx1"/>
              </a:solidFill>
              <a:latin typeface="+mj-lt"/>
              <a:ea typeface="+mj-ea"/>
              <a:cs typeface="+mj-cs"/>
            </a:endParaRPr>
          </a:p>
        </p:txBody>
      </p:sp>
      <p:sp>
        <p:nvSpPr>
          <p:cNvPr id="5" name="TextBox 4">
            <a:extLst>
              <a:ext uri="{FF2B5EF4-FFF2-40B4-BE49-F238E27FC236}">
                <a16:creationId xmlns:a16="http://schemas.microsoft.com/office/drawing/2014/main" id="{56A17B81-70AF-4592-9F52-DB7519A0CA65}"/>
              </a:ext>
            </a:extLst>
          </p:cNvPr>
          <p:cNvSpPr txBox="1"/>
          <p:nvPr/>
        </p:nvSpPr>
        <p:spPr>
          <a:xfrm>
            <a:off x="336374" y="1481916"/>
            <a:ext cx="4330462" cy="2585323"/>
          </a:xfrm>
          <a:prstGeom prst="rect">
            <a:avLst/>
          </a:prstGeom>
          <a:solidFill>
            <a:schemeClr val="bg1"/>
          </a:solidFill>
        </p:spPr>
        <p:txBody>
          <a:bodyPr wrap="square" rtlCol="0">
            <a:spAutoFit/>
          </a:bodyPr>
          <a:lstStyle/>
          <a:p>
            <a:r>
              <a:rPr lang="en-US" sz="1600" dirty="0"/>
              <a:t>At this point you may Build and Publish your </a:t>
            </a:r>
            <a:r>
              <a:rPr lang="en-US" sz="1600" dirty="0" err="1"/>
              <a:t>TcHmi</a:t>
            </a:r>
            <a:r>
              <a:rPr lang="en-US" sz="1600" dirty="0"/>
              <a:t> UI project as normal and then test your changes. </a:t>
            </a:r>
          </a:p>
          <a:p>
            <a:endParaRPr lang="en-US" sz="1600" dirty="0"/>
          </a:p>
          <a:p>
            <a:r>
              <a:rPr lang="en-US" sz="1600" dirty="0"/>
              <a:t>It’s always a good idea to check the DB Screen to ensure your changes did not break existing functionality.</a:t>
            </a:r>
          </a:p>
          <a:p>
            <a:endParaRPr lang="en-US" sz="1600" dirty="0"/>
          </a:p>
          <a:p>
            <a:r>
              <a:rPr lang="en-US" sz="1600" dirty="0"/>
              <a:t>Have fun!</a:t>
            </a:r>
            <a:endParaRPr lang="en-CA" sz="1600" dirty="0"/>
          </a:p>
          <a:p>
            <a:endParaRPr lang="en-CA" dirty="0"/>
          </a:p>
        </p:txBody>
      </p:sp>
      <p:pic>
        <p:nvPicPr>
          <p:cNvPr id="6" name="Picture 5">
            <a:extLst>
              <a:ext uri="{FF2B5EF4-FFF2-40B4-BE49-F238E27FC236}">
                <a16:creationId xmlns:a16="http://schemas.microsoft.com/office/drawing/2014/main" id="{A6E6E629-1B11-F3F7-F6CF-830BDA30DC8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184476" y="1689839"/>
            <a:ext cx="6800784" cy="50740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858366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id="{0BD4DD2C-DDD7-4907-8F02-A738CFEDB92D}"/>
              </a:ext>
            </a:extLst>
          </p:cNvPr>
          <p:cNvSpPr>
            <a:spLocks noChangeArrowheads="1"/>
          </p:cNvSpPr>
          <p:nvPr/>
        </p:nvSpPr>
        <p:spPr bwMode="auto">
          <a:xfrm>
            <a:off x="640080" y="2074363"/>
            <a:ext cx="2752354" cy="2709275"/>
          </a:xfrm>
          <a:prstGeom prst="ellipse">
            <a:avLst/>
          </a:prstGeom>
          <a:solidFill>
            <a:srgbClr val="262626"/>
          </a:solidFill>
          <a:ln w="174625" cmpd="thinThick">
            <a:solidFill>
              <a:srgbClr val="262626"/>
            </a:solid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rmAutofit/>
          </a:bodyPr>
          <a:lstStyle>
            <a:lvl1pPr eaLnBrk="0" hangingPunct="0">
              <a:defRPr sz="2000" b="1">
                <a:solidFill>
                  <a:schemeClr val="tx1"/>
                </a:solidFill>
                <a:latin typeface="Arial" pitchFamily="34" charset="0"/>
                <a:ea typeface="ＭＳ Ｐゴシック" pitchFamily="34" charset="-128"/>
              </a:defRPr>
            </a:lvl1pPr>
            <a:lvl2pPr marL="742950" indent="-285750" eaLnBrk="0" hangingPunct="0">
              <a:defRPr sz="2000" b="1">
                <a:solidFill>
                  <a:schemeClr val="tx1"/>
                </a:solidFill>
                <a:latin typeface="Arial" pitchFamily="34" charset="0"/>
                <a:ea typeface="ＭＳ Ｐゴシック" pitchFamily="34" charset="-128"/>
              </a:defRPr>
            </a:lvl2pPr>
            <a:lvl3pPr marL="1143000" indent="-228600" eaLnBrk="0" hangingPunct="0">
              <a:defRPr sz="2000" b="1">
                <a:solidFill>
                  <a:schemeClr val="tx1"/>
                </a:solidFill>
                <a:latin typeface="Arial" pitchFamily="34" charset="0"/>
                <a:ea typeface="ＭＳ Ｐゴシック" pitchFamily="34" charset="-128"/>
              </a:defRPr>
            </a:lvl3pPr>
            <a:lvl4pPr marL="1600200" indent="-228600" eaLnBrk="0" hangingPunct="0">
              <a:defRPr sz="2000" b="1">
                <a:solidFill>
                  <a:schemeClr val="tx1"/>
                </a:solidFill>
                <a:latin typeface="Arial" pitchFamily="34" charset="0"/>
                <a:ea typeface="ＭＳ Ｐゴシック" pitchFamily="34" charset="-128"/>
              </a:defRPr>
            </a:lvl4pPr>
            <a:lvl5pPr marL="2057400" indent="-228600" eaLnBrk="0" hangingPunct="0">
              <a:defRPr sz="2000" b="1">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000" b="1">
                <a:solidFill>
                  <a:schemeClr val="tx1"/>
                </a:solidFill>
                <a:latin typeface="Arial" pitchFamily="34" charset="0"/>
                <a:ea typeface="ＭＳ Ｐゴシック" pitchFamily="34" charset="-128"/>
              </a:defRPr>
            </a:lvl9pPr>
          </a:lstStyle>
          <a:p>
            <a:pPr algn="ctr" eaLnBrk="1" hangingPunct="1">
              <a:lnSpc>
                <a:spcPct val="90000"/>
              </a:lnSpc>
              <a:spcBef>
                <a:spcPct val="0"/>
              </a:spcBef>
              <a:spcAft>
                <a:spcPts val="600"/>
              </a:spcAft>
            </a:pPr>
            <a:r>
              <a:rPr lang="en-US" altLang="en-US" sz="2600" kern="1200">
                <a:solidFill>
                  <a:srgbClr val="FFFFFF"/>
                </a:solidFill>
                <a:latin typeface="+mj-lt"/>
                <a:ea typeface="+mj-ea"/>
                <a:cs typeface="+mj-cs"/>
              </a:rPr>
              <a:t>Thanks for your time</a:t>
            </a:r>
          </a:p>
        </p:txBody>
      </p:sp>
      <p:pic>
        <p:nvPicPr>
          <p:cNvPr id="7" name="Picture 6" descr="Logo&#10;&#10;Description automatically generated">
            <a:extLst>
              <a:ext uri="{FF2B5EF4-FFF2-40B4-BE49-F238E27FC236}">
                <a16:creationId xmlns:a16="http://schemas.microsoft.com/office/drawing/2014/main" id="{999D1212-E576-40D6-99C4-DE518FAF13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600" y="2122016"/>
            <a:ext cx="7188199" cy="2610579"/>
          </a:xfrm>
          <a:prstGeom prst="rect">
            <a:avLst/>
          </a:prstGeom>
        </p:spPr>
      </p:pic>
      <p:pic>
        <p:nvPicPr>
          <p:cNvPr id="3" name="Picture 2" descr="A picture containing handwear&#10;&#10;Description automatically generated">
            <a:extLst>
              <a:ext uri="{FF2B5EF4-FFF2-40B4-BE49-F238E27FC236}">
                <a16:creationId xmlns:a16="http://schemas.microsoft.com/office/drawing/2014/main" id="{E7620775-D2F4-4772-ADE0-C3642B210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2830" y="266423"/>
            <a:ext cx="1589170" cy="1589170"/>
          </a:xfrm>
          <a:prstGeom prst="rect">
            <a:avLst/>
          </a:prstGeom>
        </p:spPr>
      </p:pic>
    </p:spTree>
    <p:extLst>
      <p:ext uri="{BB962C8B-B14F-4D97-AF65-F5344CB8AC3E}">
        <p14:creationId xmlns:p14="http://schemas.microsoft.com/office/powerpoint/2010/main" val="20724259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425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4263</TotalTime>
  <Words>2010</Words>
  <Application>Microsoft Office PowerPoint</Application>
  <PresentationFormat>Widescreen</PresentationFormat>
  <Paragraphs>173</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Sodecia GTAC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GTAC Controls Training PT 1</dc:subject>
  <dc:creator>Lekx-Toniolo, Taylor</dc:creator>
  <cp:lastModifiedBy>BK Lekx-Toniolo</cp:lastModifiedBy>
  <cp:revision>365</cp:revision>
  <dcterms:created xsi:type="dcterms:W3CDTF">2021-11-04T14:33:04Z</dcterms:created>
  <dcterms:modified xsi:type="dcterms:W3CDTF">2026-02-03T18:51:45Z</dcterms:modified>
</cp:coreProperties>
</file>