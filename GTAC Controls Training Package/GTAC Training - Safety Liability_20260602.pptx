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81" r:id="rId4"/>
    <p:sldId id="282" r:id="rId5"/>
    <p:sldId id="283" r:id="rId6"/>
    <p:sldId id="284" r:id="rId7"/>
    <p:sldId id="285" r:id="rId8"/>
    <p:sldId id="286" r:id="rId9"/>
    <p:sldId id="288" r:id="rId10"/>
    <p:sldId id="289" r:id="rId11"/>
    <p:sldId id="290" r:id="rId12"/>
    <p:sldId id="291" r:id="rId13"/>
    <p:sldId id="292" r:id="rId14"/>
    <p:sldId id="280" r:id="rId15"/>
    <p:sldId id="265"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41EA7-9A78-4A49-8997-1E8AEFC466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9FBB44CA-778B-4BF4-A918-EDEEC4FC10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6C77683F-4AD0-4A93-A054-3D07E62BDEFE}"/>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5" name="Footer Placeholder 4">
            <a:extLst>
              <a:ext uri="{FF2B5EF4-FFF2-40B4-BE49-F238E27FC236}">
                <a16:creationId xmlns:a16="http://schemas.microsoft.com/office/drawing/2014/main" id="{8CF11835-CAF9-4BA8-89D7-8EFBA2589835}"/>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2B122CC-F095-486D-B105-8F8ADC7E4B0B}"/>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15723241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1B3D50-2B82-4E9D-B3F5-ED7D945B08EB}"/>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7CECC16A-02C7-4BEF-A0CE-9B6A85FCC7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10EF480-8E0D-4D13-9D33-4EB69ED11925}"/>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5" name="Footer Placeholder 4">
            <a:extLst>
              <a:ext uri="{FF2B5EF4-FFF2-40B4-BE49-F238E27FC236}">
                <a16:creationId xmlns:a16="http://schemas.microsoft.com/office/drawing/2014/main" id="{FDBC9C84-EB36-431E-B7D8-F08E71E65D2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BCCA7E75-EAE4-46D1-9005-82F89961B22D}"/>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7411187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65BBC-CDF8-484F-B5AB-C36D96A624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3598CF05-ACC8-4BC2-A3E3-AA2C428B1DF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CE8013B-BE0F-44AF-A2B8-01027C406FE2}"/>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5" name="Footer Placeholder 4">
            <a:extLst>
              <a:ext uri="{FF2B5EF4-FFF2-40B4-BE49-F238E27FC236}">
                <a16:creationId xmlns:a16="http://schemas.microsoft.com/office/drawing/2014/main" id="{7C9BB6B0-D32A-4413-BCE3-AB0E9D2ADD5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42C7BC-D57D-4B2D-8651-C42A5C470983}"/>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34715556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A96FD-B94E-4B5C-B75A-F53545F0618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023A31-5222-42F9-B6B8-89C02EA8C5D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E75DC4F6-CAC6-475C-AE5F-1D915D4572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F1D34E5F-3A77-42B4-A317-05EAD2EE8CC2}"/>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6" name="Footer Placeholder 5">
            <a:extLst>
              <a:ext uri="{FF2B5EF4-FFF2-40B4-BE49-F238E27FC236}">
                <a16:creationId xmlns:a16="http://schemas.microsoft.com/office/drawing/2014/main" id="{ABFBE935-82DC-4A73-97F9-82270F15B4B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845B740-AD1F-478C-B429-6C92A2543875}"/>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35890012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A0CDD1-F6F2-42B5-98F8-E442F24F0E5B}"/>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3DB7715-4B41-4CBD-85BE-8A1A2C623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A3471C3-80C2-42C3-8D73-069F9A96303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296AABFD-B297-4329-BAFF-F46A9DD50EA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869D711-0560-42F5-A2F7-B963C42026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C827E6D3-C020-4A0E-8C31-EA4CD5E0D9B7}"/>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8" name="Footer Placeholder 7">
            <a:extLst>
              <a:ext uri="{FF2B5EF4-FFF2-40B4-BE49-F238E27FC236}">
                <a16:creationId xmlns:a16="http://schemas.microsoft.com/office/drawing/2014/main" id="{DEB6EA53-7D4F-4C74-A82C-BE27A7CA4DB4}"/>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81715372-4643-4ACC-9668-EEA2E444204A}"/>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16379631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ED520-8EFF-4D9E-9DEA-4364E37A7590}"/>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01DF756D-3438-42A6-9848-88860E285B53}"/>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4" name="Footer Placeholder 3">
            <a:extLst>
              <a:ext uri="{FF2B5EF4-FFF2-40B4-BE49-F238E27FC236}">
                <a16:creationId xmlns:a16="http://schemas.microsoft.com/office/drawing/2014/main" id="{F87713D8-EC39-4DBE-A83D-AAC61EFB73DA}"/>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CF0C1EE7-1DB6-47EC-8F4E-DD8D2DB19483}"/>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1095293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CFCF09-EAC9-4EDC-A7A0-135336EFC111}"/>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3" name="Footer Placeholder 2">
            <a:extLst>
              <a:ext uri="{FF2B5EF4-FFF2-40B4-BE49-F238E27FC236}">
                <a16:creationId xmlns:a16="http://schemas.microsoft.com/office/drawing/2014/main" id="{28525333-F08B-43B4-8767-4A44C7078C5D}"/>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1F61A178-FD9F-4B6B-9170-9D42B5EE272F}"/>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29418606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83B64-17AB-419B-A7AD-6578C08411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2F0D300-CB7C-4A1E-AA2D-B90FE23C85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2988D8EE-9D5C-4716-99FF-430B92F81A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4FA58E-DFCC-4FEC-A004-47984A7DC3BB}"/>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6" name="Footer Placeholder 5">
            <a:extLst>
              <a:ext uri="{FF2B5EF4-FFF2-40B4-BE49-F238E27FC236}">
                <a16:creationId xmlns:a16="http://schemas.microsoft.com/office/drawing/2014/main" id="{71EB3A44-4800-4A73-BE8B-AEC2BFB274F9}"/>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0A1985E-DADE-4317-B29D-2B8C781129DB}"/>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5925219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AB4D5-4F44-44B7-BF63-12F62E16EBB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F96D172A-D1CE-4624-A911-10D2150DDF1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7FBB0016-8AD5-47BE-98D3-F281F80821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4278E4F-75AA-4FD9-8183-8B0F6CEB828C}"/>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6" name="Footer Placeholder 5">
            <a:extLst>
              <a:ext uri="{FF2B5EF4-FFF2-40B4-BE49-F238E27FC236}">
                <a16:creationId xmlns:a16="http://schemas.microsoft.com/office/drawing/2014/main" id="{984DF100-4AD0-496C-969E-3C9A78A51346}"/>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E002853-A458-43D9-A342-9A7110DE5025}"/>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22155922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360F5-5D73-42CE-9A38-AA1BE457F12A}"/>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E78AEE31-0E8C-4CF7-94B1-1AD148A3CB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2A8A8C51-4BAD-414E-AD81-E1E562F5F9EE}"/>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5" name="Footer Placeholder 4">
            <a:extLst>
              <a:ext uri="{FF2B5EF4-FFF2-40B4-BE49-F238E27FC236}">
                <a16:creationId xmlns:a16="http://schemas.microsoft.com/office/drawing/2014/main" id="{175785BE-95A1-4959-A7EA-D7E77565FD23}"/>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36A28DA5-9A08-411A-AD34-031CF77A4630}"/>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24852084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3A275EB-3FB7-452A-8E0E-FB96B63671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4C7E0F17-010B-47B8-90AC-18C84DFE8EC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0544A8B-6347-4A91-AF21-9E5B2559965C}"/>
              </a:ext>
            </a:extLst>
          </p:cNvPr>
          <p:cNvSpPr>
            <a:spLocks noGrp="1"/>
          </p:cNvSpPr>
          <p:nvPr>
            <p:ph type="dt" sz="half" idx="10"/>
          </p:nvPr>
        </p:nvSpPr>
        <p:spPr/>
        <p:txBody>
          <a:bodyPr/>
          <a:lstStyle/>
          <a:p>
            <a:fld id="{BC2F4239-97E8-4813-8A06-8DEFC0B1123C}" type="datetimeFigureOut">
              <a:rPr lang="en-CA" smtClean="0"/>
              <a:t>2026-06-02</a:t>
            </a:fld>
            <a:endParaRPr lang="en-CA"/>
          </a:p>
        </p:txBody>
      </p:sp>
      <p:sp>
        <p:nvSpPr>
          <p:cNvPr id="5" name="Footer Placeholder 4">
            <a:extLst>
              <a:ext uri="{FF2B5EF4-FFF2-40B4-BE49-F238E27FC236}">
                <a16:creationId xmlns:a16="http://schemas.microsoft.com/office/drawing/2014/main" id="{1679A37E-B2E4-4F40-9A01-A4BD52B5C917}"/>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2838CCB-8DA3-4CDE-9873-1FC0FB64613D}"/>
              </a:ext>
            </a:extLst>
          </p:cNvPr>
          <p:cNvSpPr>
            <a:spLocks noGrp="1"/>
          </p:cNvSpPr>
          <p:nvPr>
            <p:ph type="sldNum" sz="quarter" idx="12"/>
          </p:nvPr>
        </p:nvSpPr>
        <p:spPr/>
        <p:txBody>
          <a:bodyPr/>
          <a:lstStyle/>
          <a:p>
            <a:fld id="{302F635B-B814-4F4D-9CB7-673E3038898A}" type="slidenum">
              <a:rPr lang="en-CA" smtClean="0"/>
              <a:t>‹#›</a:t>
            </a:fld>
            <a:endParaRPr lang="en-CA"/>
          </a:p>
        </p:txBody>
      </p:sp>
    </p:spTree>
    <p:extLst>
      <p:ext uri="{BB962C8B-B14F-4D97-AF65-F5344CB8AC3E}">
        <p14:creationId xmlns:p14="http://schemas.microsoft.com/office/powerpoint/2010/main" val="37549197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2007112-863C-4A6C-8921-315F237D2E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630AA16-F5D1-4337-8456-6253B53B4F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E36B947B-21FB-4B90-8EC7-A7CFD819302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C2F4239-97E8-4813-8A06-8DEFC0B1123C}" type="datetimeFigureOut">
              <a:rPr lang="en-CA" smtClean="0"/>
              <a:t>2026-06-02</a:t>
            </a:fld>
            <a:endParaRPr lang="en-CA"/>
          </a:p>
        </p:txBody>
      </p:sp>
      <p:sp>
        <p:nvSpPr>
          <p:cNvPr id="5" name="Footer Placeholder 4">
            <a:extLst>
              <a:ext uri="{FF2B5EF4-FFF2-40B4-BE49-F238E27FC236}">
                <a16:creationId xmlns:a16="http://schemas.microsoft.com/office/drawing/2014/main" id="{2CA881F6-9FFA-43B5-ADE3-8E69DD99C13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a:extLst>
              <a:ext uri="{FF2B5EF4-FFF2-40B4-BE49-F238E27FC236}">
                <a16:creationId xmlns:a16="http://schemas.microsoft.com/office/drawing/2014/main" id="{300F5398-C352-4890-92DF-11DBB6FE05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2F635B-B814-4F4D-9CB7-673E3038898A}" type="slidenum">
              <a:rPr lang="en-CA" smtClean="0"/>
              <a:t>‹#›</a:t>
            </a:fld>
            <a:endParaRPr lang="en-CA"/>
          </a:p>
        </p:txBody>
      </p:sp>
    </p:spTree>
    <p:extLst>
      <p:ext uri="{BB962C8B-B14F-4D97-AF65-F5344CB8AC3E}">
        <p14:creationId xmlns:p14="http://schemas.microsoft.com/office/powerpoint/2010/main" val="14993740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gif"/></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roboticsandautomationnews.com/2020/05/25/5000-deaths-a-year-a-reminder-of-why-safety-systems-matter/32403/" TargetMode="External"/><Relationship Id="rId7" Type="http://schemas.openxmlformats.org/officeDocument/2006/relationships/hyperlink" Target="https://casetext.com/case/holbrook-v-prodomax-automation-ltd-1" TargetMode="External"/><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hyperlink" Target="https://www.automationmag.com/automation-manufacturer-fined-130k-for-worker-death-at-ontario-plant-9496/" TargetMode="External"/><Relationship Id="rId5" Type="http://schemas.openxmlformats.org/officeDocument/2006/relationships/hyperlink" Target="https://en.wikipedia.org/wiki/Robert_Williams_(robot_fatality)" TargetMode="External"/><Relationship Id="rId4" Type="http://schemas.openxmlformats.org/officeDocument/2006/relationships/hyperlink" Target="https://casetext.com/case/williams-v-litton-systems"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30FC627C-CF51-4634-8210-322F38FCFC50}"/>
              </a:ext>
            </a:extLst>
          </p:cNvPr>
          <p:cNvPicPr>
            <a:picLocks noChangeAspect="1"/>
          </p:cNvPicPr>
          <p:nvPr/>
        </p:nvPicPr>
        <p:blipFill>
          <a:blip r:embed="rId2">
            <a:alphaModFix amt="11000"/>
          </a:blip>
          <a:stretch>
            <a:fillRect/>
          </a:stretch>
        </p:blipFill>
        <p:spPr>
          <a:xfrm>
            <a:off x="2527684" y="265568"/>
            <a:ext cx="9450369" cy="6190650"/>
          </a:xfrm>
          <a:prstGeom prst="rect">
            <a:avLst/>
          </a:prstGeom>
        </p:spPr>
      </p:pic>
      <p:sp>
        <p:nvSpPr>
          <p:cNvPr id="30" name="Rectangle 29">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
            <a:extLst>
              <a:ext uri="{FF2B5EF4-FFF2-40B4-BE49-F238E27FC236}">
                <a16:creationId xmlns:a16="http://schemas.microsoft.com/office/drawing/2014/main" id="{0BD4DD2C-DDD7-4907-8F02-A738CFEDB92D}"/>
              </a:ext>
            </a:extLst>
          </p:cNvPr>
          <p:cNvSpPr>
            <a:spLocks noChangeArrowheads="1"/>
          </p:cNvSpPr>
          <p:nvPr/>
        </p:nvSpPr>
        <p:spPr bwMode="auto">
          <a:xfrm>
            <a:off x="213947" y="1633199"/>
            <a:ext cx="3524473" cy="3455387"/>
          </a:xfrm>
          <a:prstGeom prst="ellipse">
            <a:avLst/>
          </a:prstGeom>
          <a:solidFill>
            <a:srgbClr val="262626"/>
          </a:solidFill>
          <a:ln w="174625" cmpd="thinThick">
            <a:solidFill>
              <a:srgbClr val="262626"/>
            </a:solid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2600" kern="1200" dirty="0">
                <a:solidFill>
                  <a:srgbClr val="FFFFFF"/>
                </a:solidFill>
                <a:latin typeface="+mj-lt"/>
                <a:ea typeface="+mj-ea"/>
                <a:cs typeface="+mj-cs"/>
              </a:rPr>
              <a:t>Controls Training:</a:t>
            </a:r>
          </a:p>
          <a:p>
            <a:pPr algn="ctr" eaLnBrk="1" hangingPunct="1">
              <a:lnSpc>
                <a:spcPct val="90000"/>
              </a:lnSpc>
              <a:spcBef>
                <a:spcPct val="0"/>
              </a:spcBef>
              <a:spcAft>
                <a:spcPts val="600"/>
              </a:spcAft>
            </a:pPr>
            <a:r>
              <a:rPr lang="en-US" altLang="en-US" sz="2600" kern="1200">
                <a:solidFill>
                  <a:srgbClr val="FFFFFF"/>
                </a:solidFill>
                <a:latin typeface="+mj-lt"/>
                <a:ea typeface="+mj-ea"/>
                <a:cs typeface="+mj-cs"/>
              </a:rPr>
              <a:t> </a:t>
            </a:r>
            <a:r>
              <a:rPr lang="en-US" altLang="en-US" sz="2600" dirty="0">
                <a:solidFill>
                  <a:srgbClr val="FFFFFF"/>
                </a:solidFill>
                <a:latin typeface="+mj-lt"/>
                <a:ea typeface="+mj-ea"/>
                <a:cs typeface="+mj-cs"/>
              </a:rPr>
              <a:t>Safety Liability</a:t>
            </a:r>
            <a:endParaRPr lang="en-US" altLang="en-US" sz="2600" kern="1200" dirty="0">
              <a:solidFill>
                <a:srgbClr val="FFFFFF"/>
              </a:solidFill>
              <a:latin typeface="+mj-lt"/>
              <a:ea typeface="+mj-ea"/>
              <a:cs typeface="+mj-cs"/>
            </a:endParaRPr>
          </a:p>
        </p:txBody>
      </p:sp>
      <p:pic>
        <p:nvPicPr>
          <p:cNvPr id="23" name="Picture 22" descr="Logo&#10;&#10;Description automatically generated">
            <a:extLst>
              <a:ext uri="{FF2B5EF4-FFF2-40B4-BE49-F238E27FC236}">
                <a16:creationId xmlns:a16="http://schemas.microsoft.com/office/drawing/2014/main" id="{0F321D2C-D090-49FA-93E8-510313BA6B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45251" y="2269702"/>
            <a:ext cx="6781548" cy="2462893"/>
          </a:xfrm>
          <a:prstGeom prst="rect">
            <a:avLst/>
          </a:prstGeom>
        </p:spPr>
      </p:pic>
      <p:pic>
        <p:nvPicPr>
          <p:cNvPr id="1026" name="Picture 2" descr="Best Gavel Gif GIFs | Gfycat">
            <a:extLst>
              <a:ext uri="{FF2B5EF4-FFF2-40B4-BE49-F238E27FC236}">
                <a16:creationId xmlns:a16="http://schemas.microsoft.com/office/drawing/2014/main" id="{4E0267F2-98BE-3F7C-EFFB-0698AAADDE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28624" y="65826"/>
            <a:ext cx="1657350" cy="1638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16807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9413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Some Statistics</a:t>
            </a:r>
          </a:p>
        </p:txBody>
      </p:sp>
      <p:sp>
        <p:nvSpPr>
          <p:cNvPr id="2" name="TextBox 1">
            <a:extLst>
              <a:ext uri="{FF2B5EF4-FFF2-40B4-BE49-F238E27FC236}">
                <a16:creationId xmlns:a16="http://schemas.microsoft.com/office/drawing/2014/main" id="{F56C59D3-2E2D-C696-AB30-B0C9CE863055}"/>
              </a:ext>
            </a:extLst>
          </p:cNvPr>
          <p:cNvSpPr txBox="1"/>
          <p:nvPr/>
        </p:nvSpPr>
        <p:spPr>
          <a:xfrm>
            <a:off x="921089" y="1922647"/>
            <a:ext cx="10657640" cy="4401205"/>
          </a:xfrm>
          <a:prstGeom prst="rect">
            <a:avLst/>
          </a:prstGeom>
          <a:noFill/>
        </p:spPr>
        <p:txBody>
          <a:bodyPr wrap="square" rtlCol="0">
            <a:spAutoFit/>
          </a:bodyPr>
          <a:lstStyle/>
          <a:p>
            <a:r>
              <a:rPr lang="en-CA" sz="2800" dirty="0"/>
              <a:t>In 2018, there were a total of 5260 workplace deaths in the US. </a:t>
            </a:r>
          </a:p>
          <a:p>
            <a:r>
              <a:rPr lang="en-CA" sz="2800" dirty="0"/>
              <a:t>The majority of these deaths are broken down as follows:</a:t>
            </a:r>
          </a:p>
          <a:p>
            <a:endParaRPr lang="en-CA" sz="2800" dirty="0"/>
          </a:p>
          <a:p>
            <a:endParaRPr lang="en-CA" sz="2800" dirty="0"/>
          </a:p>
          <a:p>
            <a:pPr marL="457200" indent="-457200">
              <a:buFont typeface="Wingdings" panose="05000000000000000000" pitchFamily="2" charset="2"/>
              <a:buChar char="§"/>
            </a:pPr>
            <a:r>
              <a:rPr lang="en-CA" sz="2800" dirty="0"/>
              <a:t>2080 were killed in transportation related accidents</a:t>
            </a:r>
          </a:p>
          <a:p>
            <a:pPr marL="457200" indent="-457200">
              <a:buFont typeface="Wingdings" panose="05000000000000000000" pitchFamily="2" charset="2"/>
              <a:buChar char="§"/>
            </a:pPr>
            <a:r>
              <a:rPr lang="en-CA" sz="2800" dirty="0"/>
              <a:t>791 died due to slip and fall accidents (down 11% from 2017)</a:t>
            </a:r>
          </a:p>
          <a:p>
            <a:pPr marL="457200" indent="-457200">
              <a:buFont typeface="Wingdings" panose="05000000000000000000" pitchFamily="2" charset="2"/>
              <a:buChar char="§"/>
            </a:pPr>
            <a:r>
              <a:rPr lang="en-CA" sz="2800" dirty="0"/>
              <a:t>786 died by contact with objects / equipment including caught in running machinery (up 13% from 2017)</a:t>
            </a:r>
          </a:p>
          <a:p>
            <a:pPr marL="457200" indent="-457200">
              <a:buFont typeface="Wingdings" panose="05000000000000000000" pitchFamily="2" charset="2"/>
              <a:buChar char="§"/>
            </a:pPr>
            <a:r>
              <a:rPr lang="en-CA" sz="2800" dirty="0"/>
              <a:t>305 deaths were related to overdoses via non-medical drugs or alcohol (up 12% from 2017)</a:t>
            </a:r>
          </a:p>
        </p:txBody>
      </p:sp>
      <p:sp>
        <p:nvSpPr>
          <p:cNvPr id="6" name="Oval 5">
            <a:extLst>
              <a:ext uri="{FF2B5EF4-FFF2-40B4-BE49-F238E27FC236}">
                <a16:creationId xmlns:a16="http://schemas.microsoft.com/office/drawing/2014/main" id="{AD5020B8-07B2-A2D9-3EDF-D8FC8FE58566}"/>
              </a:ext>
            </a:extLst>
          </p:cNvPr>
          <p:cNvSpPr/>
          <p:nvPr/>
        </p:nvSpPr>
        <p:spPr>
          <a:xfrm>
            <a:off x="336374" y="4427146"/>
            <a:ext cx="11577985" cy="1013988"/>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777097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heel(1)">
                                      <p:cBhvr>
                                        <p:cTn id="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9413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dirty="0">
                <a:latin typeface="+mj-lt"/>
                <a:ea typeface="+mj-ea"/>
                <a:cs typeface="+mj-cs"/>
              </a:rPr>
              <a:t>Liability</a:t>
            </a:r>
            <a:endParaRPr lang="en-US" altLang="en-US" sz="4000" kern="1200" dirty="0">
              <a:solidFill>
                <a:schemeClr val="tx1"/>
              </a:solidFill>
              <a:latin typeface="+mj-lt"/>
              <a:ea typeface="+mj-ea"/>
              <a:cs typeface="+mj-cs"/>
            </a:endParaRPr>
          </a:p>
        </p:txBody>
      </p:sp>
      <p:sp>
        <p:nvSpPr>
          <p:cNvPr id="8" name="TextBox 7">
            <a:extLst>
              <a:ext uri="{FF2B5EF4-FFF2-40B4-BE49-F238E27FC236}">
                <a16:creationId xmlns:a16="http://schemas.microsoft.com/office/drawing/2014/main" id="{BA5DA674-1FFC-BA0A-83F2-B6903BCA9EC4}"/>
              </a:ext>
            </a:extLst>
          </p:cNvPr>
          <p:cNvSpPr txBox="1"/>
          <p:nvPr/>
        </p:nvSpPr>
        <p:spPr>
          <a:xfrm>
            <a:off x="921089" y="1922647"/>
            <a:ext cx="10657640" cy="3108543"/>
          </a:xfrm>
          <a:prstGeom prst="rect">
            <a:avLst/>
          </a:prstGeom>
          <a:noFill/>
        </p:spPr>
        <p:txBody>
          <a:bodyPr wrap="square" rtlCol="0">
            <a:spAutoFit/>
          </a:bodyPr>
          <a:lstStyle/>
          <a:p>
            <a:r>
              <a:rPr lang="en-CA" sz="2800" dirty="0"/>
              <a:t>When a worker gets hurt or killed at their workplace, the employer is generally legally responsible on some level, no matter the circumstances. Why? Because an employer is required, by law, to provide a safe workplace. The level of guilt (IE level of </a:t>
            </a:r>
            <a:r>
              <a:rPr lang="en-CA" sz="2800" b="1" u="sng" dirty="0"/>
              <a:t>legal charges</a:t>
            </a:r>
            <a:r>
              <a:rPr lang="en-CA" sz="2800" dirty="0"/>
              <a:t>) and </a:t>
            </a:r>
            <a:r>
              <a:rPr lang="en-CA" sz="2800" b="1" u="sng" dirty="0"/>
              <a:t>who</a:t>
            </a:r>
            <a:r>
              <a:rPr lang="en-CA" sz="2800" dirty="0"/>
              <a:t> with-in the company bears the liability depends primarily on two things:</a:t>
            </a:r>
          </a:p>
          <a:p>
            <a:endParaRPr lang="en-CA" sz="2800" dirty="0"/>
          </a:p>
        </p:txBody>
      </p:sp>
      <p:sp>
        <p:nvSpPr>
          <p:cNvPr id="9" name="TextBox 8">
            <a:extLst>
              <a:ext uri="{FF2B5EF4-FFF2-40B4-BE49-F238E27FC236}">
                <a16:creationId xmlns:a16="http://schemas.microsoft.com/office/drawing/2014/main" id="{114C9F5E-F6B7-2C0F-8294-E32CAEC8F6E2}"/>
              </a:ext>
            </a:extLst>
          </p:cNvPr>
          <p:cNvSpPr txBox="1"/>
          <p:nvPr/>
        </p:nvSpPr>
        <p:spPr>
          <a:xfrm>
            <a:off x="921089" y="4815715"/>
            <a:ext cx="10657640" cy="954107"/>
          </a:xfrm>
          <a:prstGeom prst="rect">
            <a:avLst/>
          </a:prstGeom>
          <a:noFill/>
        </p:spPr>
        <p:txBody>
          <a:bodyPr wrap="square" rtlCol="0">
            <a:spAutoFit/>
          </a:bodyPr>
          <a:lstStyle/>
          <a:p>
            <a:pPr marL="457200" indent="-457200">
              <a:buFont typeface="Wingdings" panose="05000000000000000000" pitchFamily="2" charset="2"/>
              <a:buChar char="§"/>
            </a:pPr>
            <a:r>
              <a:rPr lang="en-CA" sz="2800" dirty="0"/>
              <a:t>The severity of the accident</a:t>
            </a:r>
          </a:p>
          <a:p>
            <a:pPr marL="457200" indent="-457200">
              <a:buFont typeface="Wingdings" panose="05000000000000000000" pitchFamily="2" charset="2"/>
              <a:buChar char="§"/>
            </a:pPr>
            <a:r>
              <a:rPr lang="en-CA" sz="2800" dirty="0"/>
              <a:t>Due diligence</a:t>
            </a:r>
          </a:p>
        </p:txBody>
      </p:sp>
      <p:sp>
        <p:nvSpPr>
          <p:cNvPr id="11" name="TextBox 10">
            <a:extLst>
              <a:ext uri="{FF2B5EF4-FFF2-40B4-BE49-F238E27FC236}">
                <a16:creationId xmlns:a16="http://schemas.microsoft.com/office/drawing/2014/main" id="{518305AA-5FCC-9CA4-AE2F-3DFD66A746FF}"/>
              </a:ext>
            </a:extLst>
          </p:cNvPr>
          <p:cNvSpPr txBox="1"/>
          <p:nvPr/>
        </p:nvSpPr>
        <p:spPr>
          <a:xfrm>
            <a:off x="3400556" y="5248189"/>
            <a:ext cx="7870355" cy="954107"/>
          </a:xfrm>
          <a:prstGeom prst="rect">
            <a:avLst/>
          </a:prstGeom>
          <a:noFill/>
        </p:spPr>
        <p:txBody>
          <a:bodyPr wrap="square" rtlCol="0">
            <a:spAutoFit/>
          </a:bodyPr>
          <a:lstStyle/>
          <a:p>
            <a:r>
              <a:rPr lang="en-US" sz="2800" dirty="0">
                <a:solidFill>
                  <a:srgbClr val="FF0000"/>
                </a:solidFill>
                <a:latin typeface="arial" panose="020B0604020202020204" pitchFamily="34" charset="0"/>
              </a:rPr>
              <a:t>-</a:t>
            </a:r>
            <a:r>
              <a:rPr lang="en-US" sz="2800" b="0" i="0" dirty="0">
                <a:solidFill>
                  <a:srgbClr val="FF0000"/>
                </a:solidFill>
                <a:effectLst/>
                <a:latin typeface="arial" panose="020B0604020202020204" pitchFamily="34" charset="0"/>
              </a:rPr>
              <a:t> reasonable steps taken by a person in order  	to satisfy a legal requirement</a:t>
            </a:r>
            <a:endParaRPr lang="en-CA" sz="2800" dirty="0">
              <a:solidFill>
                <a:srgbClr val="FF0000"/>
              </a:solidFill>
            </a:endParaRPr>
          </a:p>
        </p:txBody>
      </p:sp>
    </p:spTree>
    <p:extLst>
      <p:ext uri="{BB962C8B-B14F-4D97-AF65-F5344CB8AC3E}">
        <p14:creationId xmlns:p14="http://schemas.microsoft.com/office/powerpoint/2010/main" val="26929197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Effect transition="in" filter="fade">
                                      <p:cBhvr>
                                        <p:cTn id="9"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9413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Others Involved in Liability</a:t>
            </a:r>
          </a:p>
        </p:txBody>
      </p:sp>
      <p:sp>
        <p:nvSpPr>
          <p:cNvPr id="12" name="TextBox 11">
            <a:extLst>
              <a:ext uri="{FF2B5EF4-FFF2-40B4-BE49-F238E27FC236}">
                <a16:creationId xmlns:a16="http://schemas.microsoft.com/office/drawing/2014/main" id="{763BF12A-B428-2C98-0AF4-273FF7A49954}"/>
              </a:ext>
            </a:extLst>
          </p:cNvPr>
          <p:cNvSpPr txBox="1"/>
          <p:nvPr/>
        </p:nvSpPr>
        <p:spPr>
          <a:xfrm>
            <a:off x="767179" y="2410628"/>
            <a:ext cx="10657640" cy="1384995"/>
          </a:xfrm>
          <a:prstGeom prst="rect">
            <a:avLst/>
          </a:prstGeom>
          <a:noFill/>
        </p:spPr>
        <p:txBody>
          <a:bodyPr wrap="square" rtlCol="0">
            <a:spAutoFit/>
          </a:bodyPr>
          <a:lstStyle/>
          <a:p>
            <a:pPr algn="ctr"/>
            <a:r>
              <a:rPr lang="en-CA" sz="2800" dirty="0"/>
              <a:t>Does this mean that only the employer and those who work with-in the workplace where the accident happened can be found guilty?</a:t>
            </a:r>
          </a:p>
          <a:p>
            <a:endParaRPr lang="en-CA" sz="2800" dirty="0"/>
          </a:p>
        </p:txBody>
      </p:sp>
      <p:sp>
        <p:nvSpPr>
          <p:cNvPr id="13" name="TextBox 12">
            <a:extLst>
              <a:ext uri="{FF2B5EF4-FFF2-40B4-BE49-F238E27FC236}">
                <a16:creationId xmlns:a16="http://schemas.microsoft.com/office/drawing/2014/main" id="{10C1E2DE-C892-A3DD-77DD-8F670E1A1CB6}"/>
              </a:ext>
            </a:extLst>
          </p:cNvPr>
          <p:cNvSpPr txBox="1"/>
          <p:nvPr/>
        </p:nvSpPr>
        <p:spPr>
          <a:xfrm>
            <a:off x="1587374" y="4041844"/>
            <a:ext cx="9017251" cy="1877437"/>
          </a:xfrm>
          <a:prstGeom prst="rect">
            <a:avLst/>
          </a:prstGeom>
          <a:noFill/>
        </p:spPr>
        <p:txBody>
          <a:bodyPr wrap="square" rtlCol="0">
            <a:spAutoFit/>
          </a:bodyPr>
          <a:lstStyle/>
          <a:p>
            <a:pPr algn="ctr"/>
            <a:r>
              <a:rPr lang="en-CA" sz="6000" dirty="0"/>
              <a:t>ABSOLUTELY 100% </a:t>
            </a:r>
            <a:r>
              <a:rPr lang="en-CA" sz="6000" u="sng" dirty="0"/>
              <a:t>NO</a:t>
            </a:r>
            <a:r>
              <a:rPr lang="en-CA" sz="6000" dirty="0"/>
              <a:t>!</a:t>
            </a:r>
          </a:p>
          <a:p>
            <a:endParaRPr lang="en-CA" sz="2800" dirty="0"/>
          </a:p>
          <a:p>
            <a:pPr algn="ctr"/>
            <a:r>
              <a:rPr lang="en-CA" sz="2800" dirty="0"/>
              <a:t>Lack of Due Diligence can have far reaching consequences</a:t>
            </a:r>
          </a:p>
        </p:txBody>
      </p:sp>
    </p:spTree>
    <p:extLst>
      <p:ext uri="{BB962C8B-B14F-4D97-AF65-F5344CB8AC3E}">
        <p14:creationId xmlns:p14="http://schemas.microsoft.com/office/powerpoint/2010/main" val="34699446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p:cTn id="7" dur="1000" fill="hold"/>
                                        <p:tgtEl>
                                          <p:spTgt spid="13"/>
                                        </p:tgtEl>
                                        <p:attrNameLst>
                                          <p:attrName>ppt_w</p:attrName>
                                        </p:attrNameLst>
                                      </p:cBhvr>
                                      <p:tavLst>
                                        <p:tav tm="0">
                                          <p:val>
                                            <p:fltVal val="0"/>
                                          </p:val>
                                        </p:tav>
                                        <p:tav tm="100000">
                                          <p:val>
                                            <p:strVal val="#ppt_w"/>
                                          </p:val>
                                        </p:tav>
                                      </p:tavLst>
                                    </p:anim>
                                    <p:anim calcmode="lin" valueType="num">
                                      <p:cBhvr>
                                        <p:cTn id="8" dur="1000" fill="hold"/>
                                        <p:tgtEl>
                                          <p:spTgt spid="13"/>
                                        </p:tgtEl>
                                        <p:attrNameLst>
                                          <p:attrName>ppt_h</p:attrName>
                                        </p:attrNameLst>
                                      </p:cBhvr>
                                      <p:tavLst>
                                        <p:tav tm="0">
                                          <p:val>
                                            <p:fltVal val="0"/>
                                          </p:val>
                                        </p:tav>
                                        <p:tav tm="100000">
                                          <p:val>
                                            <p:strVal val="#ppt_h"/>
                                          </p:val>
                                        </p:tav>
                                      </p:tavLst>
                                    </p:anim>
                                    <p:anim calcmode="lin" valueType="num">
                                      <p:cBhvr>
                                        <p:cTn id="9" dur="1000" fill="hold"/>
                                        <p:tgtEl>
                                          <p:spTgt spid="13"/>
                                        </p:tgtEl>
                                        <p:attrNameLst>
                                          <p:attrName>style.rotation</p:attrName>
                                        </p:attrNameLst>
                                      </p:cBhvr>
                                      <p:tavLst>
                                        <p:tav tm="0">
                                          <p:val>
                                            <p:fltVal val="90"/>
                                          </p:val>
                                        </p:tav>
                                        <p:tav tm="100000">
                                          <p:val>
                                            <p:fltVal val="0"/>
                                          </p:val>
                                        </p:tav>
                                      </p:tavLst>
                                    </p:anim>
                                    <p:animEffect transition="in" filter="fade">
                                      <p:cBhvr>
                                        <p:cTn id="10"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9413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Case #1</a:t>
            </a:r>
          </a:p>
          <a:p>
            <a:pPr algn="ctr" eaLnBrk="1" hangingPunct="1">
              <a:lnSpc>
                <a:spcPct val="90000"/>
              </a:lnSpc>
              <a:spcBef>
                <a:spcPct val="0"/>
              </a:spcBef>
              <a:spcAft>
                <a:spcPts val="600"/>
              </a:spcAft>
            </a:pPr>
            <a:r>
              <a:rPr lang="en-US" altLang="en-US" sz="4000" dirty="0">
                <a:latin typeface="+mj-lt"/>
                <a:ea typeface="+mj-ea"/>
                <a:cs typeface="+mj-cs"/>
              </a:rPr>
              <a:t>Williams vs Litton</a:t>
            </a:r>
            <a:endParaRPr lang="en-US" altLang="en-US" sz="4000" kern="1200" dirty="0">
              <a:solidFill>
                <a:schemeClr val="tx1"/>
              </a:solidFill>
              <a:latin typeface="+mj-lt"/>
              <a:ea typeface="+mj-ea"/>
              <a:cs typeface="+mj-cs"/>
            </a:endParaRPr>
          </a:p>
        </p:txBody>
      </p:sp>
      <p:sp>
        <p:nvSpPr>
          <p:cNvPr id="6" name="TextBox 5">
            <a:extLst>
              <a:ext uri="{FF2B5EF4-FFF2-40B4-BE49-F238E27FC236}">
                <a16:creationId xmlns:a16="http://schemas.microsoft.com/office/drawing/2014/main" id="{B11EC559-92A7-CC6E-E39C-AC3D3E441AC9}"/>
              </a:ext>
            </a:extLst>
          </p:cNvPr>
          <p:cNvSpPr txBox="1"/>
          <p:nvPr/>
        </p:nvSpPr>
        <p:spPr>
          <a:xfrm>
            <a:off x="336374" y="1466191"/>
            <a:ext cx="4049265" cy="954107"/>
          </a:xfrm>
          <a:prstGeom prst="rect">
            <a:avLst/>
          </a:prstGeom>
          <a:noFill/>
        </p:spPr>
        <p:txBody>
          <a:bodyPr wrap="square" rtlCol="0">
            <a:spAutoFit/>
          </a:bodyPr>
          <a:lstStyle/>
          <a:p>
            <a:r>
              <a:rPr lang="en-CA" sz="2800" dirty="0"/>
              <a:t>Who is Robert Williams?</a:t>
            </a:r>
          </a:p>
          <a:p>
            <a:endParaRPr lang="en-CA" sz="2800" dirty="0"/>
          </a:p>
        </p:txBody>
      </p:sp>
      <p:sp>
        <p:nvSpPr>
          <p:cNvPr id="7" name="TextBox 6">
            <a:extLst>
              <a:ext uri="{FF2B5EF4-FFF2-40B4-BE49-F238E27FC236}">
                <a16:creationId xmlns:a16="http://schemas.microsoft.com/office/drawing/2014/main" id="{5240262C-0361-F6EE-0B85-C2B2C24E2117}"/>
              </a:ext>
            </a:extLst>
          </p:cNvPr>
          <p:cNvSpPr txBox="1"/>
          <p:nvPr/>
        </p:nvSpPr>
        <p:spPr>
          <a:xfrm>
            <a:off x="1026866" y="2158718"/>
            <a:ext cx="10138267" cy="1815882"/>
          </a:xfrm>
          <a:prstGeom prst="rect">
            <a:avLst/>
          </a:prstGeom>
          <a:noFill/>
        </p:spPr>
        <p:txBody>
          <a:bodyPr wrap="square" rtlCol="0">
            <a:spAutoFit/>
          </a:bodyPr>
          <a:lstStyle/>
          <a:p>
            <a:pPr marL="457200" indent="-457200">
              <a:buFont typeface="Wingdings" panose="05000000000000000000" pitchFamily="2" charset="2"/>
              <a:buChar char="§"/>
            </a:pPr>
            <a:r>
              <a:rPr lang="en-CA" sz="2800" dirty="0"/>
              <a:t>In the 1970s Litton Industries designed and built a 5 story robotic system for retrieving castings from a rack based storage system. It was installed at the Ford Motor Company’s new Flat Rock plant in Michigan</a:t>
            </a:r>
          </a:p>
        </p:txBody>
      </p:sp>
      <p:sp>
        <p:nvSpPr>
          <p:cNvPr id="8" name="TextBox 7">
            <a:extLst>
              <a:ext uri="{FF2B5EF4-FFF2-40B4-BE49-F238E27FC236}">
                <a16:creationId xmlns:a16="http://schemas.microsoft.com/office/drawing/2014/main" id="{BE8A06AA-D5A9-4C41-5058-E391ECD36A4B}"/>
              </a:ext>
            </a:extLst>
          </p:cNvPr>
          <p:cNvSpPr txBox="1"/>
          <p:nvPr/>
        </p:nvSpPr>
        <p:spPr>
          <a:xfrm>
            <a:off x="1026866" y="3903764"/>
            <a:ext cx="10138267" cy="954107"/>
          </a:xfrm>
          <a:prstGeom prst="rect">
            <a:avLst/>
          </a:prstGeom>
          <a:noFill/>
        </p:spPr>
        <p:txBody>
          <a:bodyPr wrap="square" rtlCol="0">
            <a:spAutoFit/>
          </a:bodyPr>
          <a:lstStyle/>
          <a:p>
            <a:pPr marL="457200" indent="-457200">
              <a:buFont typeface="Wingdings" panose="05000000000000000000" pitchFamily="2" charset="2"/>
              <a:buChar char="§"/>
            </a:pPr>
            <a:r>
              <a:rPr lang="en-CA" sz="2800" dirty="0"/>
              <a:t>January 25, 1979 - Robert Williams was asked to climb into the racks to retrieve a part manually after a robot failure </a:t>
            </a:r>
          </a:p>
        </p:txBody>
      </p:sp>
      <p:sp>
        <p:nvSpPr>
          <p:cNvPr id="9" name="TextBox 8">
            <a:extLst>
              <a:ext uri="{FF2B5EF4-FFF2-40B4-BE49-F238E27FC236}">
                <a16:creationId xmlns:a16="http://schemas.microsoft.com/office/drawing/2014/main" id="{9DEB636B-03C2-6198-B760-B9E220CDB150}"/>
              </a:ext>
            </a:extLst>
          </p:cNvPr>
          <p:cNvSpPr txBox="1"/>
          <p:nvPr/>
        </p:nvSpPr>
        <p:spPr>
          <a:xfrm>
            <a:off x="1026866" y="4914755"/>
            <a:ext cx="10138267" cy="954107"/>
          </a:xfrm>
          <a:prstGeom prst="rect">
            <a:avLst/>
          </a:prstGeom>
          <a:noFill/>
        </p:spPr>
        <p:txBody>
          <a:bodyPr wrap="square" rtlCol="0">
            <a:spAutoFit/>
          </a:bodyPr>
          <a:lstStyle/>
          <a:p>
            <a:pPr marL="457200" indent="-457200">
              <a:buFont typeface="Wingdings" panose="05000000000000000000" pitchFamily="2" charset="2"/>
              <a:buChar char="§"/>
            </a:pPr>
            <a:r>
              <a:rPr lang="en-CA" sz="2800" dirty="0"/>
              <a:t>The machine started unexpectedly, crushing Robert, killing him instantly</a:t>
            </a:r>
          </a:p>
        </p:txBody>
      </p:sp>
      <p:sp>
        <p:nvSpPr>
          <p:cNvPr id="11" name="TextBox 10">
            <a:extLst>
              <a:ext uri="{FF2B5EF4-FFF2-40B4-BE49-F238E27FC236}">
                <a16:creationId xmlns:a16="http://schemas.microsoft.com/office/drawing/2014/main" id="{95B22D6F-63B5-8876-14C8-2B29B72BD0CF}"/>
              </a:ext>
            </a:extLst>
          </p:cNvPr>
          <p:cNvSpPr txBox="1"/>
          <p:nvPr/>
        </p:nvSpPr>
        <p:spPr>
          <a:xfrm>
            <a:off x="1026866" y="5995805"/>
            <a:ext cx="10704592" cy="523220"/>
          </a:xfrm>
          <a:prstGeom prst="rect">
            <a:avLst/>
          </a:prstGeom>
          <a:noFill/>
        </p:spPr>
        <p:txBody>
          <a:bodyPr wrap="square" rtlCol="0">
            <a:spAutoFit/>
          </a:bodyPr>
          <a:lstStyle/>
          <a:p>
            <a:pPr marL="457200" indent="-457200">
              <a:buFont typeface="Wingdings" panose="05000000000000000000" pitchFamily="2" charset="2"/>
              <a:buChar char="§"/>
            </a:pPr>
            <a:r>
              <a:rPr lang="en-CA" sz="2800" dirty="0"/>
              <a:t>Robert Williams was the first person in history to be killed by a robot</a:t>
            </a:r>
          </a:p>
        </p:txBody>
      </p:sp>
    </p:spTree>
    <p:extLst>
      <p:ext uri="{BB962C8B-B14F-4D97-AF65-F5344CB8AC3E}">
        <p14:creationId xmlns:p14="http://schemas.microsoft.com/office/powerpoint/2010/main" val="28437389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1"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7" name="TextBox 6">
            <a:extLst>
              <a:ext uri="{FF2B5EF4-FFF2-40B4-BE49-F238E27FC236}">
                <a16:creationId xmlns:a16="http://schemas.microsoft.com/office/drawing/2014/main" id="{5240262C-0361-F6EE-0B85-C2B2C24E2117}"/>
              </a:ext>
            </a:extLst>
          </p:cNvPr>
          <p:cNvSpPr txBox="1"/>
          <p:nvPr/>
        </p:nvSpPr>
        <p:spPr>
          <a:xfrm>
            <a:off x="1026866" y="2170098"/>
            <a:ext cx="10138267" cy="1384995"/>
          </a:xfrm>
          <a:prstGeom prst="rect">
            <a:avLst/>
          </a:prstGeom>
          <a:noFill/>
        </p:spPr>
        <p:txBody>
          <a:bodyPr wrap="square" rtlCol="0">
            <a:spAutoFit/>
          </a:bodyPr>
          <a:lstStyle/>
          <a:p>
            <a:pPr marL="457200" indent="-457200">
              <a:buFont typeface="Wingdings" panose="05000000000000000000" pitchFamily="2" charset="2"/>
              <a:buChar char="§"/>
            </a:pPr>
            <a:r>
              <a:rPr lang="en-CA" sz="2800" dirty="0"/>
              <a:t>Although the accident happened with-in a Ford Motor Company facility, and under the direction of a supervisor, whom directed Williams to climb the rack, Ford Motor Company was not charged</a:t>
            </a:r>
          </a:p>
        </p:txBody>
      </p:sp>
      <p:sp>
        <p:nvSpPr>
          <p:cNvPr id="11" name="TextBox 10">
            <a:extLst>
              <a:ext uri="{FF2B5EF4-FFF2-40B4-BE49-F238E27FC236}">
                <a16:creationId xmlns:a16="http://schemas.microsoft.com/office/drawing/2014/main" id="{95B22D6F-63B5-8876-14C8-2B29B72BD0CF}"/>
              </a:ext>
            </a:extLst>
          </p:cNvPr>
          <p:cNvSpPr txBox="1"/>
          <p:nvPr/>
        </p:nvSpPr>
        <p:spPr>
          <a:xfrm>
            <a:off x="1026866" y="3867718"/>
            <a:ext cx="10138267" cy="2677656"/>
          </a:xfrm>
          <a:prstGeom prst="rect">
            <a:avLst/>
          </a:prstGeom>
          <a:noFill/>
        </p:spPr>
        <p:txBody>
          <a:bodyPr wrap="square" rtlCol="0">
            <a:spAutoFit/>
          </a:bodyPr>
          <a:lstStyle/>
          <a:p>
            <a:pPr marL="457200" indent="-457200">
              <a:buFont typeface="Wingdings" panose="05000000000000000000" pitchFamily="2" charset="2"/>
              <a:buChar char="§"/>
            </a:pPr>
            <a:r>
              <a:rPr lang="en-CA" sz="2800" dirty="0"/>
              <a:t>Litton Industries (the company who designed and installed the Robotic system) was sued by the Estate of Mr. Williams for $15 million. In 1983 the jury awarded his estate with a $10 million dollar decision, later increased to $15 million. Litton Industries settled out of court with the Estate for an undisclosed amount of money in exchange for Litton not having to admit negligence</a:t>
            </a:r>
          </a:p>
        </p:txBody>
      </p:sp>
      <p:sp>
        <p:nvSpPr>
          <p:cNvPr id="9" name="Rectangle 1">
            <a:extLst>
              <a:ext uri="{FF2B5EF4-FFF2-40B4-BE49-F238E27FC236}">
                <a16:creationId xmlns:a16="http://schemas.microsoft.com/office/drawing/2014/main" id="{99785E89-9CFA-415A-6618-7D4C99272C96}"/>
              </a:ext>
            </a:extLst>
          </p:cNvPr>
          <p:cNvSpPr>
            <a:spLocks noChangeArrowheads="1"/>
          </p:cNvSpPr>
          <p:nvPr/>
        </p:nvSpPr>
        <p:spPr bwMode="auto">
          <a:xfrm>
            <a:off x="7767874" y="9413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Case #1</a:t>
            </a:r>
          </a:p>
          <a:p>
            <a:pPr algn="ctr" eaLnBrk="1" hangingPunct="1">
              <a:lnSpc>
                <a:spcPct val="90000"/>
              </a:lnSpc>
              <a:spcBef>
                <a:spcPct val="0"/>
              </a:spcBef>
              <a:spcAft>
                <a:spcPts val="600"/>
              </a:spcAft>
            </a:pPr>
            <a:r>
              <a:rPr lang="en-US" altLang="en-US" sz="4000" dirty="0">
                <a:latin typeface="+mj-lt"/>
                <a:ea typeface="+mj-ea"/>
                <a:cs typeface="+mj-cs"/>
              </a:rPr>
              <a:t>Williams vs Litton</a:t>
            </a:r>
            <a:endParaRPr lang="en-US" altLang="en-US" sz="4000" kern="1200" dirty="0">
              <a:solidFill>
                <a:schemeClr val="tx1"/>
              </a:solidFill>
              <a:latin typeface="+mj-lt"/>
              <a:ea typeface="+mj-ea"/>
              <a:cs typeface="+mj-cs"/>
            </a:endParaRPr>
          </a:p>
        </p:txBody>
      </p:sp>
    </p:spTree>
    <p:extLst>
      <p:ext uri="{BB962C8B-B14F-4D97-AF65-F5344CB8AC3E}">
        <p14:creationId xmlns:p14="http://schemas.microsoft.com/office/powerpoint/2010/main" val="1632994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1"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6697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Case #2</a:t>
            </a:r>
          </a:p>
          <a:p>
            <a:pPr algn="ctr" eaLnBrk="1" hangingPunct="1">
              <a:lnSpc>
                <a:spcPct val="90000"/>
              </a:lnSpc>
              <a:spcBef>
                <a:spcPct val="0"/>
              </a:spcBef>
              <a:spcAft>
                <a:spcPts val="600"/>
              </a:spcAft>
            </a:pPr>
            <a:r>
              <a:rPr lang="en-US" altLang="en-US" sz="4000" dirty="0">
                <a:latin typeface="+mj-lt"/>
                <a:ea typeface="+mj-ea"/>
                <a:cs typeface="+mj-cs"/>
              </a:rPr>
              <a:t>Access Limited</a:t>
            </a:r>
            <a:endParaRPr lang="en-US" altLang="en-US" sz="4000" kern="1200" dirty="0">
              <a:solidFill>
                <a:schemeClr val="tx1"/>
              </a:solidFill>
              <a:latin typeface="+mj-lt"/>
              <a:ea typeface="+mj-ea"/>
              <a:cs typeface="+mj-cs"/>
            </a:endParaRPr>
          </a:p>
        </p:txBody>
      </p:sp>
      <p:sp>
        <p:nvSpPr>
          <p:cNvPr id="7" name="TextBox 6">
            <a:extLst>
              <a:ext uri="{FF2B5EF4-FFF2-40B4-BE49-F238E27FC236}">
                <a16:creationId xmlns:a16="http://schemas.microsoft.com/office/drawing/2014/main" id="{5240262C-0361-F6EE-0B85-C2B2C24E2117}"/>
              </a:ext>
            </a:extLst>
          </p:cNvPr>
          <p:cNvSpPr txBox="1"/>
          <p:nvPr/>
        </p:nvSpPr>
        <p:spPr>
          <a:xfrm>
            <a:off x="1026866" y="2170098"/>
            <a:ext cx="10138267" cy="954107"/>
          </a:xfrm>
          <a:prstGeom prst="rect">
            <a:avLst/>
          </a:prstGeom>
          <a:noFill/>
        </p:spPr>
        <p:txBody>
          <a:bodyPr wrap="square" rtlCol="0">
            <a:spAutoFit/>
          </a:bodyPr>
          <a:lstStyle/>
          <a:p>
            <a:pPr marL="457200" indent="-457200">
              <a:buFont typeface="Wingdings" panose="05000000000000000000" pitchFamily="2" charset="2"/>
              <a:buChar char="§"/>
            </a:pPr>
            <a:r>
              <a:rPr lang="en-CA" sz="2800" dirty="0"/>
              <a:t>Access Limited is a Japanese based engineering company who designs, develops and manufactures automation equipment</a:t>
            </a:r>
          </a:p>
        </p:txBody>
      </p:sp>
      <p:sp>
        <p:nvSpPr>
          <p:cNvPr id="8" name="TextBox 7">
            <a:extLst>
              <a:ext uri="{FF2B5EF4-FFF2-40B4-BE49-F238E27FC236}">
                <a16:creationId xmlns:a16="http://schemas.microsoft.com/office/drawing/2014/main" id="{CD5C113F-A840-301A-02F1-2D219554E9AE}"/>
              </a:ext>
            </a:extLst>
          </p:cNvPr>
          <p:cNvSpPr txBox="1"/>
          <p:nvPr/>
        </p:nvSpPr>
        <p:spPr>
          <a:xfrm>
            <a:off x="1026864" y="3429000"/>
            <a:ext cx="10138267" cy="1384995"/>
          </a:xfrm>
          <a:prstGeom prst="rect">
            <a:avLst/>
          </a:prstGeom>
          <a:noFill/>
        </p:spPr>
        <p:txBody>
          <a:bodyPr wrap="square" rtlCol="0">
            <a:spAutoFit/>
          </a:bodyPr>
          <a:lstStyle/>
          <a:p>
            <a:pPr marL="457200" indent="-457200">
              <a:buFont typeface="Wingdings" panose="05000000000000000000" pitchFamily="2" charset="2"/>
              <a:buChar char="§"/>
            </a:pPr>
            <a:r>
              <a:rPr lang="en-CA" sz="2800" dirty="0"/>
              <a:t>August 30, 2017 - two employees of Access Limited were working on an installation of a press de-stacking / feeding machine at a F&amp;P Manufacturing facility in Tottenham, Ontario, Canada</a:t>
            </a:r>
          </a:p>
        </p:txBody>
      </p:sp>
      <p:sp>
        <p:nvSpPr>
          <p:cNvPr id="9" name="TextBox 8">
            <a:extLst>
              <a:ext uri="{FF2B5EF4-FFF2-40B4-BE49-F238E27FC236}">
                <a16:creationId xmlns:a16="http://schemas.microsoft.com/office/drawing/2014/main" id="{2F8BD3B3-D21B-B958-8305-4ACAE78F1EE1}"/>
              </a:ext>
            </a:extLst>
          </p:cNvPr>
          <p:cNvSpPr txBox="1"/>
          <p:nvPr/>
        </p:nvSpPr>
        <p:spPr>
          <a:xfrm>
            <a:off x="1026865" y="5035862"/>
            <a:ext cx="10138267" cy="1384995"/>
          </a:xfrm>
          <a:prstGeom prst="rect">
            <a:avLst/>
          </a:prstGeom>
          <a:noFill/>
        </p:spPr>
        <p:txBody>
          <a:bodyPr wrap="square" rtlCol="0">
            <a:spAutoFit/>
          </a:bodyPr>
          <a:lstStyle/>
          <a:p>
            <a:pPr marL="457200" indent="-457200">
              <a:buFont typeface="Wingdings" panose="05000000000000000000" pitchFamily="2" charset="2"/>
              <a:buChar char="§"/>
            </a:pPr>
            <a:r>
              <a:rPr lang="en-CA" sz="2800" dirty="0"/>
              <a:t>One employee left the area, upon returning they found their fellow employee’s body pinned between an automated “bucket car” and fence opening edge.</a:t>
            </a:r>
          </a:p>
        </p:txBody>
      </p:sp>
    </p:spTree>
    <p:extLst>
      <p:ext uri="{BB962C8B-B14F-4D97-AF65-F5344CB8AC3E}">
        <p14:creationId xmlns:p14="http://schemas.microsoft.com/office/powerpoint/2010/main" val="25046725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6697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Case #2</a:t>
            </a:r>
          </a:p>
          <a:p>
            <a:pPr algn="ctr" eaLnBrk="1" hangingPunct="1">
              <a:lnSpc>
                <a:spcPct val="90000"/>
              </a:lnSpc>
              <a:spcBef>
                <a:spcPct val="0"/>
              </a:spcBef>
              <a:spcAft>
                <a:spcPts val="600"/>
              </a:spcAft>
            </a:pPr>
            <a:r>
              <a:rPr lang="en-US" altLang="en-US" sz="4000" dirty="0">
                <a:latin typeface="+mj-lt"/>
                <a:ea typeface="+mj-ea"/>
                <a:cs typeface="+mj-cs"/>
              </a:rPr>
              <a:t>Access Limited</a:t>
            </a:r>
            <a:endParaRPr lang="en-US" altLang="en-US" sz="4000" kern="1200" dirty="0">
              <a:solidFill>
                <a:schemeClr val="tx1"/>
              </a:solidFill>
              <a:latin typeface="+mj-lt"/>
              <a:ea typeface="+mj-ea"/>
              <a:cs typeface="+mj-cs"/>
            </a:endParaRPr>
          </a:p>
        </p:txBody>
      </p:sp>
      <p:sp>
        <p:nvSpPr>
          <p:cNvPr id="7" name="TextBox 6">
            <a:extLst>
              <a:ext uri="{FF2B5EF4-FFF2-40B4-BE49-F238E27FC236}">
                <a16:creationId xmlns:a16="http://schemas.microsoft.com/office/drawing/2014/main" id="{5240262C-0361-F6EE-0B85-C2B2C24E2117}"/>
              </a:ext>
            </a:extLst>
          </p:cNvPr>
          <p:cNvSpPr txBox="1"/>
          <p:nvPr/>
        </p:nvSpPr>
        <p:spPr>
          <a:xfrm>
            <a:off x="1026864" y="2383546"/>
            <a:ext cx="10138267" cy="1384995"/>
          </a:xfrm>
          <a:prstGeom prst="rect">
            <a:avLst/>
          </a:prstGeom>
          <a:noFill/>
        </p:spPr>
        <p:txBody>
          <a:bodyPr wrap="square" rtlCol="0">
            <a:spAutoFit/>
          </a:bodyPr>
          <a:lstStyle/>
          <a:p>
            <a:pPr marL="457200" indent="-457200">
              <a:buFont typeface="Wingdings" panose="05000000000000000000" pitchFamily="2" charset="2"/>
              <a:buChar char="§"/>
            </a:pPr>
            <a:r>
              <a:rPr lang="en-CA" sz="2800" dirty="0"/>
              <a:t>An investigation revealed that the safety interlocks for the safeguarded space where the “bucket car” operated were not locked out and also over-ridden</a:t>
            </a:r>
          </a:p>
        </p:txBody>
      </p:sp>
      <p:sp>
        <p:nvSpPr>
          <p:cNvPr id="11" name="TextBox 10">
            <a:extLst>
              <a:ext uri="{FF2B5EF4-FFF2-40B4-BE49-F238E27FC236}">
                <a16:creationId xmlns:a16="http://schemas.microsoft.com/office/drawing/2014/main" id="{8299B9CB-F42D-4152-A9E3-D71DA7F2B931}"/>
              </a:ext>
            </a:extLst>
          </p:cNvPr>
          <p:cNvSpPr txBox="1"/>
          <p:nvPr/>
        </p:nvSpPr>
        <p:spPr>
          <a:xfrm>
            <a:off x="1026865" y="4340196"/>
            <a:ext cx="10138267" cy="1815882"/>
          </a:xfrm>
          <a:prstGeom prst="rect">
            <a:avLst/>
          </a:prstGeom>
          <a:noFill/>
        </p:spPr>
        <p:txBody>
          <a:bodyPr wrap="square" rtlCol="0">
            <a:spAutoFit/>
          </a:bodyPr>
          <a:lstStyle/>
          <a:p>
            <a:pPr marL="457200" indent="-457200">
              <a:buFont typeface="Wingdings" panose="05000000000000000000" pitchFamily="2" charset="2"/>
              <a:buChar char="§"/>
            </a:pPr>
            <a:r>
              <a:rPr lang="en-CA" sz="2800" dirty="0"/>
              <a:t>July 19, 2019 - Access Limited was fined $130,000, as well being imposed by a 25% victim fine surcharge, for not taking every reasonable precaution possible to ensure the safety of their employees</a:t>
            </a:r>
          </a:p>
        </p:txBody>
      </p:sp>
    </p:spTree>
    <p:extLst>
      <p:ext uri="{BB962C8B-B14F-4D97-AF65-F5344CB8AC3E}">
        <p14:creationId xmlns:p14="http://schemas.microsoft.com/office/powerpoint/2010/main" val="4495441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1"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6697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Case #3</a:t>
            </a:r>
          </a:p>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Wanda Holbrook</a:t>
            </a:r>
          </a:p>
        </p:txBody>
      </p:sp>
      <p:sp>
        <p:nvSpPr>
          <p:cNvPr id="7" name="TextBox 6">
            <a:extLst>
              <a:ext uri="{FF2B5EF4-FFF2-40B4-BE49-F238E27FC236}">
                <a16:creationId xmlns:a16="http://schemas.microsoft.com/office/drawing/2014/main" id="{5240262C-0361-F6EE-0B85-C2B2C24E2117}"/>
              </a:ext>
            </a:extLst>
          </p:cNvPr>
          <p:cNvSpPr txBox="1"/>
          <p:nvPr/>
        </p:nvSpPr>
        <p:spPr>
          <a:xfrm>
            <a:off x="1026865" y="1460628"/>
            <a:ext cx="10138267" cy="3539430"/>
          </a:xfrm>
          <a:prstGeom prst="rect">
            <a:avLst/>
          </a:prstGeom>
          <a:noFill/>
        </p:spPr>
        <p:txBody>
          <a:bodyPr wrap="square" rtlCol="0">
            <a:spAutoFit/>
          </a:bodyPr>
          <a:lstStyle/>
          <a:p>
            <a:pPr marL="457200" indent="-457200">
              <a:buFont typeface="Wingdings" panose="05000000000000000000" pitchFamily="2" charset="2"/>
              <a:buChar char="§"/>
            </a:pPr>
            <a:r>
              <a:rPr lang="en-CA" sz="2800" dirty="0"/>
              <a:t>July 7, 2015 – Wanda Holbrook, a 12 year experienced maintenance technician at Ventra Main (a Flex-N-Gate facility in Michigan), enters a multi-zoned bumper hitch robotic assembly machine to diagnose a “pick fault” on a robot in zone 150. The zones on this machine are separated by movable “</a:t>
            </a:r>
            <a:r>
              <a:rPr lang="en-CA" sz="2800" dirty="0" err="1"/>
              <a:t>vertiguard</a:t>
            </a:r>
            <a:r>
              <a:rPr lang="en-CA" sz="2800" dirty="0"/>
              <a:t>” fence systems which are intended to lower to allow robot pass thru between zones and raise when humans enter a zone to prevent access to other zones </a:t>
            </a:r>
          </a:p>
        </p:txBody>
      </p:sp>
      <p:sp>
        <p:nvSpPr>
          <p:cNvPr id="8" name="TextBox 7">
            <a:extLst>
              <a:ext uri="{FF2B5EF4-FFF2-40B4-BE49-F238E27FC236}">
                <a16:creationId xmlns:a16="http://schemas.microsoft.com/office/drawing/2014/main" id="{C5D5BE89-9FC9-ACE2-2C3A-B8CC859EB5D2}"/>
              </a:ext>
            </a:extLst>
          </p:cNvPr>
          <p:cNvSpPr txBox="1"/>
          <p:nvPr/>
        </p:nvSpPr>
        <p:spPr>
          <a:xfrm>
            <a:off x="1026865" y="4913365"/>
            <a:ext cx="10138267" cy="1815882"/>
          </a:xfrm>
          <a:prstGeom prst="rect">
            <a:avLst/>
          </a:prstGeom>
          <a:noFill/>
        </p:spPr>
        <p:txBody>
          <a:bodyPr wrap="square" rtlCol="0">
            <a:spAutoFit/>
          </a:bodyPr>
          <a:lstStyle/>
          <a:p>
            <a:pPr marL="457200" indent="-457200">
              <a:buFont typeface="Wingdings" panose="05000000000000000000" pitchFamily="2" charset="2"/>
              <a:buChar char="§"/>
            </a:pPr>
            <a:r>
              <a:rPr lang="en-CA" sz="2800" dirty="0"/>
              <a:t>The robot that generated the “pick fault” was reaching, over a lowered </a:t>
            </a:r>
            <a:r>
              <a:rPr lang="en-CA" sz="2800" dirty="0" err="1"/>
              <a:t>vertiguard</a:t>
            </a:r>
            <a:r>
              <a:rPr lang="en-CA" sz="2800" dirty="0"/>
              <a:t>, from zone 150 to 140 to pick up a hitch from zone 140. Wanda entered Zone 150 and locked it out, she brought with her the teach pendant for the faulted robot</a:t>
            </a:r>
          </a:p>
        </p:txBody>
      </p:sp>
    </p:spTree>
    <p:extLst>
      <p:ext uri="{BB962C8B-B14F-4D97-AF65-F5344CB8AC3E}">
        <p14:creationId xmlns:p14="http://schemas.microsoft.com/office/powerpoint/2010/main" val="5496658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6697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Case #3</a:t>
            </a:r>
          </a:p>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Wanda Holbrook</a:t>
            </a:r>
          </a:p>
        </p:txBody>
      </p:sp>
      <p:sp>
        <p:nvSpPr>
          <p:cNvPr id="7" name="TextBox 6">
            <a:extLst>
              <a:ext uri="{FF2B5EF4-FFF2-40B4-BE49-F238E27FC236}">
                <a16:creationId xmlns:a16="http://schemas.microsoft.com/office/drawing/2014/main" id="{5240262C-0361-F6EE-0B85-C2B2C24E2117}"/>
              </a:ext>
            </a:extLst>
          </p:cNvPr>
          <p:cNvSpPr txBox="1"/>
          <p:nvPr/>
        </p:nvSpPr>
        <p:spPr>
          <a:xfrm>
            <a:off x="1026863" y="1911895"/>
            <a:ext cx="10138267" cy="1384995"/>
          </a:xfrm>
          <a:prstGeom prst="rect">
            <a:avLst/>
          </a:prstGeom>
          <a:noFill/>
        </p:spPr>
        <p:txBody>
          <a:bodyPr wrap="square" rtlCol="0">
            <a:spAutoFit/>
          </a:bodyPr>
          <a:lstStyle/>
          <a:p>
            <a:pPr marL="457200" indent="-457200">
              <a:buFont typeface="Wingdings" panose="05000000000000000000" pitchFamily="2" charset="2"/>
              <a:buChar char="§"/>
            </a:pPr>
            <a:r>
              <a:rPr lang="en-CA" sz="2800" dirty="0"/>
              <a:t>Because the faulted robot was part of zone 150 but reaching through (and over the lowered </a:t>
            </a:r>
            <a:r>
              <a:rPr lang="en-CA" sz="2800" dirty="0" err="1"/>
              <a:t>vertiguard</a:t>
            </a:r>
            <a:r>
              <a:rPr lang="en-CA" sz="2800" dirty="0"/>
              <a:t>) to zone 140, the </a:t>
            </a:r>
            <a:r>
              <a:rPr lang="en-CA" sz="2800" dirty="0" err="1"/>
              <a:t>vertiguard</a:t>
            </a:r>
            <a:r>
              <a:rPr lang="en-CA" sz="2800" dirty="0"/>
              <a:t> did not raise when Wanda entered zone 150</a:t>
            </a:r>
          </a:p>
        </p:txBody>
      </p:sp>
      <p:sp>
        <p:nvSpPr>
          <p:cNvPr id="9" name="TextBox 8">
            <a:extLst>
              <a:ext uri="{FF2B5EF4-FFF2-40B4-BE49-F238E27FC236}">
                <a16:creationId xmlns:a16="http://schemas.microsoft.com/office/drawing/2014/main" id="{A068D231-A22D-F986-F180-F7E7E3DCF8C4}"/>
              </a:ext>
            </a:extLst>
          </p:cNvPr>
          <p:cNvSpPr txBox="1"/>
          <p:nvPr/>
        </p:nvSpPr>
        <p:spPr>
          <a:xfrm>
            <a:off x="1026864" y="3689036"/>
            <a:ext cx="10138267" cy="2246769"/>
          </a:xfrm>
          <a:prstGeom prst="rect">
            <a:avLst/>
          </a:prstGeom>
          <a:noFill/>
        </p:spPr>
        <p:txBody>
          <a:bodyPr wrap="square" rtlCol="0">
            <a:spAutoFit/>
          </a:bodyPr>
          <a:lstStyle/>
          <a:p>
            <a:pPr marL="457200" indent="-457200">
              <a:buFont typeface="Wingdings" panose="05000000000000000000" pitchFamily="2" charset="2"/>
              <a:buChar char="§"/>
            </a:pPr>
            <a:r>
              <a:rPr lang="en-CA" sz="2800" dirty="0"/>
              <a:t>Investigation conclusions determine that Wanda realized the zone 150 robot was faulted while picking in zone 140, so instead of exiting 150 and then locking out and entering 140, she climbed over the lowered </a:t>
            </a:r>
            <a:r>
              <a:rPr lang="en-CA" sz="2800" dirty="0" err="1"/>
              <a:t>Vertiguard</a:t>
            </a:r>
            <a:r>
              <a:rPr lang="en-CA" sz="2800" dirty="0"/>
              <a:t> fence (37” height when lowered) and enters into zone 140, which is still live</a:t>
            </a:r>
          </a:p>
        </p:txBody>
      </p:sp>
    </p:spTree>
    <p:extLst>
      <p:ext uri="{BB962C8B-B14F-4D97-AF65-F5344CB8AC3E}">
        <p14:creationId xmlns:p14="http://schemas.microsoft.com/office/powerpoint/2010/main" val="3500424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6697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Case #3</a:t>
            </a:r>
          </a:p>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Wanda Holbrook</a:t>
            </a:r>
          </a:p>
        </p:txBody>
      </p:sp>
      <p:sp>
        <p:nvSpPr>
          <p:cNvPr id="8" name="TextBox 7">
            <a:extLst>
              <a:ext uri="{FF2B5EF4-FFF2-40B4-BE49-F238E27FC236}">
                <a16:creationId xmlns:a16="http://schemas.microsoft.com/office/drawing/2014/main" id="{7F0EB09A-E9FE-40CE-E75B-ED88C31E50BE}"/>
              </a:ext>
            </a:extLst>
          </p:cNvPr>
          <p:cNvSpPr txBox="1"/>
          <p:nvPr/>
        </p:nvSpPr>
        <p:spPr>
          <a:xfrm>
            <a:off x="1026866" y="1845348"/>
            <a:ext cx="10138267" cy="2246769"/>
          </a:xfrm>
          <a:prstGeom prst="rect">
            <a:avLst/>
          </a:prstGeom>
          <a:noFill/>
        </p:spPr>
        <p:txBody>
          <a:bodyPr wrap="square" rtlCol="0">
            <a:spAutoFit/>
          </a:bodyPr>
          <a:lstStyle/>
          <a:p>
            <a:pPr marL="457200" indent="-457200">
              <a:buFont typeface="Wingdings" panose="05000000000000000000" pitchFamily="2" charset="2"/>
              <a:buChar char="§"/>
            </a:pPr>
            <a:r>
              <a:rPr lang="en-CA" sz="2800" dirty="0"/>
              <a:t>Although the final sequence of events is not known for sure, it is postulated that while Wanda is stepping the 150 robot, this removes the hitch it was picking up from it’s fixture, this triggers and upstream robot (from zone 130) to place a new hitch onto the shared fixture</a:t>
            </a:r>
          </a:p>
        </p:txBody>
      </p:sp>
      <p:sp>
        <p:nvSpPr>
          <p:cNvPr id="11" name="TextBox 10">
            <a:extLst>
              <a:ext uri="{FF2B5EF4-FFF2-40B4-BE49-F238E27FC236}">
                <a16:creationId xmlns:a16="http://schemas.microsoft.com/office/drawing/2014/main" id="{4FFE75E2-7ACF-3668-A4C6-74F4412FA01D}"/>
              </a:ext>
            </a:extLst>
          </p:cNvPr>
          <p:cNvSpPr txBox="1"/>
          <p:nvPr/>
        </p:nvSpPr>
        <p:spPr>
          <a:xfrm>
            <a:off x="1026866" y="4047125"/>
            <a:ext cx="10138267" cy="1384995"/>
          </a:xfrm>
          <a:prstGeom prst="rect">
            <a:avLst/>
          </a:prstGeom>
          <a:noFill/>
        </p:spPr>
        <p:txBody>
          <a:bodyPr wrap="square" rtlCol="0">
            <a:spAutoFit/>
          </a:bodyPr>
          <a:lstStyle/>
          <a:p>
            <a:pPr marL="457200" indent="-457200">
              <a:buFont typeface="Wingdings" panose="05000000000000000000" pitchFamily="2" charset="2"/>
              <a:buChar char="§"/>
            </a:pPr>
            <a:r>
              <a:rPr lang="en-CA" sz="2800" dirty="0"/>
              <a:t>The zone 130 robot crushed Wanda’s head between the hitch it was carrying and the fixture it was attempting to place the hitch on, killing her</a:t>
            </a:r>
          </a:p>
        </p:txBody>
      </p:sp>
      <p:sp>
        <p:nvSpPr>
          <p:cNvPr id="12" name="TextBox 11">
            <a:extLst>
              <a:ext uri="{FF2B5EF4-FFF2-40B4-BE49-F238E27FC236}">
                <a16:creationId xmlns:a16="http://schemas.microsoft.com/office/drawing/2014/main" id="{204AE9A7-627D-285F-5DEE-145F597484F4}"/>
              </a:ext>
            </a:extLst>
          </p:cNvPr>
          <p:cNvSpPr txBox="1"/>
          <p:nvPr/>
        </p:nvSpPr>
        <p:spPr>
          <a:xfrm>
            <a:off x="1026865" y="5564763"/>
            <a:ext cx="10138267" cy="954107"/>
          </a:xfrm>
          <a:prstGeom prst="rect">
            <a:avLst/>
          </a:prstGeom>
          <a:noFill/>
        </p:spPr>
        <p:txBody>
          <a:bodyPr wrap="square" rtlCol="0">
            <a:spAutoFit/>
          </a:bodyPr>
          <a:lstStyle/>
          <a:p>
            <a:pPr marL="457200" indent="-457200">
              <a:buFont typeface="Wingdings" panose="05000000000000000000" pitchFamily="2" charset="2"/>
              <a:buChar char="§"/>
            </a:pPr>
            <a:r>
              <a:rPr lang="en-CA" sz="2800" dirty="0"/>
              <a:t>Hours after the accident the machine is re-programmed so that any zone locked out shuts down all zones</a:t>
            </a:r>
          </a:p>
        </p:txBody>
      </p:sp>
    </p:spTree>
    <p:extLst>
      <p:ext uri="{BB962C8B-B14F-4D97-AF65-F5344CB8AC3E}">
        <p14:creationId xmlns:p14="http://schemas.microsoft.com/office/powerpoint/2010/main" val="10473772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933760" cy="1065470"/>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6697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Case #3</a:t>
            </a:r>
          </a:p>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Wanda Holbrook</a:t>
            </a:r>
          </a:p>
        </p:txBody>
      </p:sp>
      <p:sp>
        <p:nvSpPr>
          <p:cNvPr id="8" name="TextBox 7">
            <a:extLst>
              <a:ext uri="{FF2B5EF4-FFF2-40B4-BE49-F238E27FC236}">
                <a16:creationId xmlns:a16="http://schemas.microsoft.com/office/drawing/2014/main" id="{7F0EB09A-E9FE-40CE-E75B-ED88C31E50BE}"/>
              </a:ext>
            </a:extLst>
          </p:cNvPr>
          <p:cNvSpPr txBox="1"/>
          <p:nvPr/>
        </p:nvSpPr>
        <p:spPr>
          <a:xfrm>
            <a:off x="1026864" y="2728370"/>
            <a:ext cx="10138267" cy="1384995"/>
          </a:xfrm>
          <a:prstGeom prst="rect">
            <a:avLst/>
          </a:prstGeom>
          <a:noFill/>
        </p:spPr>
        <p:txBody>
          <a:bodyPr wrap="square" rtlCol="0">
            <a:spAutoFit/>
          </a:bodyPr>
          <a:lstStyle/>
          <a:p>
            <a:pPr marL="457200" indent="-457200">
              <a:buFont typeface="Wingdings" panose="05000000000000000000" pitchFamily="2" charset="2"/>
              <a:buChar char="§"/>
            </a:pPr>
            <a:r>
              <a:rPr lang="en-CA" sz="2800" dirty="0"/>
              <a:t>March 2017 - Wanda Halbrook’s husband (William) sues Lincoln Electric, Flex-N-Gate, Fanuc Robotics, Nachi Robotics and </a:t>
            </a:r>
            <a:r>
              <a:rPr lang="en-CA" sz="2800" dirty="0" err="1"/>
              <a:t>Prodomax</a:t>
            </a:r>
            <a:endParaRPr lang="en-CA" sz="2800" dirty="0"/>
          </a:p>
        </p:txBody>
      </p:sp>
      <p:sp>
        <p:nvSpPr>
          <p:cNvPr id="9" name="TextBox 8">
            <a:extLst>
              <a:ext uri="{FF2B5EF4-FFF2-40B4-BE49-F238E27FC236}">
                <a16:creationId xmlns:a16="http://schemas.microsoft.com/office/drawing/2014/main" id="{196E7622-7B81-A012-00BB-BA964FF947E6}"/>
              </a:ext>
            </a:extLst>
          </p:cNvPr>
          <p:cNvSpPr txBox="1"/>
          <p:nvPr/>
        </p:nvSpPr>
        <p:spPr>
          <a:xfrm>
            <a:off x="1026865" y="4113366"/>
            <a:ext cx="10138267" cy="2677656"/>
          </a:xfrm>
          <a:prstGeom prst="rect">
            <a:avLst/>
          </a:prstGeom>
          <a:noFill/>
        </p:spPr>
        <p:txBody>
          <a:bodyPr wrap="square" rtlCol="0">
            <a:spAutoFit/>
          </a:bodyPr>
          <a:lstStyle/>
          <a:p>
            <a:pPr marL="457200" indent="-457200">
              <a:buFont typeface="Wingdings" panose="05000000000000000000" pitchFamily="2" charset="2"/>
              <a:buChar char="§"/>
            </a:pPr>
            <a:r>
              <a:rPr lang="en-CA" sz="2800" dirty="0"/>
              <a:t>As of September 20, 2021 – All named defendants above, with exception to </a:t>
            </a:r>
            <a:r>
              <a:rPr lang="en-CA" sz="2800" dirty="0" err="1"/>
              <a:t>Prodomax</a:t>
            </a:r>
            <a:r>
              <a:rPr lang="en-CA" sz="2800" dirty="0"/>
              <a:t> have been released from the lawsuit. </a:t>
            </a:r>
            <a:r>
              <a:rPr lang="en-CA" sz="2800" dirty="0" err="1"/>
              <a:t>Prodomax’s</a:t>
            </a:r>
            <a:r>
              <a:rPr lang="en-CA" sz="2800" dirty="0"/>
              <a:t> role as the final integrator of the machine and how their design decisions contributed to the accident are still under investigation……..including in-depth investigation of the PLC programming itself……..</a:t>
            </a:r>
          </a:p>
        </p:txBody>
      </p:sp>
      <p:sp>
        <p:nvSpPr>
          <p:cNvPr id="11" name="TextBox 10">
            <a:extLst>
              <a:ext uri="{FF2B5EF4-FFF2-40B4-BE49-F238E27FC236}">
                <a16:creationId xmlns:a16="http://schemas.microsoft.com/office/drawing/2014/main" id="{4EA63852-5AC2-241E-8105-B197BF35F9D7}"/>
              </a:ext>
            </a:extLst>
          </p:cNvPr>
          <p:cNvSpPr txBox="1"/>
          <p:nvPr/>
        </p:nvSpPr>
        <p:spPr>
          <a:xfrm>
            <a:off x="1026863" y="1581351"/>
            <a:ext cx="10138267" cy="954107"/>
          </a:xfrm>
          <a:prstGeom prst="rect">
            <a:avLst/>
          </a:prstGeom>
          <a:noFill/>
        </p:spPr>
        <p:txBody>
          <a:bodyPr wrap="square" rtlCol="0">
            <a:spAutoFit/>
          </a:bodyPr>
          <a:lstStyle/>
          <a:p>
            <a:pPr marL="457200" indent="-457200">
              <a:buFont typeface="Wingdings" panose="05000000000000000000" pitchFamily="2" charset="2"/>
              <a:buChar char="§"/>
            </a:pPr>
            <a:r>
              <a:rPr lang="en-CA" sz="2800" dirty="0"/>
              <a:t>January 2016 – After a 7+ month investigation Flex-N-Gate was fined $7000 for not enforcing lock out procedures</a:t>
            </a:r>
          </a:p>
        </p:txBody>
      </p:sp>
    </p:spTree>
    <p:extLst>
      <p:ext uri="{BB962C8B-B14F-4D97-AF65-F5344CB8AC3E}">
        <p14:creationId xmlns:p14="http://schemas.microsoft.com/office/powerpoint/2010/main" val="13426359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1"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B3A2D1A-45FC-4F95-B150-1C13EF2F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9C3C864-C625-4883-B868-9A4C470F4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291" y="3296652"/>
            <a:ext cx="12202113" cy="3561346"/>
          </a:xfrm>
          <a:custGeom>
            <a:avLst/>
            <a:gdLst>
              <a:gd name="connsiteX0" fmla="*/ 0 w 12202113"/>
              <a:gd name="connsiteY0" fmla="*/ 3188466 h 3188466"/>
              <a:gd name="connsiteX1" fmla="*/ 10116 w 12202113"/>
              <a:gd name="connsiteY1" fmla="*/ 2657641 h 3188466"/>
              <a:gd name="connsiteX2" fmla="*/ 10116 w 12202113"/>
              <a:gd name="connsiteY2" fmla="*/ 0 h 3188466"/>
              <a:gd name="connsiteX3" fmla="*/ 12202113 w 12202113"/>
              <a:gd name="connsiteY3" fmla="*/ 0 h 3188466"/>
              <a:gd name="connsiteX4" fmla="*/ 12202113 w 12202113"/>
              <a:gd name="connsiteY4" fmla="*/ 2879832 h 3188466"/>
              <a:gd name="connsiteX5" fmla="*/ 12198167 w 12202113"/>
              <a:gd name="connsiteY5" fmla="*/ 2880360 h 3188466"/>
              <a:gd name="connsiteX6" fmla="*/ 12122128 w 12202113"/>
              <a:gd name="connsiteY6" fmla="*/ 2887194 h 3188466"/>
              <a:gd name="connsiteX7" fmla="*/ 12028868 w 12202113"/>
              <a:gd name="connsiteY7" fmla="*/ 2911786 h 3188466"/>
              <a:gd name="connsiteX8" fmla="*/ 11995238 w 12202113"/>
              <a:gd name="connsiteY8" fmla="*/ 2914090 h 3188466"/>
              <a:gd name="connsiteX9" fmla="*/ 11996460 w 12202113"/>
              <a:gd name="connsiteY9" fmla="*/ 2918442 h 3188466"/>
              <a:gd name="connsiteX10" fmla="*/ 11983968 w 12202113"/>
              <a:gd name="connsiteY10" fmla="*/ 2918762 h 3188466"/>
              <a:gd name="connsiteX11" fmla="*/ 11956084 w 12202113"/>
              <a:gd name="connsiteY11" fmla="*/ 2918868 h 3188466"/>
              <a:gd name="connsiteX12" fmla="*/ 11872586 w 12202113"/>
              <a:gd name="connsiteY12" fmla="*/ 2920076 h 3188466"/>
              <a:gd name="connsiteX13" fmla="*/ 11849804 w 12202113"/>
              <a:gd name="connsiteY13" fmla="*/ 2928420 h 3188466"/>
              <a:gd name="connsiteX14" fmla="*/ 11828254 w 12202113"/>
              <a:gd name="connsiteY14" fmla="*/ 2928551 h 3188466"/>
              <a:gd name="connsiteX15" fmla="*/ 11703277 w 12202113"/>
              <a:gd name="connsiteY15" fmla="*/ 2939735 h 3188466"/>
              <a:gd name="connsiteX16" fmla="*/ 11686094 w 12202113"/>
              <a:gd name="connsiteY16" fmla="*/ 2940570 h 3188466"/>
              <a:gd name="connsiteX17" fmla="*/ 11676788 w 12202113"/>
              <a:gd name="connsiteY17" fmla="*/ 2944321 h 3188466"/>
              <a:gd name="connsiteX18" fmla="*/ 11643464 w 12202113"/>
              <a:gd name="connsiteY18" fmla="*/ 2945066 h 3188466"/>
              <a:gd name="connsiteX19" fmla="*/ 11641922 w 12202113"/>
              <a:gd name="connsiteY19" fmla="*/ 2947200 h 3188466"/>
              <a:gd name="connsiteX20" fmla="*/ 11532386 w 12202113"/>
              <a:gd name="connsiteY20" fmla="*/ 2965529 h 3188466"/>
              <a:gd name="connsiteX21" fmla="*/ 11513619 w 12202113"/>
              <a:gd name="connsiteY21" fmla="*/ 2968556 h 3188466"/>
              <a:gd name="connsiteX22" fmla="*/ 11497404 w 12202113"/>
              <a:gd name="connsiteY22" fmla="*/ 2967639 h 3188466"/>
              <a:gd name="connsiteX23" fmla="*/ 11407630 w 12202113"/>
              <a:gd name="connsiteY23" fmla="*/ 2970255 h 3188466"/>
              <a:gd name="connsiteX24" fmla="*/ 11386276 w 12202113"/>
              <a:gd name="connsiteY24" fmla="*/ 2968648 h 3188466"/>
              <a:gd name="connsiteX25" fmla="*/ 11377296 w 12202113"/>
              <a:gd name="connsiteY25" fmla="*/ 2965257 h 3188466"/>
              <a:gd name="connsiteX26" fmla="*/ 11342536 w 12202113"/>
              <a:gd name="connsiteY26" fmla="*/ 2971666 h 3188466"/>
              <a:gd name="connsiteX27" fmla="*/ 11288902 w 12202113"/>
              <a:gd name="connsiteY27" fmla="*/ 2976058 h 3188466"/>
              <a:gd name="connsiteX28" fmla="*/ 11263411 w 12202113"/>
              <a:gd name="connsiteY28" fmla="*/ 2979228 h 3188466"/>
              <a:gd name="connsiteX29" fmla="*/ 11242843 w 12202113"/>
              <a:gd name="connsiteY29" fmla="*/ 2977303 h 3188466"/>
              <a:gd name="connsiteX30" fmla="*/ 11125798 w 12202113"/>
              <a:gd name="connsiteY30" fmla="*/ 2976816 h 3188466"/>
              <a:gd name="connsiteX31" fmla="*/ 11098884 w 12202113"/>
              <a:gd name="connsiteY31" fmla="*/ 2973758 h 3188466"/>
              <a:gd name="connsiteX32" fmla="*/ 11086128 w 12202113"/>
              <a:gd name="connsiteY32" fmla="*/ 2967663 h 3188466"/>
              <a:gd name="connsiteX33" fmla="*/ 11076132 w 12202113"/>
              <a:gd name="connsiteY33" fmla="*/ 2969836 h 3188466"/>
              <a:gd name="connsiteX34" fmla="*/ 11005337 w 12202113"/>
              <a:gd name="connsiteY34" fmla="*/ 2970053 h 3188466"/>
              <a:gd name="connsiteX35" fmla="*/ 10959154 w 12202113"/>
              <a:gd name="connsiteY35" fmla="*/ 2970750 h 3188466"/>
              <a:gd name="connsiteX36" fmla="*/ 10956347 w 12202113"/>
              <a:gd name="connsiteY36" fmla="*/ 2979118 h 3188466"/>
              <a:gd name="connsiteX37" fmla="*/ 10915223 w 12202113"/>
              <a:gd name="connsiteY37" fmla="*/ 2982099 h 3188466"/>
              <a:gd name="connsiteX38" fmla="*/ 10871398 w 12202113"/>
              <a:gd name="connsiteY38" fmla="*/ 2976728 h 3188466"/>
              <a:gd name="connsiteX39" fmla="*/ 10819743 w 12202113"/>
              <a:gd name="connsiteY39" fmla="*/ 2977481 h 3188466"/>
              <a:gd name="connsiteX40" fmla="*/ 10788834 w 12202113"/>
              <a:gd name="connsiteY40" fmla="*/ 2977840 h 3188466"/>
              <a:gd name="connsiteX41" fmla="*/ 10707711 w 12202113"/>
              <a:gd name="connsiteY41" fmla="*/ 2985644 h 3188466"/>
              <a:gd name="connsiteX42" fmla="*/ 10576086 w 12202113"/>
              <a:gd name="connsiteY42" fmla="*/ 3015319 h 3188466"/>
              <a:gd name="connsiteX43" fmla="*/ 10534761 w 12202113"/>
              <a:gd name="connsiteY43" fmla="*/ 3019524 h 3188466"/>
              <a:gd name="connsiteX44" fmla="*/ 10527537 w 12202113"/>
              <a:gd name="connsiteY44" fmla="*/ 3017814 h 3188466"/>
              <a:gd name="connsiteX45" fmla="*/ 10321799 w 12202113"/>
              <a:gd name="connsiteY45" fmla="*/ 3035635 h 3188466"/>
              <a:gd name="connsiteX46" fmla="*/ 10284989 w 12202113"/>
              <a:gd name="connsiteY46" fmla="*/ 3036679 h 3188466"/>
              <a:gd name="connsiteX47" fmla="*/ 10257423 w 12202113"/>
              <a:gd name="connsiteY47" fmla="*/ 3036027 h 3188466"/>
              <a:gd name="connsiteX48" fmla="*/ 10191450 w 12202113"/>
              <a:gd name="connsiteY48" fmla="*/ 3041963 h 3188466"/>
              <a:gd name="connsiteX49" fmla="*/ 10083845 w 12202113"/>
              <a:gd name="connsiteY49" fmla="*/ 3054978 h 3188466"/>
              <a:gd name="connsiteX50" fmla="*/ 10060611 w 12202113"/>
              <a:gd name="connsiteY50" fmla="*/ 3057035 h 3188466"/>
              <a:gd name="connsiteX51" fmla="*/ 10039363 w 12202113"/>
              <a:gd name="connsiteY51" fmla="*/ 3055961 h 3188466"/>
              <a:gd name="connsiteX52" fmla="*/ 10033322 w 12202113"/>
              <a:gd name="connsiteY52" fmla="*/ 3053238 h 3188466"/>
              <a:gd name="connsiteX53" fmla="*/ 10020337 w 12202113"/>
              <a:gd name="connsiteY53" fmla="*/ 3053912 h 3188466"/>
              <a:gd name="connsiteX54" fmla="*/ 10016616 w 12202113"/>
              <a:gd name="connsiteY54" fmla="*/ 3053498 h 3188466"/>
              <a:gd name="connsiteX55" fmla="*/ 9995549 w 12202113"/>
              <a:gd name="connsiteY55" fmla="*/ 3051719 h 3188466"/>
              <a:gd name="connsiteX56" fmla="*/ 9957212 w 12202113"/>
              <a:gd name="connsiteY56" fmla="*/ 3062663 h 3188466"/>
              <a:gd name="connsiteX57" fmla="*/ 9904584 w 12202113"/>
              <a:gd name="connsiteY57" fmla="*/ 3063999 h 3188466"/>
              <a:gd name="connsiteX58" fmla="*/ 9713857 w 12202113"/>
              <a:gd name="connsiteY58" fmla="*/ 3087955 h 3188466"/>
              <a:gd name="connsiteX59" fmla="*/ 9678879 w 12202113"/>
              <a:gd name="connsiteY59" fmla="*/ 3079676 h 3188466"/>
              <a:gd name="connsiteX60" fmla="*/ 9598760 w 12202113"/>
              <a:gd name="connsiteY60" fmla="*/ 3085228 h 3188466"/>
              <a:gd name="connsiteX61" fmla="*/ 9488796 w 12202113"/>
              <a:gd name="connsiteY61" fmla="*/ 3115384 h 3188466"/>
              <a:gd name="connsiteX62" fmla="*/ 9341972 w 12202113"/>
              <a:gd name="connsiteY62" fmla="*/ 3126583 h 3188466"/>
              <a:gd name="connsiteX63" fmla="*/ 9333795 w 12202113"/>
              <a:gd name="connsiteY63" fmla="*/ 3132083 h 3188466"/>
              <a:gd name="connsiteX64" fmla="*/ 9321736 w 12202113"/>
              <a:gd name="connsiteY64" fmla="*/ 3135834 h 3188466"/>
              <a:gd name="connsiteX65" fmla="*/ 9319405 w 12202113"/>
              <a:gd name="connsiteY65" fmla="*/ 3135561 h 3188466"/>
              <a:gd name="connsiteX66" fmla="*/ 9302847 w 12202113"/>
              <a:gd name="connsiteY66" fmla="*/ 3137746 h 3188466"/>
              <a:gd name="connsiteX67" fmla="*/ 9300930 w 12202113"/>
              <a:gd name="connsiteY67" fmla="*/ 3139687 h 3188466"/>
              <a:gd name="connsiteX68" fmla="*/ 9290106 w 12202113"/>
              <a:gd name="connsiteY68" fmla="*/ 3141645 h 3188466"/>
              <a:gd name="connsiteX69" fmla="*/ 9270220 w 12202113"/>
              <a:gd name="connsiteY69" fmla="*/ 3146737 h 3188466"/>
              <a:gd name="connsiteX70" fmla="*/ 9265150 w 12202113"/>
              <a:gd name="connsiteY70" fmla="*/ 3146531 h 3188466"/>
              <a:gd name="connsiteX71" fmla="*/ 9233057 w 12202113"/>
              <a:gd name="connsiteY71" fmla="*/ 3152408 h 3188466"/>
              <a:gd name="connsiteX72" fmla="*/ 9231974 w 12202113"/>
              <a:gd name="connsiteY72" fmla="*/ 3151938 h 3188466"/>
              <a:gd name="connsiteX73" fmla="*/ 9220130 w 12202113"/>
              <a:gd name="connsiteY73" fmla="*/ 3151189 h 3188466"/>
              <a:gd name="connsiteX74" fmla="*/ 9198955 w 12202113"/>
              <a:gd name="connsiteY74" fmla="*/ 3151015 h 3188466"/>
              <a:gd name="connsiteX75" fmla="*/ 9142196 w 12202113"/>
              <a:gd name="connsiteY75" fmla="*/ 3143802 h 3188466"/>
              <a:gd name="connsiteX76" fmla="*/ 9108665 w 12202113"/>
              <a:gd name="connsiteY76" fmla="*/ 3149868 h 3188466"/>
              <a:gd name="connsiteX77" fmla="*/ 9014086 w 12202113"/>
              <a:gd name="connsiteY77" fmla="*/ 3150791 h 3188466"/>
              <a:gd name="connsiteX78" fmla="*/ 8915037 w 12202113"/>
              <a:gd name="connsiteY78" fmla="*/ 3140020 h 3188466"/>
              <a:gd name="connsiteX79" fmla="*/ 8815667 w 12202113"/>
              <a:gd name="connsiteY79" fmla="*/ 3138606 h 3188466"/>
              <a:gd name="connsiteX80" fmla="*/ 8779688 w 12202113"/>
              <a:gd name="connsiteY80" fmla="*/ 3138895 h 3188466"/>
              <a:gd name="connsiteX81" fmla="*/ 8715556 w 12202113"/>
              <a:gd name="connsiteY81" fmla="*/ 3135878 h 3188466"/>
              <a:gd name="connsiteX82" fmla="*/ 8686183 w 12202113"/>
              <a:gd name="connsiteY82" fmla="*/ 3132307 h 3188466"/>
              <a:gd name="connsiteX83" fmla="*/ 8684895 w 12202113"/>
              <a:gd name="connsiteY83" fmla="*/ 3132527 h 3188466"/>
              <a:gd name="connsiteX84" fmla="*/ 8682270 w 12202113"/>
              <a:gd name="connsiteY84" fmla="*/ 3130989 h 3188466"/>
              <a:gd name="connsiteX85" fmla="*/ 8676836 w 12202113"/>
              <a:gd name="connsiteY85" fmla="*/ 3130278 h 3188466"/>
              <a:gd name="connsiteX86" fmla="*/ 8662002 w 12202113"/>
              <a:gd name="connsiteY86" fmla="*/ 3130735 h 3188466"/>
              <a:gd name="connsiteX87" fmla="*/ 8656423 w 12202113"/>
              <a:gd name="connsiteY87" fmla="*/ 3131304 h 3188466"/>
              <a:gd name="connsiteX88" fmla="*/ 8648261 w 12202113"/>
              <a:gd name="connsiteY88" fmla="*/ 3131294 h 3188466"/>
              <a:gd name="connsiteX89" fmla="*/ 8648057 w 12202113"/>
              <a:gd name="connsiteY89" fmla="*/ 3131167 h 3188466"/>
              <a:gd name="connsiteX90" fmla="*/ 8640412 w 12202113"/>
              <a:gd name="connsiteY90" fmla="*/ 3131403 h 3188466"/>
              <a:gd name="connsiteX91" fmla="*/ 8603003 w 12202113"/>
              <a:gd name="connsiteY91" fmla="*/ 3134155 h 3188466"/>
              <a:gd name="connsiteX92" fmla="*/ 8553571 w 12202113"/>
              <a:gd name="connsiteY92" fmla="*/ 3122125 h 3188466"/>
              <a:gd name="connsiteX93" fmla="*/ 8533128 w 12202113"/>
              <a:gd name="connsiteY93" fmla="*/ 3120039 h 3188466"/>
              <a:gd name="connsiteX94" fmla="*/ 8522209 w 12202113"/>
              <a:gd name="connsiteY94" fmla="*/ 3118252 h 3188466"/>
              <a:gd name="connsiteX95" fmla="*/ 8521532 w 12202113"/>
              <a:gd name="connsiteY95" fmla="*/ 3117705 h 3188466"/>
              <a:gd name="connsiteX96" fmla="*/ 8485667 w 12202113"/>
              <a:gd name="connsiteY96" fmla="*/ 3120406 h 3188466"/>
              <a:gd name="connsiteX97" fmla="*/ 8480905 w 12202113"/>
              <a:gd name="connsiteY97" fmla="*/ 3119749 h 3188466"/>
              <a:gd name="connsiteX98" fmla="*/ 8457530 w 12202113"/>
              <a:gd name="connsiteY98" fmla="*/ 3122810 h 3188466"/>
              <a:gd name="connsiteX99" fmla="*/ 8445451 w 12202113"/>
              <a:gd name="connsiteY99" fmla="*/ 3123697 h 3188466"/>
              <a:gd name="connsiteX100" fmla="*/ 8442039 w 12202113"/>
              <a:gd name="connsiteY100" fmla="*/ 3125378 h 3188466"/>
              <a:gd name="connsiteX101" fmla="*/ 8424215 w 12202113"/>
              <a:gd name="connsiteY101" fmla="*/ 3125963 h 3188466"/>
              <a:gd name="connsiteX102" fmla="*/ 8422165 w 12202113"/>
              <a:gd name="connsiteY102" fmla="*/ 3125491 h 3188466"/>
              <a:gd name="connsiteX103" fmla="*/ 8407465 w 12202113"/>
              <a:gd name="connsiteY103" fmla="*/ 3127979 h 3188466"/>
              <a:gd name="connsiteX104" fmla="*/ 8395146 w 12202113"/>
              <a:gd name="connsiteY104" fmla="*/ 3132488 h 3188466"/>
              <a:gd name="connsiteX105" fmla="*/ 8243538 w 12202113"/>
              <a:gd name="connsiteY105" fmla="*/ 3129873 h 3188466"/>
              <a:gd name="connsiteX106" fmla="*/ 8112685 w 12202113"/>
              <a:gd name="connsiteY106" fmla="*/ 3148698 h 3188466"/>
              <a:gd name="connsiteX107" fmla="*/ 8026741 w 12202113"/>
              <a:gd name="connsiteY107" fmla="*/ 3154015 h 3188466"/>
              <a:gd name="connsiteX108" fmla="*/ 8030400 w 12202113"/>
              <a:gd name="connsiteY108" fmla="*/ 3146736 h 3188466"/>
              <a:gd name="connsiteX109" fmla="*/ 8002987 w 12202113"/>
              <a:gd name="connsiteY109" fmla="*/ 3135663 h 3188466"/>
              <a:gd name="connsiteX110" fmla="*/ 7798568 w 12202113"/>
              <a:gd name="connsiteY110" fmla="*/ 3141249 h 3188466"/>
              <a:gd name="connsiteX111" fmla="*/ 7746353 w 12202113"/>
              <a:gd name="connsiteY111" fmla="*/ 3137755 h 3188466"/>
              <a:gd name="connsiteX112" fmla="*/ 7700395 w 12202113"/>
              <a:gd name="connsiteY112" fmla="*/ 3144729 h 3188466"/>
              <a:gd name="connsiteX113" fmla="*/ 7681335 w 12202113"/>
              <a:gd name="connsiteY113" fmla="*/ 3141120 h 3188466"/>
              <a:gd name="connsiteX114" fmla="*/ 7678044 w 12202113"/>
              <a:gd name="connsiteY114" fmla="*/ 3140387 h 3188466"/>
              <a:gd name="connsiteX115" fmla="*/ 7664890 w 12202113"/>
              <a:gd name="connsiteY115" fmla="*/ 3139855 h 3188466"/>
              <a:gd name="connsiteX116" fmla="*/ 7661183 w 12202113"/>
              <a:gd name="connsiteY116" fmla="*/ 3136706 h 3188466"/>
              <a:gd name="connsiteX117" fmla="*/ 7641383 w 12202113"/>
              <a:gd name="connsiteY117" fmla="*/ 3133755 h 3188466"/>
              <a:gd name="connsiteX118" fmla="*/ 7617169 w 12202113"/>
              <a:gd name="connsiteY118" fmla="*/ 3133614 h 3188466"/>
              <a:gd name="connsiteX119" fmla="*/ 7531143 w 12202113"/>
              <a:gd name="connsiteY119" fmla="*/ 3132781 h 3188466"/>
              <a:gd name="connsiteX120" fmla="*/ 7517113 w 12202113"/>
              <a:gd name="connsiteY120" fmla="*/ 3134483 h 3188466"/>
              <a:gd name="connsiteX121" fmla="*/ 7471320 w 12202113"/>
              <a:gd name="connsiteY121" fmla="*/ 3131645 h 3188466"/>
              <a:gd name="connsiteX122" fmla="*/ 7430512 w 12202113"/>
              <a:gd name="connsiteY122" fmla="*/ 3131007 h 3188466"/>
              <a:gd name="connsiteX123" fmla="*/ 7404071 w 12202113"/>
              <a:gd name="connsiteY123" fmla="*/ 3132361 h 3188466"/>
              <a:gd name="connsiteX124" fmla="*/ 7397140 w 12202113"/>
              <a:gd name="connsiteY124" fmla="*/ 3131239 h 3188466"/>
              <a:gd name="connsiteX125" fmla="*/ 7370514 w 12202113"/>
              <a:gd name="connsiteY125" fmla="*/ 3130516 h 3188466"/>
              <a:gd name="connsiteX126" fmla="*/ 7356953 w 12202113"/>
              <a:gd name="connsiteY126" fmla="*/ 3132179 h 3188466"/>
              <a:gd name="connsiteX127" fmla="*/ 7343567 w 12202113"/>
              <a:gd name="connsiteY127" fmla="*/ 3128350 h 3188466"/>
              <a:gd name="connsiteX128" fmla="*/ 7340295 w 12202113"/>
              <a:gd name="connsiteY128" fmla="*/ 3125545 h 3188466"/>
              <a:gd name="connsiteX129" fmla="*/ 7321348 w 12202113"/>
              <a:gd name="connsiteY129" fmla="*/ 3126804 h 3188466"/>
              <a:gd name="connsiteX130" fmla="*/ 7305815 w 12202113"/>
              <a:gd name="connsiteY130" fmla="*/ 3124063 h 3188466"/>
              <a:gd name="connsiteX131" fmla="*/ 7292274 w 12202113"/>
              <a:gd name="connsiteY131" fmla="*/ 3125855 h 3188466"/>
              <a:gd name="connsiteX132" fmla="*/ 7286654 w 12202113"/>
              <a:gd name="connsiteY132" fmla="*/ 3125451 h 3188466"/>
              <a:gd name="connsiteX133" fmla="*/ 7272685 w 12202113"/>
              <a:gd name="connsiteY133" fmla="*/ 3124094 h 3188466"/>
              <a:gd name="connsiteX134" fmla="*/ 7248584 w 12202113"/>
              <a:gd name="connsiteY134" fmla="*/ 3121080 h 3188466"/>
              <a:gd name="connsiteX135" fmla="*/ 7241065 w 12202113"/>
              <a:gd name="connsiteY135" fmla="*/ 3120661 h 3188466"/>
              <a:gd name="connsiteX136" fmla="*/ 7224696 w 12202113"/>
              <a:gd name="connsiteY136" fmla="*/ 3116051 h 3188466"/>
              <a:gd name="connsiteX137" fmla="*/ 7193009 w 12202113"/>
              <a:gd name="connsiteY137" fmla="*/ 3112108 h 3188466"/>
              <a:gd name="connsiteX138" fmla="*/ 7137220 w 12202113"/>
              <a:gd name="connsiteY138" fmla="*/ 3098354 h 3188466"/>
              <a:gd name="connsiteX139" fmla="*/ 7104427 w 12202113"/>
              <a:gd name="connsiteY139" fmla="*/ 3091790 h 3188466"/>
              <a:gd name="connsiteX140" fmla="*/ 7082240 w 12202113"/>
              <a:gd name="connsiteY140" fmla="*/ 3085740 h 3188466"/>
              <a:gd name="connsiteX141" fmla="*/ 7016754 w 12202113"/>
              <a:gd name="connsiteY141" fmla="*/ 3077196 h 3188466"/>
              <a:gd name="connsiteX142" fmla="*/ 6904436 w 12202113"/>
              <a:gd name="connsiteY142" fmla="*/ 3065900 h 3188466"/>
              <a:gd name="connsiteX143" fmla="*/ 6881434 w 12202113"/>
              <a:gd name="connsiteY143" fmla="*/ 3062865 h 3188466"/>
              <a:gd name="connsiteX144" fmla="*/ 6865273 w 12202113"/>
              <a:gd name="connsiteY144" fmla="*/ 3057749 h 3188466"/>
              <a:gd name="connsiteX145" fmla="*/ 6864671 w 12202113"/>
              <a:gd name="connsiteY145" fmla="*/ 3054378 h 3188466"/>
              <a:gd name="connsiteX146" fmla="*/ 6852599 w 12202113"/>
              <a:gd name="connsiteY146" fmla="*/ 3052306 h 3188466"/>
              <a:gd name="connsiteX147" fmla="*/ 6850143 w 12202113"/>
              <a:gd name="connsiteY147" fmla="*/ 3051232 h 3188466"/>
              <a:gd name="connsiteX148" fmla="*/ 6835301 w 12202113"/>
              <a:gd name="connsiteY148" fmla="*/ 3045593 h 3188466"/>
              <a:gd name="connsiteX149" fmla="*/ 6784871 w 12202113"/>
              <a:gd name="connsiteY149" fmla="*/ 3046562 h 3188466"/>
              <a:gd name="connsiteX150" fmla="*/ 6738245 w 12202113"/>
              <a:gd name="connsiteY150" fmla="*/ 3037055 h 3188466"/>
              <a:gd name="connsiteX151" fmla="*/ 6537703 w 12202113"/>
              <a:gd name="connsiteY151" fmla="*/ 3017736 h 3188466"/>
              <a:gd name="connsiteX152" fmla="*/ 6521858 w 12202113"/>
              <a:gd name="connsiteY152" fmla="*/ 3004158 h 3188466"/>
              <a:gd name="connsiteX153" fmla="*/ 6445069 w 12202113"/>
              <a:gd name="connsiteY153" fmla="*/ 2992470 h 3188466"/>
              <a:gd name="connsiteX154" fmla="*/ 6302447 w 12202113"/>
              <a:gd name="connsiteY154" fmla="*/ 2994274 h 3188466"/>
              <a:gd name="connsiteX155" fmla="*/ 6160029 w 12202113"/>
              <a:gd name="connsiteY155" fmla="*/ 2973666 h 3188466"/>
              <a:gd name="connsiteX156" fmla="*/ 6144046 w 12202113"/>
              <a:gd name="connsiteY156" fmla="*/ 2976380 h 3188466"/>
              <a:gd name="connsiteX157" fmla="*/ 6127670 w 12202113"/>
              <a:gd name="connsiteY157" fmla="*/ 2976929 h 3188466"/>
              <a:gd name="connsiteX158" fmla="*/ 6126155 w 12202113"/>
              <a:gd name="connsiteY158" fmla="*/ 2976245 h 3188466"/>
              <a:gd name="connsiteX159" fmla="*/ 6108575 w 12202113"/>
              <a:gd name="connsiteY159" fmla="*/ 2974651 h 3188466"/>
              <a:gd name="connsiteX160" fmla="*/ 6103746 w 12202113"/>
              <a:gd name="connsiteY160" fmla="*/ 2975803 h 3188466"/>
              <a:gd name="connsiteX161" fmla="*/ 6091377 w 12202113"/>
              <a:gd name="connsiteY161" fmla="*/ 2975180 h 3188466"/>
              <a:gd name="connsiteX162" fmla="*/ 6066183 w 12202113"/>
              <a:gd name="connsiteY162" fmla="*/ 2975222 h 3188466"/>
              <a:gd name="connsiteX163" fmla="*/ 6063287 w 12202113"/>
              <a:gd name="connsiteY163" fmla="*/ 2974353 h 3188466"/>
              <a:gd name="connsiteX164" fmla="*/ 6054813 w 12202113"/>
              <a:gd name="connsiteY164" fmla="*/ 2974911 h 3188466"/>
              <a:gd name="connsiteX165" fmla="*/ 6050809 w 12202113"/>
              <a:gd name="connsiteY165" fmla="*/ 2973985 h 3188466"/>
              <a:gd name="connsiteX166" fmla="*/ 6013979 w 12202113"/>
              <a:gd name="connsiteY166" fmla="*/ 2974553 h 3188466"/>
              <a:gd name="connsiteX167" fmla="*/ 6013800 w 12202113"/>
              <a:gd name="connsiteY167" fmla="*/ 2973973 h 3188466"/>
              <a:gd name="connsiteX168" fmla="*/ 6004866 w 12202113"/>
              <a:gd name="connsiteY168" fmla="*/ 2971570 h 3188466"/>
              <a:gd name="connsiteX169" fmla="*/ 5987036 w 12202113"/>
              <a:gd name="connsiteY169" fmla="*/ 2968315 h 3188466"/>
              <a:gd name="connsiteX170" fmla="*/ 5950027 w 12202113"/>
              <a:gd name="connsiteY170" fmla="*/ 2953546 h 3188466"/>
              <a:gd name="connsiteX171" fmla="*/ 5911668 w 12202113"/>
              <a:gd name="connsiteY171" fmla="*/ 2954074 h 3188466"/>
              <a:gd name="connsiteX172" fmla="*/ 5904110 w 12202113"/>
              <a:gd name="connsiteY172" fmla="*/ 2953861 h 3188466"/>
              <a:gd name="connsiteX173" fmla="*/ 5904026 w 12202113"/>
              <a:gd name="connsiteY173" fmla="*/ 2953724 h 3188466"/>
              <a:gd name="connsiteX174" fmla="*/ 5896189 w 12202113"/>
              <a:gd name="connsiteY174" fmla="*/ 2953236 h 3188466"/>
              <a:gd name="connsiteX175" fmla="*/ 5890331 w 12202113"/>
              <a:gd name="connsiteY175" fmla="*/ 2953471 h 3188466"/>
              <a:gd name="connsiteX176" fmla="*/ 5875672 w 12202113"/>
              <a:gd name="connsiteY176" fmla="*/ 2953056 h 3188466"/>
              <a:gd name="connsiteX177" fmla="*/ 5871070 w 12202113"/>
              <a:gd name="connsiteY177" fmla="*/ 2952035 h 3188466"/>
              <a:gd name="connsiteX178" fmla="*/ 5869888 w 12202113"/>
              <a:gd name="connsiteY178" fmla="*/ 2950364 h 3188466"/>
              <a:gd name="connsiteX179" fmla="*/ 5868461 w 12202113"/>
              <a:gd name="connsiteY179" fmla="*/ 2950506 h 3188466"/>
              <a:gd name="connsiteX180" fmla="*/ 5843343 w 12202113"/>
              <a:gd name="connsiteY180" fmla="*/ 2945262 h 3188466"/>
              <a:gd name="connsiteX181" fmla="*/ 5784331 w 12202113"/>
              <a:gd name="connsiteY181" fmla="*/ 2938531 h 3188466"/>
              <a:gd name="connsiteX182" fmla="*/ 5749498 w 12202113"/>
              <a:gd name="connsiteY182" fmla="*/ 2936713 h 3188466"/>
              <a:gd name="connsiteX183" fmla="*/ 5655214 w 12202113"/>
              <a:gd name="connsiteY183" fmla="*/ 2929503 h 3188466"/>
              <a:gd name="connsiteX184" fmla="*/ 5561446 w 12202113"/>
              <a:gd name="connsiteY184" fmla="*/ 2920575 h 3188466"/>
              <a:gd name="connsiteX185" fmla="*/ 5519456 w 12202113"/>
              <a:gd name="connsiteY185" fmla="*/ 2906631 h 3188466"/>
              <a:gd name="connsiteX186" fmla="*/ 5514099 w 12202113"/>
              <a:gd name="connsiteY186" fmla="*/ 2906097 h 3188466"/>
              <a:gd name="connsiteX187" fmla="*/ 5499273 w 12202113"/>
              <a:gd name="connsiteY187" fmla="*/ 2907057 h 3188466"/>
              <a:gd name="connsiteX188" fmla="*/ 5493664 w 12202113"/>
              <a:gd name="connsiteY188" fmla="*/ 2907817 h 3188466"/>
              <a:gd name="connsiteX189" fmla="*/ 5485530 w 12202113"/>
              <a:gd name="connsiteY189" fmla="*/ 2908080 h 3188466"/>
              <a:gd name="connsiteX190" fmla="*/ 5485337 w 12202113"/>
              <a:gd name="connsiteY190" fmla="*/ 2907959 h 3188466"/>
              <a:gd name="connsiteX191" fmla="*/ 5477696 w 12202113"/>
              <a:gd name="connsiteY191" fmla="*/ 2908455 h 3188466"/>
              <a:gd name="connsiteX192" fmla="*/ 5440170 w 12202113"/>
              <a:gd name="connsiteY192" fmla="*/ 2912482 h 3188466"/>
              <a:gd name="connsiteX193" fmla="*/ 5391911 w 12202113"/>
              <a:gd name="connsiteY193" fmla="*/ 2902040 h 3188466"/>
              <a:gd name="connsiteX194" fmla="*/ 5371708 w 12202113"/>
              <a:gd name="connsiteY194" fmla="*/ 2900629 h 3188466"/>
              <a:gd name="connsiteX195" fmla="*/ 5360976 w 12202113"/>
              <a:gd name="connsiteY195" fmla="*/ 2899197 h 3188466"/>
              <a:gd name="connsiteX196" fmla="*/ 5360345 w 12202113"/>
              <a:gd name="connsiteY196" fmla="*/ 2898671 h 3188466"/>
              <a:gd name="connsiteX197" fmla="*/ 5324367 w 12202113"/>
              <a:gd name="connsiteY197" fmla="*/ 2902593 h 3188466"/>
              <a:gd name="connsiteX198" fmla="*/ 5319673 w 12202113"/>
              <a:gd name="connsiteY198" fmla="*/ 2902094 h 3188466"/>
              <a:gd name="connsiteX199" fmla="*/ 5296114 w 12202113"/>
              <a:gd name="connsiteY199" fmla="*/ 2905958 h 3188466"/>
              <a:gd name="connsiteX200" fmla="*/ 5283999 w 12202113"/>
              <a:gd name="connsiteY200" fmla="*/ 2907258 h 3188466"/>
              <a:gd name="connsiteX201" fmla="*/ 5280460 w 12202113"/>
              <a:gd name="connsiteY201" fmla="*/ 2909063 h 3188466"/>
              <a:gd name="connsiteX202" fmla="*/ 5262637 w 12202113"/>
              <a:gd name="connsiteY202" fmla="*/ 2910250 h 3188466"/>
              <a:gd name="connsiteX203" fmla="*/ 5260635 w 12202113"/>
              <a:gd name="connsiteY203" fmla="*/ 2909845 h 3188466"/>
              <a:gd name="connsiteX204" fmla="*/ 5245770 w 12202113"/>
              <a:gd name="connsiteY204" fmla="*/ 2912842 h 3188466"/>
              <a:gd name="connsiteX205" fmla="*/ 5233108 w 12202113"/>
              <a:gd name="connsiteY205" fmla="*/ 2917794 h 3188466"/>
              <a:gd name="connsiteX206" fmla="*/ 5082201 w 12202113"/>
              <a:gd name="connsiteY206" fmla="*/ 2920260 h 3188466"/>
              <a:gd name="connsiteX207" fmla="*/ 4939211 w 12202113"/>
              <a:gd name="connsiteY207" fmla="*/ 2931760 h 3188466"/>
              <a:gd name="connsiteX208" fmla="*/ 4794309 w 12202113"/>
              <a:gd name="connsiteY208" fmla="*/ 2937227 h 3188466"/>
              <a:gd name="connsiteX209" fmla="*/ 4637676 w 12202113"/>
              <a:gd name="connsiteY209" fmla="*/ 2946666 h 3188466"/>
              <a:gd name="connsiteX210" fmla="*/ 4585922 w 12202113"/>
              <a:gd name="connsiteY210" fmla="*/ 2944906 h 3188466"/>
              <a:gd name="connsiteX211" fmla="*/ 4539516 w 12202113"/>
              <a:gd name="connsiteY211" fmla="*/ 2953466 h 3188466"/>
              <a:gd name="connsiteX212" fmla="*/ 4520819 w 12202113"/>
              <a:gd name="connsiteY212" fmla="*/ 2950477 h 3188466"/>
              <a:gd name="connsiteX213" fmla="*/ 4517604 w 12202113"/>
              <a:gd name="connsiteY213" fmla="*/ 2949852 h 3188466"/>
              <a:gd name="connsiteX214" fmla="*/ 4504537 w 12202113"/>
              <a:gd name="connsiteY214" fmla="*/ 2949759 h 3188466"/>
              <a:gd name="connsiteX215" fmla="*/ 4501104 w 12202113"/>
              <a:gd name="connsiteY215" fmla="*/ 2946715 h 3188466"/>
              <a:gd name="connsiteX216" fmla="*/ 4342695 w 12202113"/>
              <a:gd name="connsiteY216" fmla="*/ 2951638 h 3188466"/>
              <a:gd name="connsiteX217" fmla="*/ 4274096 w 12202113"/>
              <a:gd name="connsiteY217" fmla="*/ 2953640 h 3188466"/>
              <a:gd name="connsiteX218" fmla="*/ 4248170 w 12202113"/>
              <a:gd name="connsiteY218" fmla="*/ 2951384 h 3188466"/>
              <a:gd name="connsiteX219" fmla="*/ 4147924 w 12202113"/>
              <a:gd name="connsiteY219" fmla="*/ 2945945 h 3188466"/>
              <a:gd name="connsiteX220" fmla="*/ 4061825 w 12202113"/>
              <a:gd name="connsiteY220" fmla="*/ 2944206 h 3188466"/>
              <a:gd name="connsiteX221" fmla="*/ 3998557 w 12202113"/>
              <a:gd name="connsiteY221" fmla="*/ 2955821 h 3188466"/>
              <a:gd name="connsiteX222" fmla="*/ 3993107 w 12202113"/>
              <a:gd name="connsiteY222" fmla="*/ 2953708 h 3188466"/>
              <a:gd name="connsiteX223" fmla="*/ 3949713 w 12202113"/>
              <a:gd name="connsiteY223" fmla="*/ 2955441 h 3188466"/>
              <a:gd name="connsiteX224" fmla="*/ 3797284 w 12202113"/>
              <a:gd name="connsiteY224" fmla="*/ 2977037 h 3188466"/>
              <a:gd name="connsiteX225" fmla="*/ 3712498 w 12202113"/>
              <a:gd name="connsiteY225" fmla="*/ 2979996 h 3188466"/>
              <a:gd name="connsiteX226" fmla="*/ 3682471 w 12202113"/>
              <a:gd name="connsiteY226" fmla="*/ 2978543 h 3188466"/>
              <a:gd name="connsiteX227" fmla="*/ 3632163 w 12202113"/>
              <a:gd name="connsiteY227" fmla="*/ 2976264 h 3188466"/>
              <a:gd name="connsiteX228" fmla="*/ 3594728 w 12202113"/>
              <a:gd name="connsiteY228" fmla="*/ 2968398 h 3188466"/>
              <a:gd name="connsiteX229" fmla="*/ 3552594 w 12202113"/>
              <a:gd name="connsiteY229" fmla="*/ 2968934 h 3188466"/>
              <a:gd name="connsiteX230" fmla="*/ 3542589 w 12202113"/>
              <a:gd name="connsiteY230" fmla="*/ 2977031 h 3188466"/>
              <a:gd name="connsiteX231" fmla="*/ 3497591 w 12202113"/>
              <a:gd name="connsiteY231" fmla="*/ 2975018 h 3188466"/>
              <a:gd name="connsiteX232" fmla="*/ 3429352 w 12202113"/>
              <a:gd name="connsiteY232" fmla="*/ 2971090 h 3188466"/>
              <a:gd name="connsiteX233" fmla="*/ 3389938 w 12202113"/>
              <a:gd name="connsiteY233" fmla="*/ 2970884 h 3188466"/>
              <a:gd name="connsiteX234" fmla="*/ 3282344 w 12202113"/>
              <a:gd name="connsiteY234" fmla="*/ 2968084 h 3188466"/>
              <a:gd name="connsiteX235" fmla="*/ 3174624 w 12202113"/>
              <a:gd name="connsiteY235" fmla="*/ 2963576 h 3188466"/>
              <a:gd name="connsiteX236" fmla="*/ 3111077 w 12202113"/>
              <a:gd name="connsiteY236" fmla="*/ 2951285 h 3188466"/>
              <a:gd name="connsiteX237" fmla="*/ 3022501 w 12202113"/>
              <a:gd name="connsiteY237" fmla="*/ 2948619 h 3188466"/>
              <a:gd name="connsiteX238" fmla="*/ 3007714 w 12202113"/>
              <a:gd name="connsiteY238" fmla="*/ 2946762 h 3188466"/>
              <a:gd name="connsiteX239" fmla="*/ 2903098 w 12202113"/>
              <a:gd name="connsiteY239" fmla="*/ 2940576 h 3188466"/>
              <a:gd name="connsiteX240" fmla="*/ 2781591 w 12202113"/>
              <a:gd name="connsiteY240" fmla="*/ 2946394 h 3188466"/>
              <a:gd name="connsiteX241" fmla="*/ 2627942 w 12202113"/>
              <a:gd name="connsiteY241" fmla="*/ 2919996 h 3188466"/>
              <a:gd name="connsiteX242" fmla="*/ 2354959 w 12202113"/>
              <a:gd name="connsiteY242" fmla="*/ 2882080 h 3188466"/>
              <a:gd name="connsiteX243" fmla="*/ 2063184 w 12202113"/>
              <a:gd name="connsiteY243" fmla="*/ 2879109 h 3188466"/>
              <a:gd name="connsiteX244" fmla="*/ 1986946 w 12202113"/>
              <a:gd name="connsiteY244" fmla="*/ 2887619 h 3188466"/>
              <a:gd name="connsiteX245" fmla="*/ 1763479 w 12202113"/>
              <a:gd name="connsiteY245" fmla="*/ 2909077 h 3188466"/>
              <a:gd name="connsiteX246" fmla="*/ 1537980 w 12202113"/>
              <a:gd name="connsiteY246" fmla="*/ 2960398 h 3188466"/>
              <a:gd name="connsiteX247" fmla="*/ 1395229 w 12202113"/>
              <a:gd name="connsiteY247" fmla="*/ 2975625 h 3188466"/>
              <a:gd name="connsiteX248" fmla="*/ 1327834 w 12202113"/>
              <a:gd name="connsiteY248" fmla="*/ 2989485 h 3188466"/>
              <a:gd name="connsiteX249" fmla="*/ 1280757 w 12202113"/>
              <a:gd name="connsiteY249" fmla="*/ 2992959 h 3188466"/>
              <a:gd name="connsiteX250" fmla="*/ 1252582 w 12202113"/>
              <a:gd name="connsiteY250" fmla="*/ 2995877 h 3188466"/>
              <a:gd name="connsiteX251" fmla="*/ 1204670 w 12202113"/>
              <a:gd name="connsiteY251" fmla="*/ 3014826 h 3188466"/>
              <a:gd name="connsiteX252" fmla="*/ 1020457 w 12202113"/>
              <a:gd name="connsiteY252" fmla="*/ 3031603 h 3188466"/>
              <a:gd name="connsiteX253" fmla="*/ 843248 w 12202113"/>
              <a:gd name="connsiteY253" fmla="*/ 3026954 h 3188466"/>
              <a:gd name="connsiteX254" fmla="*/ 583517 w 12202113"/>
              <a:gd name="connsiteY254" fmla="*/ 3089095 h 3188466"/>
              <a:gd name="connsiteX255" fmla="*/ 556836 w 12202113"/>
              <a:gd name="connsiteY255" fmla="*/ 3094374 h 3188466"/>
              <a:gd name="connsiteX256" fmla="*/ 412089 w 12202113"/>
              <a:gd name="connsiteY256" fmla="*/ 3121334 h 3188466"/>
              <a:gd name="connsiteX257" fmla="*/ 83929 w 12202113"/>
              <a:gd name="connsiteY257" fmla="*/ 3150566 h 3188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Lst>
            <a:rect l="l" t="t" r="r" b="b"/>
            <a:pathLst>
              <a:path w="12202113" h="3188466">
                <a:moveTo>
                  <a:pt x="0" y="3188466"/>
                </a:moveTo>
                <a:lnTo>
                  <a:pt x="10116" y="2657641"/>
                </a:lnTo>
                <a:lnTo>
                  <a:pt x="10116" y="0"/>
                </a:lnTo>
                <a:lnTo>
                  <a:pt x="12202113" y="0"/>
                </a:lnTo>
                <a:lnTo>
                  <a:pt x="12202113" y="2879832"/>
                </a:lnTo>
                <a:lnTo>
                  <a:pt x="12198167" y="2880360"/>
                </a:lnTo>
                <a:cubicBezTo>
                  <a:pt x="12163116" y="2884349"/>
                  <a:pt x="12143771" y="2884544"/>
                  <a:pt x="12122128" y="2887194"/>
                </a:cubicBezTo>
                <a:cubicBezTo>
                  <a:pt x="12087086" y="2893347"/>
                  <a:pt x="12050015" y="2907304"/>
                  <a:pt x="12028868" y="2911786"/>
                </a:cubicBezTo>
                <a:lnTo>
                  <a:pt x="11995238" y="2914090"/>
                </a:lnTo>
                <a:lnTo>
                  <a:pt x="11996460" y="2918442"/>
                </a:lnTo>
                <a:lnTo>
                  <a:pt x="11983968" y="2918762"/>
                </a:lnTo>
                <a:lnTo>
                  <a:pt x="11956084" y="2918868"/>
                </a:lnTo>
                <a:cubicBezTo>
                  <a:pt x="11938684" y="2919526"/>
                  <a:pt x="11890300" y="2918483"/>
                  <a:pt x="11872586" y="2920076"/>
                </a:cubicBezTo>
                <a:cubicBezTo>
                  <a:pt x="11867476" y="2924717"/>
                  <a:pt x="11859589" y="2927247"/>
                  <a:pt x="11849804" y="2928420"/>
                </a:cubicBezTo>
                <a:lnTo>
                  <a:pt x="11828254" y="2928551"/>
                </a:lnTo>
                <a:lnTo>
                  <a:pt x="11703277" y="2939735"/>
                </a:lnTo>
                <a:lnTo>
                  <a:pt x="11686094" y="2940570"/>
                </a:lnTo>
                <a:lnTo>
                  <a:pt x="11676788" y="2944321"/>
                </a:lnTo>
                <a:cubicBezTo>
                  <a:pt x="11669684" y="2945069"/>
                  <a:pt x="11649276" y="2944585"/>
                  <a:pt x="11643464" y="2945066"/>
                </a:cubicBezTo>
                <a:lnTo>
                  <a:pt x="11641922" y="2947200"/>
                </a:lnTo>
                <a:cubicBezTo>
                  <a:pt x="11623408" y="2950611"/>
                  <a:pt x="11553770" y="2961969"/>
                  <a:pt x="11532386" y="2965529"/>
                </a:cubicBezTo>
                <a:cubicBezTo>
                  <a:pt x="11528114" y="2962248"/>
                  <a:pt x="11518548" y="2967430"/>
                  <a:pt x="11513619" y="2968556"/>
                </a:cubicBezTo>
                <a:cubicBezTo>
                  <a:pt x="11512856" y="2966346"/>
                  <a:pt x="11500924" y="2965672"/>
                  <a:pt x="11497404" y="2967639"/>
                </a:cubicBezTo>
                <a:cubicBezTo>
                  <a:pt x="11413522" y="2978420"/>
                  <a:pt x="11455510" y="2956141"/>
                  <a:pt x="11407630" y="2970255"/>
                </a:cubicBezTo>
                <a:cubicBezTo>
                  <a:pt x="11399160" y="2971190"/>
                  <a:pt x="11392296" y="2970299"/>
                  <a:pt x="11386276" y="2968648"/>
                </a:cubicBezTo>
                <a:lnTo>
                  <a:pt x="11377296" y="2965257"/>
                </a:lnTo>
                <a:lnTo>
                  <a:pt x="11342536" y="2971666"/>
                </a:lnTo>
                <a:cubicBezTo>
                  <a:pt x="11325414" y="2973900"/>
                  <a:pt x="11307393" y="2975381"/>
                  <a:pt x="11288902" y="2976058"/>
                </a:cubicBezTo>
                <a:cubicBezTo>
                  <a:pt x="11284753" y="2971542"/>
                  <a:pt x="11270239" y="2977957"/>
                  <a:pt x="11263411" y="2979228"/>
                </a:cubicBezTo>
                <a:cubicBezTo>
                  <a:pt x="11263340" y="2976278"/>
                  <a:pt x="11248212" y="2974865"/>
                  <a:pt x="11242843" y="2977303"/>
                </a:cubicBezTo>
                <a:cubicBezTo>
                  <a:pt x="11130019" y="2987845"/>
                  <a:pt x="11193504" y="2960297"/>
                  <a:pt x="11125798" y="2976816"/>
                </a:cubicBezTo>
                <a:cubicBezTo>
                  <a:pt x="11114472" y="2977677"/>
                  <a:pt x="11105974" y="2976199"/>
                  <a:pt x="11098884" y="2973758"/>
                </a:cubicBezTo>
                <a:lnTo>
                  <a:pt x="11086128" y="2967663"/>
                </a:lnTo>
                <a:lnTo>
                  <a:pt x="11076132" y="2969836"/>
                </a:lnTo>
                <a:cubicBezTo>
                  <a:pt x="11038408" y="2970007"/>
                  <a:pt x="11027285" y="2963760"/>
                  <a:pt x="11005337" y="2970053"/>
                </a:cubicBezTo>
                <a:cubicBezTo>
                  <a:pt x="10972902" y="2956973"/>
                  <a:pt x="10983824" y="2968749"/>
                  <a:pt x="10959154" y="2970750"/>
                </a:cubicBezTo>
                <a:cubicBezTo>
                  <a:pt x="10939692" y="2973358"/>
                  <a:pt x="10975422" y="2978377"/>
                  <a:pt x="10956347" y="2979118"/>
                </a:cubicBezTo>
                <a:cubicBezTo>
                  <a:pt x="10935712" y="2975741"/>
                  <a:pt x="10936682" y="2986229"/>
                  <a:pt x="10915223" y="2982099"/>
                </a:cubicBezTo>
                <a:cubicBezTo>
                  <a:pt x="10920436" y="2974198"/>
                  <a:pt x="10872877" y="2983630"/>
                  <a:pt x="10871398" y="2976728"/>
                </a:cubicBezTo>
                <a:cubicBezTo>
                  <a:pt x="10853171" y="2986599"/>
                  <a:pt x="10844013" y="2974439"/>
                  <a:pt x="10819743" y="2977481"/>
                </a:cubicBezTo>
                <a:cubicBezTo>
                  <a:pt x="10808314" y="2981215"/>
                  <a:pt x="10800068" y="2981856"/>
                  <a:pt x="10788834" y="2977840"/>
                </a:cubicBezTo>
                <a:cubicBezTo>
                  <a:pt x="10736185" y="2996020"/>
                  <a:pt x="10756982" y="2978653"/>
                  <a:pt x="10707711" y="2985644"/>
                </a:cubicBezTo>
                <a:cubicBezTo>
                  <a:pt x="10665262" y="2992997"/>
                  <a:pt x="10617142" y="2997767"/>
                  <a:pt x="10576086" y="3015319"/>
                </a:cubicBezTo>
                <a:cubicBezTo>
                  <a:pt x="10568550" y="3020292"/>
                  <a:pt x="10550046" y="3022174"/>
                  <a:pt x="10534761" y="3019524"/>
                </a:cubicBezTo>
                <a:cubicBezTo>
                  <a:pt x="10532134" y="3019067"/>
                  <a:pt x="10529698" y="3018490"/>
                  <a:pt x="10527537" y="3017814"/>
                </a:cubicBezTo>
                <a:cubicBezTo>
                  <a:pt x="10492044" y="3020498"/>
                  <a:pt x="10362224" y="3032491"/>
                  <a:pt x="10321799" y="3035635"/>
                </a:cubicBezTo>
                <a:cubicBezTo>
                  <a:pt x="10318526" y="3029246"/>
                  <a:pt x="10298084" y="3040774"/>
                  <a:pt x="10284989" y="3036679"/>
                </a:cubicBezTo>
                <a:cubicBezTo>
                  <a:pt x="10275610" y="3033085"/>
                  <a:pt x="10267220" y="3035744"/>
                  <a:pt x="10257423" y="3036027"/>
                </a:cubicBezTo>
                <a:cubicBezTo>
                  <a:pt x="10244517" y="3033202"/>
                  <a:pt x="10202424" y="3038304"/>
                  <a:pt x="10191450" y="3041963"/>
                </a:cubicBezTo>
                <a:cubicBezTo>
                  <a:pt x="10165225" y="3054679"/>
                  <a:pt x="10105634" y="3045236"/>
                  <a:pt x="10083845" y="3054978"/>
                </a:cubicBezTo>
                <a:cubicBezTo>
                  <a:pt x="10075939" y="3056408"/>
                  <a:pt x="10068203" y="3056986"/>
                  <a:pt x="10060611" y="3057035"/>
                </a:cubicBezTo>
                <a:lnTo>
                  <a:pt x="10039363" y="3055961"/>
                </a:lnTo>
                <a:lnTo>
                  <a:pt x="10033322" y="3053238"/>
                </a:lnTo>
                <a:lnTo>
                  <a:pt x="10020337" y="3053912"/>
                </a:lnTo>
                <a:lnTo>
                  <a:pt x="10016616" y="3053498"/>
                </a:lnTo>
                <a:cubicBezTo>
                  <a:pt x="10009508" y="3052695"/>
                  <a:pt x="10002492" y="3051995"/>
                  <a:pt x="9995549" y="3051719"/>
                </a:cubicBezTo>
                <a:cubicBezTo>
                  <a:pt x="10004680" y="3065377"/>
                  <a:pt x="9937988" y="3051618"/>
                  <a:pt x="9957212" y="3062663"/>
                </a:cubicBezTo>
                <a:cubicBezTo>
                  <a:pt x="9920646" y="3063519"/>
                  <a:pt x="9948538" y="3073806"/>
                  <a:pt x="9904584" y="3063999"/>
                </a:cubicBezTo>
                <a:cubicBezTo>
                  <a:pt x="9847813" y="3075166"/>
                  <a:pt x="9758323" y="3071010"/>
                  <a:pt x="9713857" y="3087955"/>
                </a:cubicBezTo>
                <a:cubicBezTo>
                  <a:pt x="9719380" y="3081485"/>
                  <a:pt x="9695453" y="3076466"/>
                  <a:pt x="9678879" y="3079676"/>
                </a:cubicBezTo>
                <a:cubicBezTo>
                  <a:pt x="9698255" y="3054291"/>
                  <a:pt x="9613348" y="3102551"/>
                  <a:pt x="9598760" y="3085228"/>
                </a:cubicBezTo>
                <a:cubicBezTo>
                  <a:pt x="9598041" y="3101310"/>
                  <a:pt x="9523758" y="3128579"/>
                  <a:pt x="9488796" y="3115384"/>
                </a:cubicBezTo>
                <a:cubicBezTo>
                  <a:pt x="9435532" y="3118605"/>
                  <a:pt x="9397815" y="3131898"/>
                  <a:pt x="9341972" y="3126583"/>
                </a:cubicBezTo>
                <a:cubicBezTo>
                  <a:pt x="9340239" y="3128735"/>
                  <a:pt x="9337399" y="3130536"/>
                  <a:pt x="9333795" y="3132083"/>
                </a:cubicBezTo>
                <a:lnTo>
                  <a:pt x="9321736" y="3135834"/>
                </a:lnTo>
                <a:lnTo>
                  <a:pt x="9319405" y="3135561"/>
                </a:lnTo>
                <a:cubicBezTo>
                  <a:pt x="9310247" y="3135512"/>
                  <a:pt x="9305558" y="3136419"/>
                  <a:pt x="9302847" y="3137746"/>
                </a:cubicBezTo>
                <a:lnTo>
                  <a:pt x="9300930" y="3139687"/>
                </a:lnTo>
                <a:lnTo>
                  <a:pt x="9290106" y="3141645"/>
                </a:lnTo>
                <a:lnTo>
                  <a:pt x="9270220" y="3146737"/>
                </a:lnTo>
                <a:lnTo>
                  <a:pt x="9265150" y="3146531"/>
                </a:lnTo>
                <a:lnTo>
                  <a:pt x="9233057" y="3152408"/>
                </a:lnTo>
                <a:lnTo>
                  <a:pt x="9231974" y="3151938"/>
                </a:lnTo>
                <a:cubicBezTo>
                  <a:pt x="9228816" y="3151020"/>
                  <a:pt x="9225099" y="3150595"/>
                  <a:pt x="9220130" y="3151189"/>
                </a:cubicBezTo>
                <a:cubicBezTo>
                  <a:pt x="9218372" y="3142213"/>
                  <a:pt x="9213458" y="3148467"/>
                  <a:pt x="9198955" y="3151015"/>
                </a:cubicBezTo>
                <a:cubicBezTo>
                  <a:pt x="9192986" y="3137641"/>
                  <a:pt x="9157451" y="3149750"/>
                  <a:pt x="9142196" y="3143802"/>
                </a:cubicBezTo>
                <a:cubicBezTo>
                  <a:pt x="9131673" y="3145976"/>
                  <a:pt x="9120437" y="3148030"/>
                  <a:pt x="9108665" y="3149868"/>
                </a:cubicBezTo>
                <a:lnTo>
                  <a:pt x="9014086" y="3150791"/>
                </a:lnTo>
                <a:lnTo>
                  <a:pt x="8915037" y="3140020"/>
                </a:lnTo>
                <a:cubicBezTo>
                  <a:pt x="8878400" y="3139785"/>
                  <a:pt x="8846675" y="3135786"/>
                  <a:pt x="8815667" y="3138606"/>
                </a:cubicBezTo>
                <a:cubicBezTo>
                  <a:pt x="8803071" y="3135495"/>
                  <a:pt x="8791199" y="3134238"/>
                  <a:pt x="8779688" y="3138895"/>
                </a:cubicBezTo>
                <a:cubicBezTo>
                  <a:pt x="8745498" y="3137342"/>
                  <a:pt x="8737221" y="3130691"/>
                  <a:pt x="8715556" y="3135878"/>
                </a:cubicBezTo>
                <a:cubicBezTo>
                  <a:pt x="8696347" y="3125121"/>
                  <a:pt x="8695210" y="3129227"/>
                  <a:pt x="8686183" y="3132307"/>
                </a:cubicBezTo>
                <a:lnTo>
                  <a:pt x="8684895" y="3132527"/>
                </a:lnTo>
                <a:lnTo>
                  <a:pt x="8682270" y="3130989"/>
                </a:lnTo>
                <a:lnTo>
                  <a:pt x="8676836" y="3130278"/>
                </a:lnTo>
                <a:lnTo>
                  <a:pt x="8662002" y="3130735"/>
                </a:lnTo>
                <a:lnTo>
                  <a:pt x="8656423" y="3131304"/>
                </a:lnTo>
                <a:cubicBezTo>
                  <a:pt x="8652581" y="3131550"/>
                  <a:pt x="8650028" y="3131521"/>
                  <a:pt x="8648261" y="3131294"/>
                </a:cubicBezTo>
                <a:lnTo>
                  <a:pt x="8648057" y="3131167"/>
                </a:lnTo>
                <a:lnTo>
                  <a:pt x="8640412" y="3131403"/>
                </a:lnTo>
                <a:cubicBezTo>
                  <a:pt x="8627510" y="3132092"/>
                  <a:pt x="8614954" y="3133035"/>
                  <a:pt x="8603003" y="3134155"/>
                </a:cubicBezTo>
                <a:cubicBezTo>
                  <a:pt x="8592897" y="3127095"/>
                  <a:pt x="8548738" y="3135435"/>
                  <a:pt x="8553571" y="3122125"/>
                </a:cubicBezTo>
                <a:cubicBezTo>
                  <a:pt x="8537450" y="3123243"/>
                  <a:pt x="8527699" y="3128769"/>
                  <a:pt x="8533128" y="3120039"/>
                </a:cubicBezTo>
                <a:cubicBezTo>
                  <a:pt x="8527821" y="3120156"/>
                  <a:pt x="8524551" y="3119414"/>
                  <a:pt x="8522209" y="3118252"/>
                </a:cubicBezTo>
                <a:lnTo>
                  <a:pt x="8521532" y="3117705"/>
                </a:lnTo>
                <a:lnTo>
                  <a:pt x="8485667" y="3120406"/>
                </a:lnTo>
                <a:lnTo>
                  <a:pt x="8480905" y="3119749"/>
                </a:lnTo>
                <a:lnTo>
                  <a:pt x="8457530" y="3122810"/>
                </a:lnTo>
                <a:lnTo>
                  <a:pt x="8445451" y="3123697"/>
                </a:lnTo>
                <a:lnTo>
                  <a:pt x="8442039" y="3125378"/>
                </a:lnTo>
                <a:cubicBezTo>
                  <a:pt x="8438355" y="3126399"/>
                  <a:pt x="8433075" y="3126839"/>
                  <a:pt x="8424215" y="3125963"/>
                </a:cubicBezTo>
                <a:lnTo>
                  <a:pt x="8422165" y="3125491"/>
                </a:lnTo>
                <a:lnTo>
                  <a:pt x="8407465" y="3127979"/>
                </a:lnTo>
                <a:cubicBezTo>
                  <a:pt x="8402731" y="3129129"/>
                  <a:pt x="8398540" y="3130592"/>
                  <a:pt x="8395146" y="3132488"/>
                </a:cubicBezTo>
                <a:cubicBezTo>
                  <a:pt x="8345093" y="3122354"/>
                  <a:pt x="8297866" y="3131626"/>
                  <a:pt x="8243538" y="3129873"/>
                </a:cubicBezTo>
                <a:cubicBezTo>
                  <a:pt x="8220052" y="3114107"/>
                  <a:pt x="8126172" y="3133411"/>
                  <a:pt x="8112685" y="3148698"/>
                </a:cubicBezTo>
                <a:cubicBezTo>
                  <a:pt x="8112380" y="3135302"/>
                  <a:pt x="8044302" y="3153542"/>
                  <a:pt x="8026741" y="3154015"/>
                </a:cubicBezTo>
                <a:cubicBezTo>
                  <a:pt x="8020887" y="3154173"/>
                  <a:pt x="8020646" y="3152357"/>
                  <a:pt x="8030400" y="3146736"/>
                </a:cubicBezTo>
                <a:cubicBezTo>
                  <a:pt x="8011739" y="3148301"/>
                  <a:pt x="7992477" y="3141339"/>
                  <a:pt x="8002987" y="3135663"/>
                </a:cubicBezTo>
                <a:cubicBezTo>
                  <a:pt x="7946297" y="3147811"/>
                  <a:pt x="7862627" y="3135732"/>
                  <a:pt x="7798568" y="3141249"/>
                </a:cubicBezTo>
                <a:cubicBezTo>
                  <a:pt x="7763645" y="3127901"/>
                  <a:pt x="7782577" y="3140251"/>
                  <a:pt x="7746353" y="3137755"/>
                </a:cubicBezTo>
                <a:cubicBezTo>
                  <a:pt x="7756261" y="3150042"/>
                  <a:pt x="7702377" y="3130861"/>
                  <a:pt x="7700395" y="3144729"/>
                </a:cubicBezTo>
                <a:cubicBezTo>
                  <a:pt x="7693866" y="3143835"/>
                  <a:pt x="7687603" y="3142532"/>
                  <a:pt x="7681335" y="3141120"/>
                </a:cubicBezTo>
                <a:lnTo>
                  <a:pt x="7678044" y="3140387"/>
                </a:lnTo>
                <a:lnTo>
                  <a:pt x="7664890" y="3139855"/>
                </a:lnTo>
                <a:lnTo>
                  <a:pt x="7661183" y="3136706"/>
                </a:lnTo>
                <a:lnTo>
                  <a:pt x="7641383" y="3133755"/>
                </a:lnTo>
                <a:cubicBezTo>
                  <a:pt x="7633967" y="3133115"/>
                  <a:pt x="7625987" y="3132967"/>
                  <a:pt x="7617169" y="3133614"/>
                </a:cubicBezTo>
                <a:cubicBezTo>
                  <a:pt x="7595475" y="3139109"/>
                  <a:pt x="7561695" y="3132374"/>
                  <a:pt x="7531143" y="3132781"/>
                </a:cubicBezTo>
                <a:lnTo>
                  <a:pt x="7517113" y="3134483"/>
                </a:lnTo>
                <a:lnTo>
                  <a:pt x="7471320" y="3131645"/>
                </a:lnTo>
                <a:cubicBezTo>
                  <a:pt x="7458285" y="3131095"/>
                  <a:pt x="7444756" y="3130805"/>
                  <a:pt x="7430512" y="3131007"/>
                </a:cubicBezTo>
                <a:lnTo>
                  <a:pt x="7404071" y="3132361"/>
                </a:lnTo>
                <a:lnTo>
                  <a:pt x="7397140" y="3131239"/>
                </a:lnTo>
                <a:cubicBezTo>
                  <a:pt x="7385068" y="3131364"/>
                  <a:pt x="7369091" y="3135313"/>
                  <a:pt x="7370514" y="3130516"/>
                </a:cubicBezTo>
                <a:lnTo>
                  <a:pt x="7356953" y="3132179"/>
                </a:lnTo>
                <a:lnTo>
                  <a:pt x="7343567" y="3128350"/>
                </a:lnTo>
                <a:cubicBezTo>
                  <a:pt x="7342101" y="3127461"/>
                  <a:pt x="7340998" y="3126514"/>
                  <a:pt x="7340295" y="3125545"/>
                </a:cubicBezTo>
                <a:lnTo>
                  <a:pt x="7321348" y="3126804"/>
                </a:lnTo>
                <a:lnTo>
                  <a:pt x="7305815" y="3124063"/>
                </a:lnTo>
                <a:lnTo>
                  <a:pt x="7292274" y="3125855"/>
                </a:lnTo>
                <a:lnTo>
                  <a:pt x="7286654" y="3125451"/>
                </a:lnTo>
                <a:lnTo>
                  <a:pt x="7272685" y="3124094"/>
                </a:lnTo>
                <a:cubicBezTo>
                  <a:pt x="7265523" y="3123143"/>
                  <a:pt x="7257508" y="3121997"/>
                  <a:pt x="7248584" y="3121080"/>
                </a:cubicBezTo>
                <a:lnTo>
                  <a:pt x="7241065" y="3120661"/>
                </a:lnTo>
                <a:lnTo>
                  <a:pt x="7224696" y="3116051"/>
                </a:lnTo>
                <a:cubicBezTo>
                  <a:pt x="7212786" y="3112566"/>
                  <a:pt x="7203412" y="3110217"/>
                  <a:pt x="7193009" y="3112108"/>
                </a:cubicBezTo>
                <a:cubicBezTo>
                  <a:pt x="7175276" y="3107606"/>
                  <a:pt x="7162888" y="3094987"/>
                  <a:pt x="7137220" y="3098354"/>
                </a:cubicBezTo>
                <a:cubicBezTo>
                  <a:pt x="7145010" y="3092637"/>
                  <a:pt x="7108715" y="3097662"/>
                  <a:pt x="7104427" y="3091790"/>
                </a:cubicBezTo>
                <a:cubicBezTo>
                  <a:pt x="7102447" y="3087061"/>
                  <a:pt x="7090976" y="3087484"/>
                  <a:pt x="7082240" y="3085740"/>
                </a:cubicBezTo>
                <a:cubicBezTo>
                  <a:pt x="7076014" y="3080911"/>
                  <a:pt x="7032058" y="3076501"/>
                  <a:pt x="7016754" y="3077196"/>
                </a:cubicBezTo>
                <a:cubicBezTo>
                  <a:pt x="6973620" y="3082001"/>
                  <a:pt x="6938923" y="3062558"/>
                  <a:pt x="6904436" y="3065900"/>
                </a:cubicBezTo>
                <a:cubicBezTo>
                  <a:pt x="6895406" y="3065445"/>
                  <a:pt x="6887919" y="3064350"/>
                  <a:pt x="6881434" y="3062865"/>
                </a:cubicBezTo>
                <a:lnTo>
                  <a:pt x="6865273" y="3057749"/>
                </a:lnTo>
                <a:cubicBezTo>
                  <a:pt x="6865072" y="3056626"/>
                  <a:pt x="6864871" y="3055502"/>
                  <a:pt x="6864671" y="3054378"/>
                </a:cubicBezTo>
                <a:lnTo>
                  <a:pt x="6852599" y="3052306"/>
                </a:lnTo>
                <a:lnTo>
                  <a:pt x="6850143" y="3051232"/>
                </a:lnTo>
                <a:cubicBezTo>
                  <a:pt x="6845470" y="3049168"/>
                  <a:pt x="6840704" y="3047206"/>
                  <a:pt x="6835301" y="3045593"/>
                </a:cubicBezTo>
                <a:cubicBezTo>
                  <a:pt x="6820447" y="3058242"/>
                  <a:pt x="6786888" y="3033956"/>
                  <a:pt x="6784871" y="3046562"/>
                </a:cubicBezTo>
                <a:cubicBezTo>
                  <a:pt x="6752593" y="3039899"/>
                  <a:pt x="6759140" y="3053646"/>
                  <a:pt x="6738245" y="3037055"/>
                </a:cubicBezTo>
                <a:cubicBezTo>
                  <a:pt x="6671880" y="3034501"/>
                  <a:pt x="6603220" y="3013245"/>
                  <a:pt x="6537703" y="3017736"/>
                </a:cubicBezTo>
                <a:cubicBezTo>
                  <a:pt x="6553051" y="3013722"/>
                  <a:pt x="6541149" y="3004943"/>
                  <a:pt x="6521858" y="3004158"/>
                </a:cubicBezTo>
                <a:cubicBezTo>
                  <a:pt x="6580141" y="2987944"/>
                  <a:pt x="6428765" y="3009117"/>
                  <a:pt x="6445069" y="2992470"/>
                </a:cubicBezTo>
                <a:cubicBezTo>
                  <a:pt x="6417897" y="3005060"/>
                  <a:pt x="6310156" y="3011743"/>
                  <a:pt x="6302447" y="2994274"/>
                </a:cubicBezTo>
                <a:cubicBezTo>
                  <a:pt x="6252173" y="2986131"/>
                  <a:pt x="6198382" y="2989085"/>
                  <a:pt x="6160029" y="2973666"/>
                </a:cubicBezTo>
                <a:cubicBezTo>
                  <a:pt x="6155014" y="2975022"/>
                  <a:pt x="6149642" y="2975878"/>
                  <a:pt x="6144046" y="2976380"/>
                </a:cubicBezTo>
                <a:lnTo>
                  <a:pt x="6127670" y="2976929"/>
                </a:lnTo>
                <a:lnTo>
                  <a:pt x="6126155" y="2976245"/>
                </a:lnTo>
                <a:cubicBezTo>
                  <a:pt x="6118509" y="2974369"/>
                  <a:pt x="6113052" y="2974144"/>
                  <a:pt x="6108575" y="2974651"/>
                </a:cubicBezTo>
                <a:lnTo>
                  <a:pt x="6103746" y="2975803"/>
                </a:lnTo>
                <a:lnTo>
                  <a:pt x="6091377" y="2975180"/>
                </a:lnTo>
                <a:lnTo>
                  <a:pt x="6066183" y="2975222"/>
                </a:lnTo>
                <a:lnTo>
                  <a:pt x="6063287" y="2974353"/>
                </a:lnTo>
                <a:lnTo>
                  <a:pt x="6054813" y="2974911"/>
                </a:lnTo>
                <a:lnTo>
                  <a:pt x="6050809" y="2973985"/>
                </a:lnTo>
                <a:lnTo>
                  <a:pt x="6013979" y="2974553"/>
                </a:lnTo>
                <a:cubicBezTo>
                  <a:pt x="6013918" y="2974361"/>
                  <a:pt x="6013860" y="2974167"/>
                  <a:pt x="6013800" y="2973973"/>
                </a:cubicBezTo>
                <a:cubicBezTo>
                  <a:pt x="6012565" y="2972689"/>
                  <a:pt x="6010070" y="2971765"/>
                  <a:pt x="6004866" y="2971570"/>
                </a:cubicBezTo>
                <a:cubicBezTo>
                  <a:pt x="6017706" y="2963268"/>
                  <a:pt x="6003515" y="2968156"/>
                  <a:pt x="5987036" y="2968315"/>
                </a:cubicBezTo>
                <a:cubicBezTo>
                  <a:pt x="6003302" y="2955458"/>
                  <a:pt x="5953573" y="2961108"/>
                  <a:pt x="5950027" y="2953546"/>
                </a:cubicBezTo>
                <a:cubicBezTo>
                  <a:pt x="5937559" y="2953953"/>
                  <a:pt x="5924668" y="2954151"/>
                  <a:pt x="5911668" y="2954074"/>
                </a:cubicBezTo>
                <a:lnTo>
                  <a:pt x="5904110" y="2953861"/>
                </a:lnTo>
                <a:cubicBezTo>
                  <a:pt x="5904082" y="2953815"/>
                  <a:pt x="5904053" y="2953769"/>
                  <a:pt x="5904026" y="2953724"/>
                </a:cubicBezTo>
                <a:cubicBezTo>
                  <a:pt x="5902528" y="2953395"/>
                  <a:pt x="5900097" y="2953219"/>
                  <a:pt x="5896189" y="2953236"/>
                </a:cubicBezTo>
                <a:lnTo>
                  <a:pt x="5890331" y="2953471"/>
                </a:lnTo>
                <a:lnTo>
                  <a:pt x="5875672" y="2953056"/>
                </a:lnTo>
                <a:lnTo>
                  <a:pt x="5871070" y="2952035"/>
                </a:lnTo>
                <a:lnTo>
                  <a:pt x="5869888" y="2950364"/>
                </a:lnTo>
                <a:lnTo>
                  <a:pt x="5868461" y="2950506"/>
                </a:lnTo>
                <a:cubicBezTo>
                  <a:pt x="5857092" y="2953019"/>
                  <a:pt x="5852416" y="2957005"/>
                  <a:pt x="5843343" y="2945262"/>
                </a:cubicBezTo>
                <a:cubicBezTo>
                  <a:pt x="5817989" y="2949116"/>
                  <a:pt x="5815840" y="2942065"/>
                  <a:pt x="5784331" y="2938531"/>
                </a:cubicBezTo>
                <a:cubicBezTo>
                  <a:pt x="5769202" y="2942455"/>
                  <a:pt x="5758885" y="2940521"/>
                  <a:pt x="5749498" y="2936713"/>
                </a:cubicBezTo>
                <a:cubicBezTo>
                  <a:pt x="5717228" y="2937683"/>
                  <a:pt x="5690227" y="2931877"/>
                  <a:pt x="5655214" y="2929503"/>
                </a:cubicBezTo>
                <a:cubicBezTo>
                  <a:pt x="5614827" y="2933899"/>
                  <a:pt x="5598877" y="2923069"/>
                  <a:pt x="5561446" y="2920575"/>
                </a:cubicBezTo>
                <a:cubicBezTo>
                  <a:pt x="5525084" y="2929276"/>
                  <a:pt x="5537471" y="2911136"/>
                  <a:pt x="5519456" y="2906631"/>
                </a:cubicBezTo>
                <a:lnTo>
                  <a:pt x="5514099" y="2906097"/>
                </a:lnTo>
                <a:lnTo>
                  <a:pt x="5499273" y="2907057"/>
                </a:lnTo>
                <a:lnTo>
                  <a:pt x="5493664" y="2907817"/>
                </a:lnTo>
                <a:cubicBezTo>
                  <a:pt x="5489815" y="2908191"/>
                  <a:pt x="5487270" y="2908250"/>
                  <a:pt x="5485530" y="2908080"/>
                </a:cubicBezTo>
                <a:lnTo>
                  <a:pt x="5485337" y="2907959"/>
                </a:lnTo>
                <a:lnTo>
                  <a:pt x="5477696" y="2908455"/>
                </a:lnTo>
                <a:cubicBezTo>
                  <a:pt x="5464775" y="2909581"/>
                  <a:pt x="5452182" y="2910951"/>
                  <a:pt x="5440170" y="2912482"/>
                </a:cubicBezTo>
                <a:cubicBezTo>
                  <a:pt x="5430698" y="2905718"/>
                  <a:pt x="5385970" y="2915593"/>
                  <a:pt x="5391911" y="2902040"/>
                </a:cubicBezTo>
                <a:cubicBezTo>
                  <a:pt x="5375744" y="2903707"/>
                  <a:pt x="5365560" y="2909594"/>
                  <a:pt x="5371708" y="2900629"/>
                </a:cubicBezTo>
                <a:cubicBezTo>
                  <a:pt x="5366408" y="2900926"/>
                  <a:pt x="5363213" y="2900288"/>
                  <a:pt x="5360976" y="2899197"/>
                </a:cubicBezTo>
                <a:lnTo>
                  <a:pt x="5360345" y="2898671"/>
                </a:lnTo>
                <a:lnTo>
                  <a:pt x="5324367" y="2902593"/>
                </a:lnTo>
                <a:lnTo>
                  <a:pt x="5319673" y="2902094"/>
                </a:lnTo>
                <a:lnTo>
                  <a:pt x="5296114" y="2905958"/>
                </a:lnTo>
                <a:lnTo>
                  <a:pt x="5283999" y="2907258"/>
                </a:lnTo>
                <a:lnTo>
                  <a:pt x="5280460" y="2909063"/>
                </a:lnTo>
                <a:cubicBezTo>
                  <a:pt x="5276699" y="2910214"/>
                  <a:pt x="5271395" y="2910834"/>
                  <a:pt x="5262637" y="2910250"/>
                </a:cubicBezTo>
                <a:lnTo>
                  <a:pt x="5260635" y="2909845"/>
                </a:lnTo>
                <a:lnTo>
                  <a:pt x="5245770" y="2912842"/>
                </a:lnTo>
                <a:cubicBezTo>
                  <a:pt x="5240955" y="2914159"/>
                  <a:pt x="5236652" y="2915770"/>
                  <a:pt x="5233108" y="2917794"/>
                </a:cubicBezTo>
                <a:cubicBezTo>
                  <a:pt x="5184071" y="2909280"/>
                  <a:pt x="5136210" y="2920197"/>
                  <a:pt x="5082201" y="2920260"/>
                </a:cubicBezTo>
                <a:lnTo>
                  <a:pt x="4939211" y="2931760"/>
                </a:lnTo>
                <a:cubicBezTo>
                  <a:pt x="4920477" y="2933960"/>
                  <a:pt x="4783353" y="2943291"/>
                  <a:pt x="4794309" y="2937227"/>
                </a:cubicBezTo>
                <a:cubicBezTo>
                  <a:pt x="4736776" y="2951353"/>
                  <a:pt x="4701995" y="2938961"/>
                  <a:pt x="4637676" y="2946666"/>
                </a:cubicBezTo>
                <a:cubicBezTo>
                  <a:pt x="4603987" y="2934412"/>
                  <a:pt x="4621816" y="2946201"/>
                  <a:pt x="4585922" y="2944906"/>
                </a:cubicBezTo>
                <a:cubicBezTo>
                  <a:pt x="4594760" y="2956935"/>
                  <a:pt x="4542663" y="2939450"/>
                  <a:pt x="4539516" y="2953466"/>
                </a:cubicBezTo>
                <a:cubicBezTo>
                  <a:pt x="4533082" y="2952789"/>
                  <a:pt x="4526953" y="2951687"/>
                  <a:pt x="4520819" y="2950477"/>
                </a:cubicBezTo>
                <a:lnTo>
                  <a:pt x="4517604" y="2949852"/>
                </a:lnTo>
                <a:lnTo>
                  <a:pt x="4504537" y="2949759"/>
                </a:lnTo>
                <a:lnTo>
                  <a:pt x="4501104" y="2946715"/>
                </a:lnTo>
                <a:lnTo>
                  <a:pt x="4342695" y="2951638"/>
                </a:lnTo>
                <a:cubicBezTo>
                  <a:pt x="4328954" y="2954609"/>
                  <a:pt x="4284038" y="2957184"/>
                  <a:pt x="4274096" y="2953640"/>
                </a:cubicBezTo>
                <a:cubicBezTo>
                  <a:pt x="4264434" y="2953346"/>
                  <a:pt x="4254047" y="2955481"/>
                  <a:pt x="4248170" y="2951384"/>
                </a:cubicBezTo>
                <a:lnTo>
                  <a:pt x="4147924" y="2945945"/>
                </a:lnTo>
                <a:cubicBezTo>
                  <a:pt x="4131656" y="2952619"/>
                  <a:pt x="4104816" y="2942907"/>
                  <a:pt x="4061825" y="2944206"/>
                </a:cubicBezTo>
                <a:cubicBezTo>
                  <a:pt x="4044045" y="2951860"/>
                  <a:pt x="4032845" y="2944993"/>
                  <a:pt x="3998557" y="2955821"/>
                </a:cubicBezTo>
                <a:cubicBezTo>
                  <a:pt x="3997072" y="2955023"/>
                  <a:pt x="3995237" y="2954313"/>
                  <a:pt x="3993107" y="2953708"/>
                </a:cubicBezTo>
                <a:cubicBezTo>
                  <a:pt x="3980729" y="2950196"/>
                  <a:pt x="3961302" y="2950972"/>
                  <a:pt x="3949713" y="2955441"/>
                </a:cubicBezTo>
                <a:cubicBezTo>
                  <a:pt x="3894925" y="2970367"/>
                  <a:pt x="3844508" y="2972262"/>
                  <a:pt x="3797284" y="2977037"/>
                </a:cubicBezTo>
                <a:cubicBezTo>
                  <a:pt x="3743822" y="2981057"/>
                  <a:pt x="3778974" y="2965129"/>
                  <a:pt x="3712498" y="2979996"/>
                </a:cubicBezTo>
                <a:cubicBezTo>
                  <a:pt x="3705202" y="2975373"/>
                  <a:pt x="3696720" y="2975524"/>
                  <a:pt x="3682471" y="2978543"/>
                </a:cubicBezTo>
                <a:cubicBezTo>
                  <a:pt x="3656488" y="2980127"/>
                  <a:pt x="3658300" y="2967587"/>
                  <a:pt x="3632163" y="2976264"/>
                </a:cubicBezTo>
                <a:cubicBezTo>
                  <a:pt x="3636766" y="2969363"/>
                  <a:pt x="3582819" y="2975892"/>
                  <a:pt x="3594728" y="2968398"/>
                </a:cubicBezTo>
                <a:cubicBezTo>
                  <a:pt x="3577705" y="2963064"/>
                  <a:pt x="3569481" y="2973476"/>
                  <a:pt x="3552594" y="2968934"/>
                </a:cubicBezTo>
                <a:cubicBezTo>
                  <a:pt x="3533613" y="2968552"/>
                  <a:pt x="3563577" y="2975594"/>
                  <a:pt x="3542589" y="2977031"/>
                </a:cubicBezTo>
                <a:cubicBezTo>
                  <a:pt x="3517131" y="2977564"/>
                  <a:pt x="3517346" y="2989828"/>
                  <a:pt x="3497591" y="2975018"/>
                </a:cubicBezTo>
                <a:lnTo>
                  <a:pt x="3429352" y="2971090"/>
                </a:lnTo>
                <a:cubicBezTo>
                  <a:pt x="3414141" y="2975624"/>
                  <a:pt x="3401904" y="2974195"/>
                  <a:pt x="3389938" y="2970884"/>
                </a:cubicBezTo>
                <a:cubicBezTo>
                  <a:pt x="3354504" y="2973297"/>
                  <a:pt x="3322178" y="2968827"/>
                  <a:pt x="3282344" y="2968084"/>
                </a:cubicBezTo>
                <a:cubicBezTo>
                  <a:pt x="3239277" y="2974224"/>
                  <a:pt x="3217192" y="2964327"/>
                  <a:pt x="3174624" y="2963576"/>
                </a:cubicBezTo>
                <a:cubicBezTo>
                  <a:pt x="3132504" y="2975210"/>
                  <a:pt x="3146911" y="2949576"/>
                  <a:pt x="3111077" y="2951285"/>
                </a:cubicBezTo>
                <a:cubicBezTo>
                  <a:pt x="3052732" y="2962418"/>
                  <a:pt x="3112543" y="2942881"/>
                  <a:pt x="3022501" y="2948619"/>
                </a:cubicBezTo>
                <a:cubicBezTo>
                  <a:pt x="3017399" y="2950352"/>
                  <a:pt x="3006521" y="2948989"/>
                  <a:pt x="3007714" y="2946762"/>
                </a:cubicBezTo>
                <a:cubicBezTo>
                  <a:pt x="2987987" y="2948105"/>
                  <a:pt x="2931270" y="2937206"/>
                  <a:pt x="2903098" y="2940576"/>
                </a:cubicBezTo>
                <a:cubicBezTo>
                  <a:pt x="2848155" y="2935894"/>
                  <a:pt x="2821430" y="2947095"/>
                  <a:pt x="2781591" y="2946394"/>
                </a:cubicBezTo>
                <a:cubicBezTo>
                  <a:pt x="2735559" y="2940279"/>
                  <a:pt x="2708563" y="2934146"/>
                  <a:pt x="2627942" y="2919996"/>
                </a:cubicBezTo>
                <a:lnTo>
                  <a:pt x="2354959" y="2882080"/>
                </a:lnTo>
                <a:cubicBezTo>
                  <a:pt x="2252426" y="2847776"/>
                  <a:pt x="2124519" y="2878188"/>
                  <a:pt x="2063184" y="2879109"/>
                </a:cubicBezTo>
                <a:cubicBezTo>
                  <a:pt x="2038620" y="2892844"/>
                  <a:pt x="2017217" y="2880735"/>
                  <a:pt x="1986946" y="2887619"/>
                </a:cubicBezTo>
                <a:cubicBezTo>
                  <a:pt x="1919067" y="2894646"/>
                  <a:pt x="1852404" y="2912737"/>
                  <a:pt x="1763479" y="2909077"/>
                </a:cubicBezTo>
                <a:cubicBezTo>
                  <a:pt x="1726097" y="2949538"/>
                  <a:pt x="1621108" y="2933327"/>
                  <a:pt x="1537980" y="2960398"/>
                </a:cubicBezTo>
                <a:cubicBezTo>
                  <a:pt x="1489205" y="2967965"/>
                  <a:pt x="1410921" y="2954082"/>
                  <a:pt x="1395229" y="2975625"/>
                </a:cubicBezTo>
                <a:cubicBezTo>
                  <a:pt x="1371975" y="2964548"/>
                  <a:pt x="1352259" y="2986116"/>
                  <a:pt x="1327834" y="2989485"/>
                </a:cubicBezTo>
                <a:cubicBezTo>
                  <a:pt x="1307734" y="2982782"/>
                  <a:pt x="1298456" y="2990289"/>
                  <a:pt x="1280757" y="2992959"/>
                </a:cubicBezTo>
                <a:cubicBezTo>
                  <a:pt x="1272383" y="2988567"/>
                  <a:pt x="1257337" y="2989790"/>
                  <a:pt x="1252582" y="2995877"/>
                </a:cubicBezTo>
                <a:cubicBezTo>
                  <a:pt x="1260705" y="3008688"/>
                  <a:pt x="1207969" y="3005420"/>
                  <a:pt x="1204670" y="3014826"/>
                </a:cubicBezTo>
                <a:cubicBezTo>
                  <a:pt x="1174431" y="3018683"/>
                  <a:pt x="1041848" y="3015513"/>
                  <a:pt x="1020457" y="3031603"/>
                </a:cubicBezTo>
                <a:cubicBezTo>
                  <a:pt x="959520" y="3042500"/>
                  <a:pt x="869308" y="3024872"/>
                  <a:pt x="843248" y="3026954"/>
                </a:cubicBezTo>
                <a:cubicBezTo>
                  <a:pt x="815646" y="3001836"/>
                  <a:pt x="694189" y="3080490"/>
                  <a:pt x="583517" y="3089095"/>
                </a:cubicBezTo>
                <a:cubicBezTo>
                  <a:pt x="568425" y="3087467"/>
                  <a:pt x="560448" y="3088013"/>
                  <a:pt x="556836" y="3094374"/>
                </a:cubicBezTo>
                <a:cubicBezTo>
                  <a:pt x="528264" y="3099747"/>
                  <a:pt x="471823" y="3109156"/>
                  <a:pt x="412089" y="3121334"/>
                </a:cubicBezTo>
                <a:cubicBezTo>
                  <a:pt x="367235" y="3131096"/>
                  <a:pt x="143790" y="3139436"/>
                  <a:pt x="83929" y="3150566"/>
                </a:cubicBez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 name="Picture 9" descr="Logo&#10;&#10;Description automatically generated">
            <a:extLst>
              <a:ext uri="{FF2B5EF4-FFF2-40B4-BE49-F238E27FC236}">
                <a16:creationId xmlns:a16="http://schemas.microsoft.com/office/drawing/2014/main" id="{13F8EE4F-B2A4-41D2-9CDD-02E7A3794D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6374" y="208223"/>
            <a:ext cx="2651270" cy="962877"/>
          </a:xfrm>
          <a:prstGeom prst="rect">
            <a:avLst/>
          </a:prstGeom>
        </p:spPr>
      </p:pic>
      <p:sp>
        <p:nvSpPr>
          <p:cNvPr id="24" name="Rectangle 1">
            <a:extLst>
              <a:ext uri="{FF2B5EF4-FFF2-40B4-BE49-F238E27FC236}">
                <a16:creationId xmlns:a16="http://schemas.microsoft.com/office/drawing/2014/main" id="{14C2AE16-4BF6-4040-B0AB-95595459C9CE}"/>
              </a:ext>
            </a:extLst>
          </p:cNvPr>
          <p:cNvSpPr>
            <a:spLocks noChangeArrowheads="1"/>
          </p:cNvSpPr>
          <p:nvPr/>
        </p:nvSpPr>
        <p:spPr bwMode="auto">
          <a:xfrm>
            <a:off x="7767874" y="66978"/>
            <a:ext cx="4274947" cy="962877"/>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Resources</a:t>
            </a:r>
          </a:p>
        </p:txBody>
      </p:sp>
      <p:sp>
        <p:nvSpPr>
          <p:cNvPr id="11" name="TextBox 10">
            <a:extLst>
              <a:ext uri="{FF2B5EF4-FFF2-40B4-BE49-F238E27FC236}">
                <a16:creationId xmlns:a16="http://schemas.microsoft.com/office/drawing/2014/main" id="{4EA63852-5AC2-241E-8105-B197BF35F9D7}"/>
              </a:ext>
            </a:extLst>
          </p:cNvPr>
          <p:cNvSpPr txBox="1"/>
          <p:nvPr/>
        </p:nvSpPr>
        <p:spPr>
          <a:xfrm>
            <a:off x="1026866" y="1406980"/>
            <a:ext cx="10138267" cy="6093976"/>
          </a:xfrm>
          <a:prstGeom prst="rect">
            <a:avLst/>
          </a:prstGeom>
          <a:noFill/>
        </p:spPr>
        <p:txBody>
          <a:bodyPr wrap="square" rtlCol="0">
            <a:spAutoFit/>
          </a:bodyPr>
          <a:lstStyle/>
          <a:p>
            <a:pPr algn="ctr"/>
            <a:r>
              <a:rPr lang="en-CA" sz="2800" dirty="0"/>
              <a:t>Information for this presentation was found at the following locations:</a:t>
            </a:r>
          </a:p>
          <a:p>
            <a:endParaRPr lang="en-US" sz="1600" dirty="0"/>
          </a:p>
          <a:p>
            <a:r>
              <a:rPr lang="en-US" sz="1600" dirty="0"/>
              <a:t>Industrial Deaths USA</a:t>
            </a:r>
          </a:p>
          <a:p>
            <a:r>
              <a:rPr lang="en-US" sz="1600" dirty="0">
                <a:hlinkClick r:id="rId3"/>
              </a:rPr>
              <a:t>https://roboticsandautomationnews.com/2020/05/25/5000-deaths-a-year-a-reminder-of-why-safety-systems-matter/32403/</a:t>
            </a:r>
            <a:endParaRPr lang="en-US" sz="1600" dirty="0"/>
          </a:p>
          <a:p>
            <a:endParaRPr lang="en-US" sz="1600" dirty="0"/>
          </a:p>
          <a:p>
            <a:endParaRPr lang="en-US" sz="1600" dirty="0"/>
          </a:p>
          <a:p>
            <a:r>
              <a:rPr lang="en-US" sz="1600" dirty="0"/>
              <a:t>Case#1 – Robert Williams</a:t>
            </a:r>
          </a:p>
          <a:p>
            <a:r>
              <a:rPr lang="en-US" sz="1600" dirty="0">
                <a:hlinkClick r:id="rId4"/>
              </a:rPr>
              <a:t>https://casetext.com/case/williams-v-litton-systems</a:t>
            </a:r>
            <a:endParaRPr lang="en-US" sz="1600" dirty="0"/>
          </a:p>
          <a:p>
            <a:r>
              <a:rPr lang="en-US" sz="1600" dirty="0"/>
              <a:t>And</a:t>
            </a:r>
          </a:p>
          <a:p>
            <a:r>
              <a:rPr lang="en-US" sz="1600" dirty="0">
                <a:hlinkClick r:id="rId5"/>
              </a:rPr>
              <a:t>https://en.wikipedia.org/wiki/Robert_Williams_(robot_fatality)</a:t>
            </a:r>
            <a:endParaRPr lang="en-US" sz="1600" dirty="0"/>
          </a:p>
          <a:p>
            <a:endParaRPr lang="en-US" sz="1600" dirty="0"/>
          </a:p>
          <a:p>
            <a:endParaRPr lang="en-US" sz="1600" dirty="0"/>
          </a:p>
          <a:p>
            <a:r>
              <a:rPr lang="en-US" sz="1600" dirty="0"/>
              <a:t>Case#2 – Access Limited</a:t>
            </a:r>
          </a:p>
          <a:p>
            <a:r>
              <a:rPr lang="en-US" sz="1600" dirty="0">
                <a:hlinkClick r:id="rId6"/>
              </a:rPr>
              <a:t>https://www.automationmag.com/automation-manufacturer-fined-130k-for-worker-death-at-ontario-plant-9496/</a:t>
            </a:r>
            <a:endParaRPr lang="en-US" sz="1600" dirty="0"/>
          </a:p>
          <a:p>
            <a:endParaRPr lang="en-CA" sz="1600" dirty="0"/>
          </a:p>
          <a:p>
            <a:endParaRPr lang="en-CA" sz="1600" dirty="0"/>
          </a:p>
          <a:p>
            <a:r>
              <a:rPr lang="en-CA" sz="1600" dirty="0"/>
              <a:t>Case#3 – Wanda Holbrook</a:t>
            </a:r>
          </a:p>
          <a:p>
            <a:r>
              <a:rPr lang="en-CA" sz="1600" dirty="0">
                <a:hlinkClick r:id="rId7"/>
              </a:rPr>
              <a:t>https://casetext.com/case/holbrook-v-prodomax-automation-ltd-1</a:t>
            </a:r>
            <a:endParaRPr lang="en-CA" sz="1600" dirty="0"/>
          </a:p>
          <a:p>
            <a:endParaRPr lang="en-CA" dirty="0"/>
          </a:p>
          <a:p>
            <a:endParaRPr lang="en-CA" sz="2800" dirty="0"/>
          </a:p>
        </p:txBody>
      </p:sp>
    </p:spTree>
    <p:extLst>
      <p:ext uri="{BB962C8B-B14F-4D97-AF65-F5344CB8AC3E}">
        <p14:creationId xmlns:p14="http://schemas.microsoft.com/office/powerpoint/2010/main" val="22882413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 name="Freeform: Shape 13">
            <a:extLst>
              <a:ext uri="{FF2B5EF4-FFF2-40B4-BE49-F238E27FC236}">
                <a16:creationId xmlns:a16="http://schemas.microsoft.com/office/drawing/2014/main" id="{F60FCA6E-0894-46CD-BD49-5955A51E00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31955" y="5346696"/>
            <a:ext cx="5360045" cy="1511304"/>
          </a:xfrm>
          <a:custGeom>
            <a:avLst/>
            <a:gdLst>
              <a:gd name="connsiteX0" fmla="*/ 4545473 w 5360045"/>
              <a:gd name="connsiteY0" fmla="*/ 0 h 1511304"/>
              <a:gd name="connsiteX1" fmla="*/ 5360045 w 5360045"/>
              <a:gd name="connsiteY1" fmla="*/ 0 h 1511304"/>
              <a:gd name="connsiteX2" fmla="*/ 5360045 w 5360045"/>
              <a:gd name="connsiteY2" fmla="*/ 1046730 h 1511304"/>
              <a:gd name="connsiteX3" fmla="*/ 5360045 w 5360045"/>
              <a:gd name="connsiteY3" fmla="*/ 1508760 h 1511304"/>
              <a:gd name="connsiteX4" fmla="*/ 5360045 w 5360045"/>
              <a:gd name="connsiteY4" fmla="*/ 1511304 h 1511304"/>
              <a:gd name="connsiteX5" fmla="*/ 4545474 w 5360045"/>
              <a:gd name="connsiteY5" fmla="*/ 1511304 h 1511304"/>
              <a:gd name="connsiteX6" fmla="*/ 2525897 w 5360045"/>
              <a:gd name="connsiteY6" fmla="*/ 1511304 h 1511304"/>
              <a:gd name="connsiteX7" fmla="*/ 0 w 5360045"/>
              <a:gd name="connsiteY7" fmla="*/ 1511304 h 1511304"/>
              <a:gd name="connsiteX8" fmla="*/ 697617 w 5360045"/>
              <a:gd name="connsiteY8" fmla="*/ 3 h 1511304"/>
              <a:gd name="connsiteX9" fmla="*/ 4545473 w 5360045"/>
              <a:gd name="connsiteY9" fmla="*/ 3 h 1511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360045" h="1511304">
                <a:moveTo>
                  <a:pt x="4545473" y="0"/>
                </a:moveTo>
                <a:lnTo>
                  <a:pt x="5360045" y="0"/>
                </a:lnTo>
                <a:lnTo>
                  <a:pt x="5360045" y="1046730"/>
                </a:lnTo>
                <a:lnTo>
                  <a:pt x="5360045" y="1508760"/>
                </a:lnTo>
                <a:lnTo>
                  <a:pt x="5360045" y="1511304"/>
                </a:lnTo>
                <a:lnTo>
                  <a:pt x="4545474" y="1511304"/>
                </a:lnTo>
                <a:lnTo>
                  <a:pt x="2525897" y="1511304"/>
                </a:lnTo>
                <a:lnTo>
                  <a:pt x="0" y="1511304"/>
                </a:lnTo>
                <a:lnTo>
                  <a:pt x="697617" y="3"/>
                </a:lnTo>
                <a:lnTo>
                  <a:pt x="4545473" y="3"/>
                </a:lnTo>
                <a:close/>
              </a:path>
            </a:pathLst>
          </a:custGeom>
          <a:solidFill>
            <a:srgbClr val="404040">
              <a:alpha val="8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E78C6E4B-A1F1-4B6C-97EC-BE997495D6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46694"/>
            <a:ext cx="7346605" cy="1511306"/>
          </a:xfrm>
          <a:custGeom>
            <a:avLst/>
            <a:gdLst>
              <a:gd name="connsiteX0" fmla="*/ 0 w 7346605"/>
              <a:gd name="connsiteY0" fmla="*/ 0 h 1511306"/>
              <a:gd name="connsiteX1" fmla="*/ 239486 w 7346605"/>
              <a:gd name="connsiteY1" fmla="*/ 0 h 1511306"/>
              <a:gd name="connsiteX2" fmla="*/ 1209568 w 7346605"/>
              <a:gd name="connsiteY2" fmla="*/ 0 h 1511306"/>
              <a:gd name="connsiteX3" fmla="*/ 2405743 w 7346605"/>
              <a:gd name="connsiteY3" fmla="*/ 0 h 1511306"/>
              <a:gd name="connsiteX4" fmla="*/ 2405743 w 7346605"/>
              <a:gd name="connsiteY4" fmla="*/ 2544 h 1511306"/>
              <a:gd name="connsiteX5" fmla="*/ 2801131 w 7346605"/>
              <a:gd name="connsiteY5" fmla="*/ 2544 h 1511306"/>
              <a:gd name="connsiteX6" fmla="*/ 2801131 w 7346605"/>
              <a:gd name="connsiteY6" fmla="*/ 0 h 1511306"/>
              <a:gd name="connsiteX7" fmla="*/ 7346605 w 7346605"/>
              <a:gd name="connsiteY7" fmla="*/ 0 h 1511306"/>
              <a:gd name="connsiteX8" fmla="*/ 6648988 w 7346605"/>
              <a:gd name="connsiteY8" fmla="*/ 1511301 h 1511306"/>
              <a:gd name="connsiteX9" fmla="*/ 2801132 w 7346605"/>
              <a:gd name="connsiteY9" fmla="*/ 1511301 h 1511306"/>
              <a:gd name="connsiteX10" fmla="*/ 2801132 w 7346605"/>
              <a:gd name="connsiteY10" fmla="*/ 1511304 h 1511306"/>
              <a:gd name="connsiteX11" fmla="*/ 2405743 w 7346605"/>
              <a:gd name="connsiteY11" fmla="*/ 1511304 h 1511306"/>
              <a:gd name="connsiteX12" fmla="*/ 2405743 w 7346605"/>
              <a:gd name="connsiteY12" fmla="*/ 1511306 h 1511306"/>
              <a:gd name="connsiteX13" fmla="*/ 1333411 w 7346605"/>
              <a:gd name="connsiteY13" fmla="*/ 1511306 h 1511306"/>
              <a:gd name="connsiteX14" fmla="*/ 1219208 w 7346605"/>
              <a:gd name="connsiteY14" fmla="*/ 1511306 h 1511306"/>
              <a:gd name="connsiteX15" fmla="*/ 1209568 w 7346605"/>
              <a:gd name="connsiteY15" fmla="*/ 1511306 h 1511306"/>
              <a:gd name="connsiteX16" fmla="*/ 239486 w 7346605"/>
              <a:gd name="connsiteY16" fmla="*/ 1511306 h 1511306"/>
              <a:gd name="connsiteX17" fmla="*/ 0 w 7346605"/>
              <a:gd name="connsiteY17" fmla="*/ 1511306 h 15113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346605" h="1511306">
                <a:moveTo>
                  <a:pt x="0" y="0"/>
                </a:moveTo>
                <a:lnTo>
                  <a:pt x="239486" y="0"/>
                </a:lnTo>
                <a:lnTo>
                  <a:pt x="1209568" y="0"/>
                </a:lnTo>
                <a:lnTo>
                  <a:pt x="2405743" y="0"/>
                </a:lnTo>
                <a:lnTo>
                  <a:pt x="2405743" y="2544"/>
                </a:lnTo>
                <a:lnTo>
                  <a:pt x="2801131" y="2544"/>
                </a:lnTo>
                <a:lnTo>
                  <a:pt x="2801131" y="0"/>
                </a:lnTo>
                <a:lnTo>
                  <a:pt x="7346605" y="0"/>
                </a:lnTo>
                <a:lnTo>
                  <a:pt x="6648988" y="1511301"/>
                </a:lnTo>
                <a:lnTo>
                  <a:pt x="2801132" y="1511301"/>
                </a:lnTo>
                <a:lnTo>
                  <a:pt x="2801132" y="1511304"/>
                </a:lnTo>
                <a:lnTo>
                  <a:pt x="2405743" y="1511304"/>
                </a:lnTo>
                <a:lnTo>
                  <a:pt x="2405743" y="1511306"/>
                </a:lnTo>
                <a:lnTo>
                  <a:pt x="1333411" y="1511306"/>
                </a:lnTo>
                <a:lnTo>
                  <a:pt x="1219208" y="1511306"/>
                </a:lnTo>
                <a:lnTo>
                  <a:pt x="1209568" y="1511306"/>
                </a:lnTo>
                <a:lnTo>
                  <a:pt x="239486" y="1511306"/>
                </a:lnTo>
                <a:lnTo>
                  <a:pt x="0" y="1511306"/>
                </a:lnTo>
                <a:close/>
              </a:path>
            </a:pathLst>
          </a:custGeom>
          <a:solidFill>
            <a:srgbClr val="D0CE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11" name="TextBox 10">
            <a:extLst>
              <a:ext uri="{FF2B5EF4-FFF2-40B4-BE49-F238E27FC236}">
                <a16:creationId xmlns:a16="http://schemas.microsoft.com/office/drawing/2014/main" id="{A9366AF8-C8DD-4CE7-AA59-840DCF468914}"/>
              </a:ext>
            </a:extLst>
          </p:cNvPr>
          <p:cNvSpPr txBox="1"/>
          <p:nvPr/>
        </p:nvSpPr>
        <p:spPr>
          <a:xfrm>
            <a:off x="1230790" y="5748404"/>
            <a:ext cx="4436198" cy="707886"/>
          </a:xfrm>
          <a:prstGeom prst="rect">
            <a:avLst/>
          </a:prstGeom>
          <a:noFill/>
        </p:spPr>
        <p:txBody>
          <a:bodyPr wrap="square">
            <a:spAutoFit/>
          </a:bodyPr>
          <a:lstStyle/>
          <a:p>
            <a:pPr algn="ctr"/>
            <a:r>
              <a:rPr lang="en-US" sz="4000" dirty="0"/>
              <a:t>Due Diligence</a:t>
            </a:r>
          </a:p>
        </p:txBody>
      </p:sp>
      <p:pic>
        <p:nvPicPr>
          <p:cNvPr id="9" name="Picture 8" descr="Logo&#10;&#10;Description automatically generated">
            <a:extLst>
              <a:ext uri="{FF2B5EF4-FFF2-40B4-BE49-F238E27FC236}">
                <a16:creationId xmlns:a16="http://schemas.microsoft.com/office/drawing/2014/main" id="{7D953BC1-D955-4A17-90E5-A3D17D36BB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8104" y="153636"/>
            <a:ext cx="1993781" cy="724093"/>
          </a:xfrm>
          <a:prstGeom prst="rect">
            <a:avLst/>
          </a:prstGeom>
        </p:spPr>
      </p:pic>
      <p:sp>
        <p:nvSpPr>
          <p:cNvPr id="10" name="Rectangle 1">
            <a:extLst>
              <a:ext uri="{FF2B5EF4-FFF2-40B4-BE49-F238E27FC236}">
                <a16:creationId xmlns:a16="http://schemas.microsoft.com/office/drawing/2014/main" id="{613BACC9-A8D6-907E-08BC-AD8E6A38E5DF}"/>
              </a:ext>
            </a:extLst>
          </p:cNvPr>
          <p:cNvSpPr>
            <a:spLocks noChangeArrowheads="1"/>
          </p:cNvSpPr>
          <p:nvPr/>
        </p:nvSpPr>
        <p:spPr bwMode="auto">
          <a:xfrm>
            <a:off x="7767874" y="66978"/>
            <a:ext cx="4274947" cy="1273024"/>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4000" kern="1200" dirty="0">
                <a:solidFill>
                  <a:schemeClr val="tx1"/>
                </a:solidFill>
                <a:latin typeface="+mj-lt"/>
                <a:ea typeface="+mj-ea"/>
                <a:cs typeface="+mj-cs"/>
              </a:rPr>
              <a:t>FW Getting Started Guide Note</a:t>
            </a:r>
          </a:p>
        </p:txBody>
      </p:sp>
      <p:sp>
        <p:nvSpPr>
          <p:cNvPr id="12" name="TextBox 11">
            <a:extLst>
              <a:ext uri="{FF2B5EF4-FFF2-40B4-BE49-F238E27FC236}">
                <a16:creationId xmlns:a16="http://schemas.microsoft.com/office/drawing/2014/main" id="{19C87A94-8423-1AC9-BA95-F861D512DCA9}"/>
              </a:ext>
            </a:extLst>
          </p:cNvPr>
          <p:cNvSpPr txBox="1"/>
          <p:nvPr/>
        </p:nvSpPr>
        <p:spPr>
          <a:xfrm>
            <a:off x="9024315" y="6329357"/>
            <a:ext cx="3234077" cy="461665"/>
          </a:xfrm>
          <a:prstGeom prst="rect">
            <a:avLst/>
          </a:prstGeom>
          <a:noFill/>
        </p:spPr>
        <p:txBody>
          <a:bodyPr wrap="square">
            <a:spAutoFit/>
          </a:bodyPr>
          <a:lstStyle/>
          <a:p>
            <a:pPr algn="ctr"/>
            <a:r>
              <a:rPr lang="en-US" sz="1200" dirty="0"/>
              <a:t>Taken from page 42 of the GTAC FW Getting Started Guide, Version 20220606</a:t>
            </a:r>
          </a:p>
        </p:txBody>
      </p:sp>
      <p:pic>
        <p:nvPicPr>
          <p:cNvPr id="6" name="Picture 5">
            <a:extLst>
              <a:ext uri="{FF2B5EF4-FFF2-40B4-BE49-F238E27FC236}">
                <a16:creationId xmlns:a16="http://schemas.microsoft.com/office/drawing/2014/main" id="{362886BF-BDAC-52C4-5CCA-56156F2D855B}"/>
              </a:ext>
            </a:extLst>
          </p:cNvPr>
          <p:cNvPicPr>
            <a:picLocks noChangeAspect="1"/>
          </p:cNvPicPr>
          <p:nvPr/>
        </p:nvPicPr>
        <p:blipFill>
          <a:blip r:embed="rId3"/>
          <a:stretch>
            <a:fillRect/>
          </a:stretch>
        </p:blipFill>
        <p:spPr>
          <a:xfrm>
            <a:off x="908492" y="1593410"/>
            <a:ext cx="10375016" cy="3431027"/>
          </a:xfrm>
          <a:prstGeom prst="rect">
            <a:avLst/>
          </a:prstGeom>
        </p:spPr>
      </p:pic>
    </p:spTree>
    <p:extLst>
      <p:ext uri="{BB962C8B-B14F-4D97-AF65-F5344CB8AC3E}">
        <p14:creationId xmlns:p14="http://schemas.microsoft.com/office/powerpoint/2010/main" val="3353868217"/>
      </p:ext>
    </p:extLst>
  </p:cSld>
  <p:clrMapOvr>
    <a:masterClrMapping/>
  </p:clrMapOvr>
  <mc:AlternateContent xmlns:mc="http://schemas.openxmlformats.org/markup-compatibility/2006" xmlns:p14="http://schemas.microsoft.com/office/powerpoint/2010/main">
    <mc:Choice Requires="p14">
      <p:transition spd="slow" p14:dur="4000">
        <p14:vortex dir="r"/>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
            <a:extLst>
              <a:ext uri="{FF2B5EF4-FFF2-40B4-BE49-F238E27FC236}">
                <a16:creationId xmlns:a16="http://schemas.microsoft.com/office/drawing/2014/main" id="{0BD4DD2C-DDD7-4907-8F02-A738CFEDB92D}"/>
              </a:ext>
            </a:extLst>
          </p:cNvPr>
          <p:cNvSpPr>
            <a:spLocks noChangeArrowheads="1"/>
          </p:cNvSpPr>
          <p:nvPr/>
        </p:nvSpPr>
        <p:spPr bwMode="auto">
          <a:xfrm>
            <a:off x="640080" y="2074363"/>
            <a:ext cx="2752354" cy="2709275"/>
          </a:xfrm>
          <a:prstGeom prst="ellipse">
            <a:avLst/>
          </a:prstGeom>
          <a:solidFill>
            <a:srgbClr val="262626"/>
          </a:solidFill>
          <a:ln w="174625" cmpd="thinThick">
            <a:solidFill>
              <a:srgbClr val="262626"/>
            </a:solidFill>
          </a:ln>
        </p:spPr>
        <p:style>
          <a:lnRef idx="0">
            <a:scrgbClr r="0" g="0" b="0"/>
          </a:lnRef>
          <a:fillRef idx="0">
            <a:scrgbClr r="0" g="0" b="0"/>
          </a:fillRef>
          <a:effectRef idx="0">
            <a:scrgbClr r="0" g="0" b="0"/>
          </a:effectRef>
          <a:fontRef idx="minor">
            <a:schemeClr val="lt1"/>
          </a:fontRef>
        </p:style>
        <p:txBody>
          <a:bodyPr vert="horz" lIns="91440" tIns="45720" rIns="91440" bIns="45720" rtlCol="0" anchor="ctr">
            <a:normAutofit/>
          </a:bodyPr>
          <a:lstStyle>
            <a:lvl1pPr eaLnBrk="0" hangingPunct="0">
              <a:defRPr sz="2000" b="1">
                <a:solidFill>
                  <a:schemeClr val="tx1"/>
                </a:solidFill>
                <a:latin typeface="Arial" pitchFamily="34" charset="0"/>
                <a:ea typeface="ＭＳ Ｐゴシック" pitchFamily="34" charset="-128"/>
              </a:defRPr>
            </a:lvl1pPr>
            <a:lvl2pPr marL="742950" indent="-285750" eaLnBrk="0" hangingPunct="0">
              <a:defRPr sz="2000" b="1">
                <a:solidFill>
                  <a:schemeClr val="tx1"/>
                </a:solidFill>
                <a:latin typeface="Arial" pitchFamily="34" charset="0"/>
                <a:ea typeface="ＭＳ Ｐゴシック" pitchFamily="34" charset="-128"/>
              </a:defRPr>
            </a:lvl2pPr>
            <a:lvl3pPr marL="1143000" indent="-228600" eaLnBrk="0" hangingPunct="0">
              <a:defRPr sz="2000" b="1">
                <a:solidFill>
                  <a:schemeClr val="tx1"/>
                </a:solidFill>
                <a:latin typeface="Arial" pitchFamily="34" charset="0"/>
                <a:ea typeface="ＭＳ Ｐゴシック" pitchFamily="34" charset="-128"/>
              </a:defRPr>
            </a:lvl3pPr>
            <a:lvl4pPr marL="1600200" indent="-228600" eaLnBrk="0" hangingPunct="0">
              <a:defRPr sz="2000" b="1">
                <a:solidFill>
                  <a:schemeClr val="tx1"/>
                </a:solidFill>
                <a:latin typeface="Arial" pitchFamily="34" charset="0"/>
                <a:ea typeface="ＭＳ Ｐゴシック" pitchFamily="34" charset="-128"/>
              </a:defRPr>
            </a:lvl4pPr>
            <a:lvl5pPr marL="2057400" indent="-228600" eaLnBrk="0" hangingPunct="0">
              <a:defRPr sz="2000" b="1">
                <a:solidFill>
                  <a:schemeClr val="tx1"/>
                </a:solidFill>
                <a:latin typeface="Arial" pitchFamily="34" charset="0"/>
                <a:ea typeface="ＭＳ Ｐゴシック" pitchFamily="34" charset="-128"/>
              </a:defRPr>
            </a:lvl5pPr>
            <a:lvl6pPr marL="25146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6pPr>
            <a:lvl7pPr marL="29718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7pPr>
            <a:lvl8pPr marL="34290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8pPr>
            <a:lvl9pPr marL="3886200" indent="-228600" eaLnBrk="0" fontAlgn="base" hangingPunct="0">
              <a:spcBef>
                <a:spcPct val="0"/>
              </a:spcBef>
              <a:spcAft>
                <a:spcPct val="0"/>
              </a:spcAft>
              <a:defRPr sz="2000" b="1">
                <a:solidFill>
                  <a:schemeClr val="tx1"/>
                </a:solidFill>
                <a:latin typeface="Arial" pitchFamily="34" charset="0"/>
                <a:ea typeface="ＭＳ Ｐゴシック" pitchFamily="34" charset="-128"/>
              </a:defRPr>
            </a:lvl9pPr>
          </a:lstStyle>
          <a:p>
            <a:pPr algn="ctr" eaLnBrk="1" hangingPunct="1">
              <a:lnSpc>
                <a:spcPct val="90000"/>
              </a:lnSpc>
              <a:spcBef>
                <a:spcPct val="0"/>
              </a:spcBef>
              <a:spcAft>
                <a:spcPts val="600"/>
              </a:spcAft>
            </a:pPr>
            <a:r>
              <a:rPr lang="en-US" altLang="en-US" sz="2600" kern="1200">
                <a:solidFill>
                  <a:srgbClr val="FFFFFF"/>
                </a:solidFill>
                <a:latin typeface="+mj-lt"/>
                <a:ea typeface="+mj-ea"/>
                <a:cs typeface="+mj-cs"/>
              </a:rPr>
              <a:t>Thanks for your time</a:t>
            </a:r>
          </a:p>
        </p:txBody>
      </p:sp>
      <p:pic>
        <p:nvPicPr>
          <p:cNvPr id="7" name="Picture 6" descr="Logo&#10;&#10;Description automatically generated">
            <a:extLst>
              <a:ext uri="{FF2B5EF4-FFF2-40B4-BE49-F238E27FC236}">
                <a16:creationId xmlns:a16="http://schemas.microsoft.com/office/drawing/2014/main" id="{999D1212-E576-40D6-99C4-DE518FAF13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38600" y="2122016"/>
            <a:ext cx="7188199" cy="2610579"/>
          </a:xfrm>
          <a:prstGeom prst="rect">
            <a:avLst/>
          </a:prstGeom>
        </p:spPr>
      </p:pic>
      <p:pic>
        <p:nvPicPr>
          <p:cNvPr id="3" name="Picture 2" descr="A picture containing handwear&#10;&#10;Description automatically generated">
            <a:extLst>
              <a:ext uri="{FF2B5EF4-FFF2-40B4-BE49-F238E27FC236}">
                <a16:creationId xmlns:a16="http://schemas.microsoft.com/office/drawing/2014/main" id="{E7620775-D2F4-4772-ADE0-C3642B210C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02830" y="266423"/>
            <a:ext cx="1589170" cy="1589170"/>
          </a:xfrm>
          <a:prstGeom prst="rect">
            <a:avLst/>
          </a:prstGeom>
        </p:spPr>
      </p:pic>
    </p:spTree>
    <p:extLst>
      <p:ext uri="{BB962C8B-B14F-4D97-AF65-F5344CB8AC3E}">
        <p14:creationId xmlns:p14="http://schemas.microsoft.com/office/powerpoint/2010/main" val="207242590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4250">
        <p15:prstTrans prst="curtains"/>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1261</TotalTime>
  <Words>1141</Words>
  <Application>Microsoft Office PowerPoint</Application>
  <PresentationFormat>Widescreen</PresentationFormat>
  <Paragraphs>82</Paragraphs>
  <Slides>15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Sodecia GTAC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GTAC Controls Training PT 1</dc:subject>
  <dc:creator>Lekx-Toniolo, Taylor</dc:creator>
  <cp:lastModifiedBy>BK Lekx-Toniolo</cp:lastModifiedBy>
  <cp:revision>168</cp:revision>
  <dcterms:created xsi:type="dcterms:W3CDTF">2021-11-04T14:33:04Z</dcterms:created>
  <dcterms:modified xsi:type="dcterms:W3CDTF">2026-06-02T12:11:29Z</dcterms:modified>
</cp:coreProperties>
</file>