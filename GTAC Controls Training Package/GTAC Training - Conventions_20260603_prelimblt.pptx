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8" r:id="rId4"/>
    <p:sldId id="281" r:id="rId5"/>
    <p:sldId id="269" r:id="rId6"/>
    <p:sldId id="270" r:id="rId7"/>
    <p:sldId id="271" r:id="rId8"/>
    <p:sldId id="272" r:id="rId9"/>
    <p:sldId id="273" r:id="rId10"/>
    <p:sldId id="274" r:id="rId11"/>
    <p:sldId id="275" r:id="rId12"/>
    <p:sldId id="282" r:id="rId13"/>
    <p:sldId id="280" r:id="rId14"/>
    <p:sldId id="276" r:id="rId15"/>
    <p:sldId id="277" r:id="rId16"/>
    <p:sldId id="278" r:id="rId17"/>
    <p:sldId id="279" r:id="rId18"/>
    <p:sldId id="267" r:id="rId19"/>
  </p:sldIdLst>
  <p:sldSz cx="12192000" cy="68580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lstStyle/>
          <a:p>
            <a:r>
              <a:t>Footer</a:t>
            </a:r>
          </a:p>
        </p:txBody>
      </p:sp>
      <p:sp>
        <p:nvSpPr>
          <p:cNvPr id="3" name="PlaceHolder 2"/>
          <p:cNvSpPr>
            <a:spLocks noGrp="1"/>
          </p:cNvSpPr>
          <p:nvPr>
            <p:ph type="sldNum" idx="2"/>
          </p:nvPr>
        </p:nvSpPr>
        <p:spPr/>
        <p:txBody>
          <a:bodyPr/>
          <a:lstStyle/>
          <a:p>
            <a:fld id="{E1904711-421F-4DB6-A889-BD3E15533D89}" type="slidenum">
              <a:t>‹#›</a:t>
            </a:fld>
            <a:endParaRPr/>
          </a:p>
        </p:txBody>
      </p:sp>
      <p:sp>
        <p:nvSpPr>
          <p:cNvPr id="4" name="PlaceHolder 3"/>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2920" cy="2386440"/>
          </a:xfrm>
          <a:prstGeom prst="rect">
            <a:avLst/>
          </a:prstGeom>
          <a:noFill/>
          <a:ln w="0">
            <a:noFill/>
          </a:ln>
        </p:spPr>
        <p:txBody>
          <a:bodyPr lIns="0" tIns="0" rIns="0" bIns="0" anchor="ctr">
            <a:noAutofit/>
          </a:bodyPr>
          <a:lstStyle/>
          <a:p>
            <a:endParaRPr lang="en-US" sz="1800" b="0" strike="noStrike" spc="-1">
              <a:solidFill>
                <a:srgbClr val="000000"/>
              </a:solidFill>
              <a:latin typeface="Arial"/>
            </a:endParaRPr>
          </a:p>
        </p:txBody>
      </p:sp>
      <p:sp>
        <p:nvSpPr>
          <p:cNvPr id="6" name="PlaceHolder 2"/>
          <p:cNvSpPr>
            <a:spLocks noGrp="1"/>
          </p:cNvSpPr>
          <p:nvPr>
            <p:ph type="subTitle"/>
          </p:nvPr>
        </p:nvSpPr>
        <p:spPr>
          <a:xfrm>
            <a:off x="609480" y="1604520"/>
            <a:ext cx="10972080" cy="3976920"/>
          </a:xfrm>
          <a:prstGeom prst="rect">
            <a:avLst/>
          </a:prstGeom>
          <a:noFill/>
          <a:ln w="0">
            <a:noFill/>
          </a:ln>
        </p:spPr>
        <p:txBody>
          <a:bodyPr lIns="0" tIns="0" rIns="0" bIns="0" anchor="ctr">
            <a:noAutofit/>
          </a:bodyPr>
          <a:lstStyle/>
          <a:p>
            <a:pPr algn="ctr">
              <a:buNone/>
            </a:pPr>
            <a:endParaRPr lang="en-CA" sz="3200" b="0" strike="noStrike" spc="-1">
              <a:latin typeface="Arial"/>
            </a:endParaRPr>
          </a:p>
        </p:txBody>
      </p:sp>
      <p:sp>
        <p:nvSpPr>
          <p:cNvPr id="4" name="PlaceHolder 3"/>
          <p:cNvSpPr>
            <a:spLocks noGrp="1"/>
          </p:cNvSpPr>
          <p:nvPr>
            <p:ph type="ftr" idx="1"/>
          </p:nvPr>
        </p:nvSpPr>
        <p:spPr/>
        <p:txBody>
          <a:bodyPr/>
          <a:lstStyle/>
          <a:p>
            <a:r>
              <a:t>Footer</a:t>
            </a:r>
          </a:p>
        </p:txBody>
      </p:sp>
      <p:sp>
        <p:nvSpPr>
          <p:cNvPr id="2" name="PlaceHolder 4"/>
          <p:cNvSpPr>
            <a:spLocks noGrp="1"/>
          </p:cNvSpPr>
          <p:nvPr>
            <p:ph type="sldNum" idx="2"/>
          </p:nvPr>
        </p:nvSpPr>
        <p:spPr/>
        <p:txBody>
          <a:bodyPr/>
          <a:lstStyle/>
          <a:p>
            <a:fld id="{6C5AA2E0-D0D6-4921-89A5-5BE662FB5282}" type="slidenum">
              <a:t>‹#›</a:t>
            </a:fld>
            <a:endParaRPr/>
          </a:p>
        </p:txBody>
      </p:sp>
      <p:sp>
        <p:nvSpPr>
          <p:cNvPr id="3" name="PlaceHolder 5"/>
          <p:cNvSpPr>
            <a:spLocks noGrp="1"/>
          </p:cNvSpPr>
          <p:nvPr>
            <p:ph type="dt" idx="3"/>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1523880" y="1122480"/>
            <a:ext cx="9142920" cy="2386440"/>
          </a:xfrm>
          <a:prstGeom prst="rect">
            <a:avLst/>
          </a:prstGeom>
          <a:noFill/>
          <a:ln w="0">
            <a:noFill/>
          </a:ln>
        </p:spPr>
        <p:txBody>
          <a:bodyPr lIns="0" tIns="0" rIns="0" bIns="0" anchor="ctr">
            <a:noAutofit/>
          </a:bodyPr>
          <a:lstStyle/>
          <a:p>
            <a:endParaRPr lang="en-US" sz="1800" b="0" strike="noStrike" spc="-1">
              <a:solidFill>
                <a:srgbClr val="000000"/>
              </a:solidFill>
              <a:latin typeface="Arial"/>
            </a:endParaRPr>
          </a:p>
        </p:txBody>
      </p:sp>
      <p:sp>
        <p:nvSpPr>
          <p:cNvPr id="8" name="PlaceHolder 2"/>
          <p:cNvSpPr>
            <a:spLocks noGrp="1"/>
          </p:cNvSpPr>
          <p:nvPr>
            <p:ph/>
          </p:nvPr>
        </p:nvSpPr>
        <p:spPr>
          <a:xfrm>
            <a:off x="609480" y="1604520"/>
            <a:ext cx="10972080" cy="39769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04076CE6-0C3B-4A17-9EE4-733AE9DFF15B}" type="slidenum">
              <a:t>‹#›</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1523880" y="1122480"/>
            <a:ext cx="9142920" cy="2386440"/>
          </a:xfrm>
          <a:prstGeom prst="rect">
            <a:avLst/>
          </a:prstGeom>
          <a:noFill/>
          <a:ln w="0">
            <a:noFill/>
          </a:ln>
        </p:spPr>
        <p:txBody>
          <a:bodyPr lIns="0" tIns="0" rIns="0" bIns="0" anchor="ctr">
            <a:noAutofit/>
          </a:bodyPr>
          <a:lstStyle/>
          <a:p>
            <a:endParaRPr lang="en-US" sz="1800" b="0" strike="noStrike" spc="-1">
              <a:solidFill>
                <a:srgbClr val="000000"/>
              </a:solidFill>
              <a:latin typeface="Arial"/>
            </a:endParaRPr>
          </a:p>
        </p:txBody>
      </p:sp>
      <p:sp>
        <p:nvSpPr>
          <p:cNvPr id="10" name="PlaceHolder 2"/>
          <p:cNvSpPr>
            <a:spLocks noGrp="1"/>
          </p:cNvSpPr>
          <p:nvPr>
            <p:ph/>
          </p:nvPr>
        </p:nvSpPr>
        <p:spPr>
          <a:xfrm>
            <a:off x="609480" y="1604520"/>
            <a:ext cx="5354280" cy="39769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11" name="PlaceHolder 3"/>
          <p:cNvSpPr>
            <a:spLocks noGrp="1"/>
          </p:cNvSpPr>
          <p:nvPr>
            <p:ph/>
          </p:nvPr>
        </p:nvSpPr>
        <p:spPr>
          <a:xfrm>
            <a:off x="6231960" y="1604520"/>
            <a:ext cx="5354280" cy="39769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F82C7FCD-68F2-49B2-A320-8E3057D70357}" type="slidenum">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1523880" y="1122480"/>
            <a:ext cx="9142920" cy="2386440"/>
          </a:xfrm>
          <a:prstGeom prst="rect">
            <a:avLst/>
          </a:prstGeom>
          <a:noFill/>
          <a:ln w="0">
            <a:noFill/>
          </a:ln>
        </p:spPr>
        <p:txBody>
          <a:bodyPr lIns="0" tIns="0" rIns="0" bIns="0" anchor="ctr">
            <a:noAutofit/>
          </a:bodyPr>
          <a:lstStyle/>
          <a:p>
            <a:endParaRPr lang="en-US" sz="1800" b="0" strike="noStrike" spc="-1">
              <a:solidFill>
                <a:srgbClr val="000000"/>
              </a:solidFill>
              <a:latin typeface="Arial"/>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666360F0-01E3-4C68-AE85-AC5B33921098}" type="slidenum">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1523880" y="1122480"/>
            <a:ext cx="9142920" cy="11063520"/>
          </a:xfrm>
          <a:prstGeom prst="rect">
            <a:avLst/>
          </a:prstGeom>
          <a:noFill/>
          <a:ln w="0">
            <a:noFill/>
          </a:ln>
        </p:spPr>
        <p:txBody>
          <a:bodyPr lIns="0" tIns="0" rIns="0" bIns="0" anchor="ctr">
            <a:noAutofit/>
          </a:bodyPr>
          <a:lstStyle/>
          <a:p>
            <a:pPr algn="ctr">
              <a:buNone/>
            </a:pPr>
            <a:endParaRPr lang="en-CA" sz="3200" b="0" strike="noStrike" spc="-1">
              <a:latin typeface="Arial"/>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188A60BB-CA1E-4021-B5E1-0939BBA46D5F}" type="slidenum">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1523880" y="1122480"/>
            <a:ext cx="9142920" cy="2386440"/>
          </a:xfrm>
          <a:prstGeom prst="rect">
            <a:avLst/>
          </a:prstGeom>
          <a:noFill/>
          <a:ln w="0">
            <a:noFill/>
          </a:ln>
        </p:spPr>
        <p:txBody>
          <a:bodyPr lIns="0" tIns="0" rIns="0" bIns="0" anchor="ctr">
            <a:noAutofit/>
          </a:bodyPr>
          <a:lstStyle/>
          <a:p>
            <a:endParaRPr lang="en-US" sz="1800" b="0" strike="noStrike" spc="-1">
              <a:solidFill>
                <a:srgbClr val="000000"/>
              </a:solidFill>
              <a:latin typeface="Arial"/>
            </a:endParaRPr>
          </a:p>
        </p:txBody>
      </p:sp>
      <p:sp>
        <p:nvSpPr>
          <p:cNvPr id="15"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16" name="PlaceHolder 3"/>
          <p:cNvSpPr>
            <a:spLocks noGrp="1"/>
          </p:cNvSpPr>
          <p:nvPr>
            <p:ph/>
          </p:nvPr>
        </p:nvSpPr>
        <p:spPr>
          <a:xfrm>
            <a:off x="6231960" y="1604520"/>
            <a:ext cx="5354280" cy="39769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17"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711D6178-3418-46B6-BFB3-3A137A2B1C22}"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1523880" y="1122480"/>
            <a:ext cx="9142920" cy="2386440"/>
          </a:xfrm>
          <a:prstGeom prst="rect">
            <a:avLst/>
          </a:prstGeom>
          <a:noFill/>
          <a:ln w="0">
            <a:noFill/>
          </a:ln>
        </p:spPr>
        <p:txBody>
          <a:bodyPr lIns="0" tIns="0" rIns="0" bIns="0" anchor="ctr">
            <a:noAutofit/>
          </a:bodyPr>
          <a:lstStyle/>
          <a:p>
            <a:endParaRPr lang="en-US" sz="1800" b="0" strike="noStrike" spc="-1">
              <a:solidFill>
                <a:srgbClr val="000000"/>
              </a:solidFill>
              <a:latin typeface="Arial"/>
            </a:endParaRPr>
          </a:p>
        </p:txBody>
      </p:sp>
      <p:sp>
        <p:nvSpPr>
          <p:cNvPr id="19" name="PlaceHolder 2"/>
          <p:cNvSpPr>
            <a:spLocks noGrp="1"/>
          </p:cNvSpPr>
          <p:nvPr>
            <p:ph/>
          </p:nvPr>
        </p:nvSpPr>
        <p:spPr>
          <a:xfrm>
            <a:off x="609480" y="1604520"/>
            <a:ext cx="5354280" cy="397692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20"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21"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7A00E6D4-F85F-4552-A0B2-958D942069E5}"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1523880" y="1122480"/>
            <a:ext cx="9142920" cy="2386440"/>
          </a:xfrm>
          <a:prstGeom prst="rect">
            <a:avLst/>
          </a:prstGeom>
          <a:noFill/>
          <a:ln w="0">
            <a:noFill/>
          </a:ln>
        </p:spPr>
        <p:txBody>
          <a:bodyPr lIns="0" tIns="0" rIns="0" bIns="0" anchor="ctr">
            <a:noAutofit/>
          </a:bodyPr>
          <a:lstStyle/>
          <a:p>
            <a:endParaRPr lang="en-US" sz="1800" b="0" strike="noStrike" spc="-1">
              <a:solidFill>
                <a:srgbClr val="000000"/>
              </a:solidFill>
              <a:latin typeface="Arial"/>
            </a:endParaRPr>
          </a:p>
        </p:txBody>
      </p:sp>
      <p:sp>
        <p:nvSpPr>
          <p:cNvPr id="23"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24"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25" name="PlaceHolder 4"/>
          <p:cNvSpPr>
            <a:spLocks noGrp="1"/>
          </p:cNvSpPr>
          <p:nvPr>
            <p:ph/>
          </p:nvPr>
        </p:nvSpPr>
        <p:spPr>
          <a:xfrm>
            <a:off x="609480" y="3682080"/>
            <a:ext cx="109720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FBB98080-02ED-4D2F-B42A-E7A644292FA8}"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1523880" y="1122480"/>
            <a:ext cx="9142920" cy="2386440"/>
          </a:xfrm>
          <a:prstGeom prst="rect">
            <a:avLst/>
          </a:prstGeom>
          <a:noFill/>
          <a:ln w="0">
            <a:noFill/>
          </a:ln>
        </p:spPr>
        <p:txBody>
          <a:bodyPr lIns="0" tIns="0" rIns="0" bIns="0" anchor="ctr">
            <a:noAutofit/>
          </a:bodyPr>
          <a:lstStyle/>
          <a:p>
            <a:endParaRPr lang="en-US" sz="1800" b="0" strike="noStrike" spc="-1">
              <a:solidFill>
                <a:srgbClr val="000000"/>
              </a:solidFill>
              <a:latin typeface="Arial"/>
            </a:endParaRPr>
          </a:p>
        </p:txBody>
      </p:sp>
      <p:sp>
        <p:nvSpPr>
          <p:cNvPr id="27" name="PlaceHolder 2"/>
          <p:cNvSpPr>
            <a:spLocks noGrp="1"/>
          </p:cNvSpPr>
          <p:nvPr>
            <p:ph/>
          </p:nvPr>
        </p:nvSpPr>
        <p:spPr>
          <a:xfrm>
            <a:off x="609480" y="1604520"/>
            <a:ext cx="109720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28" name="PlaceHolder 3"/>
          <p:cNvSpPr>
            <a:spLocks noGrp="1"/>
          </p:cNvSpPr>
          <p:nvPr>
            <p:ph/>
          </p:nvPr>
        </p:nvSpPr>
        <p:spPr>
          <a:xfrm>
            <a:off x="609480" y="3682080"/>
            <a:ext cx="109720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635C716C-A696-4551-882C-C025CFE059E6}" type="slidenum">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1523880" y="1122480"/>
            <a:ext cx="9142920" cy="2386440"/>
          </a:xfrm>
          <a:prstGeom prst="rect">
            <a:avLst/>
          </a:prstGeom>
          <a:noFill/>
          <a:ln w="0">
            <a:noFill/>
          </a:ln>
        </p:spPr>
        <p:txBody>
          <a:bodyPr lIns="0" tIns="0" rIns="0" bIns="0" anchor="ctr">
            <a:noAutofit/>
          </a:bodyPr>
          <a:lstStyle/>
          <a:p>
            <a:endParaRPr lang="en-US" sz="1800" b="0" strike="noStrike" spc="-1">
              <a:solidFill>
                <a:srgbClr val="000000"/>
              </a:solidFill>
              <a:latin typeface="Arial"/>
            </a:endParaRPr>
          </a:p>
        </p:txBody>
      </p:sp>
      <p:sp>
        <p:nvSpPr>
          <p:cNvPr id="30"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31"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32"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33"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7" name="PlaceHolder 6"/>
          <p:cNvSpPr>
            <a:spLocks noGrp="1"/>
          </p:cNvSpPr>
          <p:nvPr>
            <p:ph type="ftr" idx="1"/>
          </p:nvPr>
        </p:nvSpPr>
        <p:spPr/>
        <p:txBody>
          <a:bodyPr/>
          <a:lstStyle/>
          <a:p>
            <a:r>
              <a:t>Footer</a:t>
            </a:r>
          </a:p>
        </p:txBody>
      </p:sp>
      <p:sp>
        <p:nvSpPr>
          <p:cNvPr id="8" name="PlaceHolder 7"/>
          <p:cNvSpPr>
            <a:spLocks noGrp="1"/>
          </p:cNvSpPr>
          <p:nvPr>
            <p:ph type="sldNum" idx="2"/>
          </p:nvPr>
        </p:nvSpPr>
        <p:spPr/>
        <p:txBody>
          <a:bodyPr/>
          <a:lstStyle/>
          <a:p>
            <a:fld id="{24C98898-041B-4189-A468-8D81F559FEEB}" type="slidenum">
              <a:t>‹#›</a:t>
            </a:fld>
            <a:endParaRPr/>
          </a:p>
        </p:txBody>
      </p:sp>
      <p:sp>
        <p:nvSpPr>
          <p:cNvPr id="9" name="PlaceHolder 8"/>
          <p:cNvSpPr>
            <a:spLocks noGrp="1"/>
          </p:cNvSpPr>
          <p:nvPr>
            <p:ph type="dt" idx="3"/>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1523880" y="1122480"/>
            <a:ext cx="9142920" cy="2386440"/>
          </a:xfrm>
          <a:prstGeom prst="rect">
            <a:avLst/>
          </a:prstGeom>
          <a:noFill/>
          <a:ln w="0">
            <a:noFill/>
          </a:ln>
        </p:spPr>
        <p:txBody>
          <a:bodyPr lIns="0" tIns="0" rIns="0" bIns="0" anchor="ctr">
            <a:noAutofit/>
          </a:bodyPr>
          <a:lstStyle/>
          <a:p>
            <a:endParaRPr lang="en-US" sz="1800" b="0" strike="noStrike" spc="-1">
              <a:solidFill>
                <a:srgbClr val="000000"/>
              </a:solidFill>
              <a:latin typeface="Arial"/>
            </a:endParaRPr>
          </a:p>
        </p:txBody>
      </p:sp>
      <p:sp>
        <p:nvSpPr>
          <p:cNvPr id="35" name="PlaceHolder 2"/>
          <p:cNvSpPr>
            <a:spLocks noGrp="1"/>
          </p:cNvSpPr>
          <p:nvPr>
            <p:ph/>
          </p:nvPr>
        </p:nvSpPr>
        <p:spPr>
          <a:xfrm>
            <a:off x="609480" y="1604520"/>
            <a:ext cx="35326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36" name="PlaceHolder 3"/>
          <p:cNvSpPr>
            <a:spLocks noGrp="1"/>
          </p:cNvSpPr>
          <p:nvPr>
            <p:ph/>
          </p:nvPr>
        </p:nvSpPr>
        <p:spPr>
          <a:xfrm>
            <a:off x="4319280" y="1604520"/>
            <a:ext cx="35326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37" name="PlaceHolder 4"/>
          <p:cNvSpPr>
            <a:spLocks noGrp="1"/>
          </p:cNvSpPr>
          <p:nvPr>
            <p:ph/>
          </p:nvPr>
        </p:nvSpPr>
        <p:spPr>
          <a:xfrm>
            <a:off x="8028720" y="1604520"/>
            <a:ext cx="35326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38" name="PlaceHolder 5"/>
          <p:cNvSpPr>
            <a:spLocks noGrp="1"/>
          </p:cNvSpPr>
          <p:nvPr>
            <p:ph/>
          </p:nvPr>
        </p:nvSpPr>
        <p:spPr>
          <a:xfrm>
            <a:off x="609480" y="3682080"/>
            <a:ext cx="35326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39" name="PlaceHolder 6"/>
          <p:cNvSpPr>
            <a:spLocks noGrp="1"/>
          </p:cNvSpPr>
          <p:nvPr>
            <p:ph/>
          </p:nvPr>
        </p:nvSpPr>
        <p:spPr>
          <a:xfrm>
            <a:off x="4319280" y="3682080"/>
            <a:ext cx="35326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40" name="PlaceHolder 7"/>
          <p:cNvSpPr>
            <a:spLocks noGrp="1"/>
          </p:cNvSpPr>
          <p:nvPr>
            <p:ph/>
          </p:nvPr>
        </p:nvSpPr>
        <p:spPr>
          <a:xfrm>
            <a:off x="8028720" y="3682080"/>
            <a:ext cx="3532680" cy="1896840"/>
          </a:xfrm>
          <a:prstGeom prst="rect">
            <a:avLst/>
          </a:prstGeom>
          <a:noFill/>
          <a:ln w="0">
            <a:noFill/>
          </a:ln>
        </p:spPr>
        <p:txBody>
          <a:bodyPr lIns="0" tIns="0" rIns="0" bIns="0" anchor="t">
            <a:normAutofit/>
          </a:bodyPr>
          <a:lstStyle/>
          <a:p>
            <a:pPr>
              <a:lnSpc>
                <a:spcPct val="90000"/>
              </a:lnSpc>
              <a:spcBef>
                <a:spcPts val="1417"/>
              </a:spcBef>
              <a:buNone/>
            </a:pPr>
            <a:endParaRPr lang="en-US" sz="2800" b="0" strike="noStrike" spc="-1">
              <a:solidFill>
                <a:srgbClr val="000000"/>
              </a:solidFill>
              <a:latin typeface="Arial"/>
            </a:endParaRPr>
          </a:p>
        </p:txBody>
      </p:sp>
      <p:sp>
        <p:nvSpPr>
          <p:cNvPr id="9" name="PlaceHolder 8"/>
          <p:cNvSpPr>
            <a:spLocks noGrp="1"/>
          </p:cNvSpPr>
          <p:nvPr>
            <p:ph type="ftr" idx="1"/>
          </p:nvPr>
        </p:nvSpPr>
        <p:spPr/>
        <p:txBody>
          <a:bodyPr/>
          <a:lstStyle/>
          <a:p>
            <a:r>
              <a:t>Footer</a:t>
            </a:r>
          </a:p>
        </p:txBody>
      </p:sp>
      <p:sp>
        <p:nvSpPr>
          <p:cNvPr id="10" name="PlaceHolder 9"/>
          <p:cNvSpPr>
            <a:spLocks noGrp="1"/>
          </p:cNvSpPr>
          <p:nvPr>
            <p:ph type="sldNum" idx="2"/>
          </p:nvPr>
        </p:nvSpPr>
        <p:spPr/>
        <p:txBody>
          <a:bodyPr/>
          <a:lstStyle/>
          <a:p>
            <a:fld id="{61448155-A97B-47CD-A7DE-F5C94956EB4F}" type="slidenum">
              <a:t>‹#›</a:t>
            </a:fld>
            <a:endParaRPr/>
          </a:p>
        </p:txBody>
      </p:sp>
      <p:sp>
        <p:nvSpPr>
          <p:cNvPr id="11" name="PlaceHolder 10"/>
          <p:cNvSpPr>
            <a:spLocks noGrp="1"/>
          </p:cNvSpPr>
          <p:nvPr>
            <p:ph type="dt" idx="3"/>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2920" cy="2386440"/>
          </a:xfrm>
          <a:prstGeom prst="rect">
            <a:avLst/>
          </a:prstGeom>
          <a:noFill/>
          <a:ln w="0">
            <a:noFill/>
          </a:ln>
        </p:spPr>
        <p:txBody>
          <a:bodyPr lIns="0" tIns="0" rIns="0" bIns="0" anchor="ctr">
            <a:noAutofit/>
          </a:bodyPr>
          <a:lstStyle/>
          <a:p>
            <a:r>
              <a:rPr lang="en-US" sz="4400" b="0" strike="noStrike" spc="-1">
                <a:solidFill>
                  <a:srgbClr val="000000"/>
                </a:solidFill>
                <a:latin typeface="Arial"/>
              </a:rPr>
              <a:t>Click to edit the title text format</a:t>
            </a:r>
          </a:p>
        </p:txBody>
      </p:sp>
      <p:sp>
        <p:nvSpPr>
          <p:cNvPr id="6" name="PlaceHolder 2"/>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strike="noStrike" spc="-1">
                <a:solidFill>
                  <a:srgbClr val="000000"/>
                </a:solidFill>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strike="noStrike" spc="-1">
                <a:solidFill>
                  <a:srgbClr val="000000"/>
                </a:solidFill>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strike="noStrike" spc="-1">
                <a:solidFill>
                  <a:srgbClr val="000000"/>
                </a:solidFill>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strike="noStrike" spc="-1">
                <a:solidFill>
                  <a:srgbClr val="000000"/>
                </a:solidFill>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strike="noStrike" spc="-1">
                <a:solidFill>
                  <a:srgbClr val="000000"/>
                </a:solidFill>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strike="noStrike" spc="-1">
                <a:solidFill>
                  <a:srgbClr val="000000"/>
                </a:solidFill>
                <a:latin typeface="Arial"/>
              </a:rPr>
              <a:t>Seventh Outline Level</a:t>
            </a:r>
          </a:p>
        </p:txBody>
      </p:sp>
      <p:sp>
        <p:nvSpPr>
          <p:cNvPr id="2" name="PlaceHolder 3"/>
          <p:cNvSpPr>
            <a:spLocks noGrp="1"/>
          </p:cNvSpPr>
          <p:nvPr>
            <p:ph type="ftr" idx="1"/>
          </p:nvPr>
        </p:nvSpPr>
        <p:spPr>
          <a:xfrm>
            <a:off x="4038480" y="6356520"/>
            <a:ext cx="4113720" cy="363960"/>
          </a:xfrm>
          <a:prstGeom prst="rect">
            <a:avLst/>
          </a:prstGeom>
          <a:noFill/>
          <a:ln w="0">
            <a:noFill/>
          </a:ln>
        </p:spPr>
        <p:txBody>
          <a:bodyPr lIns="90000" tIns="45000" rIns="90000" bIns="45000" anchor="ctr">
            <a:noAutofit/>
          </a:bodyPr>
          <a:lstStyle>
            <a:lvl1pPr algn="ctr">
              <a:lnSpc>
                <a:spcPct val="100000"/>
              </a:lnSpc>
              <a:buNone/>
              <a:defRPr lang="en-CA" sz="1400" b="0" strike="noStrike" spc="-1">
                <a:solidFill>
                  <a:srgbClr val="000000"/>
                </a:solidFill>
                <a:latin typeface="Times New Roman"/>
                <a:ea typeface="DejaVu Sans"/>
              </a:defRPr>
            </a:lvl1pPr>
          </a:lstStyle>
          <a:p>
            <a:pPr algn="ctr">
              <a:lnSpc>
                <a:spcPct val="100000"/>
              </a:lnSpc>
              <a:buNone/>
            </a:pPr>
            <a:r>
              <a:rPr lang="en-CA" sz="1400" b="0" strike="noStrike" spc="-1">
                <a:solidFill>
                  <a:srgbClr val="000000"/>
                </a:solidFill>
                <a:latin typeface="Times New Roman"/>
                <a:ea typeface="DejaVu Sans"/>
              </a:rPr>
              <a:t>&lt;footer&gt;</a:t>
            </a:r>
            <a:endParaRPr lang="en-CA" sz="1400" b="0" strike="noStrike" spc="-1">
              <a:latin typeface="Times New Roman"/>
            </a:endParaRPr>
          </a:p>
        </p:txBody>
      </p:sp>
      <p:sp>
        <p:nvSpPr>
          <p:cNvPr id="3" name="PlaceHolder 4"/>
          <p:cNvSpPr>
            <a:spLocks noGrp="1"/>
          </p:cNvSpPr>
          <p:nvPr>
            <p:ph type="sldNum" idx="2"/>
          </p:nvPr>
        </p:nvSpPr>
        <p:spPr>
          <a:xfrm>
            <a:off x="8610480" y="6356520"/>
            <a:ext cx="2742120" cy="363960"/>
          </a:xfrm>
          <a:prstGeom prst="rect">
            <a:avLst/>
          </a:prstGeom>
          <a:noFill/>
          <a:ln w="0">
            <a:noFill/>
          </a:ln>
        </p:spPr>
        <p:txBody>
          <a:bodyPr lIns="90000" tIns="45000" rIns="90000" bIns="45000" anchor="ctr">
            <a:noAutofit/>
          </a:bodyPr>
          <a:lstStyle>
            <a:lvl1pPr algn="r">
              <a:lnSpc>
                <a:spcPct val="100000"/>
              </a:lnSpc>
              <a:buNone/>
              <a:defRPr lang="en-CA" sz="1200" b="0" strike="noStrike" spc="-1">
                <a:solidFill>
                  <a:srgbClr val="8B8B8B"/>
                </a:solidFill>
                <a:latin typeface="Calibri"/>
                <a:ea typeface="DejaVu Sans"/>
              </a:defRPr>
            </a:lvl1pPr>
          </a:lstStyle>
          <a:p>
            <a:pPr algn="r">
              <a:lnSpc>
                <a:spcPct val="100000"/>
              </a:lnSpc>
              <a:buNone/>
            </a:pPr>
            <a:fld id="{69C4EC67-5162-4A6A-8157-6866671A8508}" type="slidenum">
              <a:rPr lang="en-CA" sz="1200" b="0" strike="noStrike" spc="-1">
                <a:solidFill>
                  <a:srgbClr val="8B8B8B"/>
                </a:solidFill>
                <a:latin typeface="Calibri"/>
                <a:ea typeface="DejaVu Sans"/>
              </a:rPr>
              <a:t>‹#›</a:t>
            </a:fld>
            <a:endParaRPr lang="en-CA" sz="1200" b="0" strike="noStrike" spc="-1">
              <a:latin typeface="Times New Roman"/>
            </a:endParaRPr>
          </a:p>
        </p:txBody>
      </p:sp>
      <p:sp>
        <p:nvSpPr>
          <p:cNvPr id="4" name="PlaceHolder 5"/>
          <p:cNvSpPr>
            <a:spLocks noGrp="1"/>
          </p:cNvSpPr>
          <p:nvPr>
            <p:ph type="dt" idx="3"/>
          </p:nvPr>
        </p:nvSpPr>
        <p:spPr>
          <a:xfrm>
            <a:off x="838080" y="6356520"/>
            <a:ext cx="2742120" cy="363960"/>
          </a:xfrm>
          <a:prstGeom prst="rect">
            <a:avLst/>
          </a:prstGeom>
          <a:noFill/>
          <a:ln w="0">
            <a:noFill/>
          </a:ln>
        </p:spPr>
        <p:txBody>
          <a:bodyPr lIns="90000" tIns="45000" rIns="90000" bIns="45000" anchor="ctr">
            <a:noAutofit/>
          </a:bodyPr>
          <a:lstStyle>
            <a:lvl1pPr>
              <a:defRPr lang="en-CA" sz="1400" b="0" strike="noStrike" spc="-1">
                <a:latin typeface="Times New Roman"/>
              </a:defRPr>
            </a:lvl1pPr>
          </a:lstStyle>
          <a:p>
            <a:r>
              <a:rPr lang="en-CA" sz="1400" b="0" strike="noStrike" spc="-1">
                <a:latin typeface="Times New Roman"/>
              </a:rPr>
              <a:t>&lt;date/time&gt;</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Rectangle 27"/>
          <p:cNvSpPr/>
          <p:nvPr/>
        </p:nvSpPr>
        <p:spPr>
          <a:xfrm>
            <a:off x="0" y="0"/>
            <a:ext cx="12191040" cy="68569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p:style>
        <p:txBody>
          <a:bodyPr/>
          <a:lstStyle/>
          <a:p>
            <a:endParaRPr lang="en-CA"/>
          </a:p>
        </p:txBody>
      </p:sp>
      <p:pic>
        <p:nvPicPr>
          <p:cNvPr id="42" name="Picture 4"/>
          <p:cNvPicPr/>
          <p:nvPr/>
        </p:nvPicPr>
        <p:blipFill>
          <a:blip r:embed="rId2">
            <a:alphaModFix amt="11000"/>
          </a:blip>
          <a:stretch/>
        </p:blipFill>
        <p:spPr>
          <a:xfrm>
            <a:off x="2527560" y="265680"/>
            <a:ext cx="9449280" cy="6189480"/>
          </a:xfrm>
          <a:prstGeom prst="rect">
            <a:avLst/>
          </a:prstGeom>
          <a:ln w="0">
            <a:noFill/>
          </a:ln>
        </p:spPr>
      </p:pic>
      <p:sp>
        <p:nvSpPr>
          <p:cNvPr id="43" name="Rectangle 29"/>
          <p:cNvSpPr/>
          <p:nvPr/>
        </p:nvSpPr>
        <p:spPr>
          <a:xfrm>
            <a:off x="0" y="0"/>
            <a:ext cx="2012400" cy="685692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p:style>
        <p:txBody>
          <a:bodyPr/>
          <a:lstStyle/>
          <a:p>
            <a:endParaRPr lang="en-CA"/>
          </a:p>
        </p:txBody>
      </p:sp>
      <p:sp>
        <p:nvSpPr>
          <p:cNvPr id="44" name="Rectangle 1"/>
          <p:cNvSpPr/>
          <p:nvPr/>
        </p:nvSpPr>
        <p:spPr>
          <a:xfrm>
            <a:off x="213840" y="1633320"/>
            <a:ext cx="3523320" cy="3454200"/>
          </a:xfrm>
          <a:prstGeom prst="ellipse">
            <a:avLst/>
          </a:prstGeom>
          <a:solidFill>
            <a:srgbClr val="262626"/>
          </a:solidFill>
          <a:ln w="174625">
            <a:solidFill>
              <a:srgbClr val="262626"/>
            </a:solidFill>
            <a:round/>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spcAft>
                <a:spcPts val="601"/>
              </a:spcAft>
              <a:buNone/>
            </a:pPr>
            <a:r>
              <a:rPr lang="en-US" sz="2600" b="1" spc="-1" dirty="0">
                <a:solidFill>
                  <a:srgbClr val="FFFFFF"/>
                </a:solidFill>
                <a:latin typeface="Calibri Light"/>
                <a:ea typeface="DejaVu Sans"/>
              </a:rPr>
              <a:t>Internal</a:t>
            </a:r>
            <a:r>
              <a:rPr lang="en-US" sz="2600" b="1" strike="noStrike" spc="-1" dirty="0">
                <a:solidFill>
                  <a:srgbClr val="FFFFFF"/>
                </a:solidFill>
                <a:latin typeface="Calibri Light"/>
                <a:ea typeface="DejaVu Sans"/>
              </a:rPr>
              <a:t> Training</a:t>
            </a:r>
            <a:r>
              <a:rPr lang="en-CA" sz="2600" spc="-1" dirty="0">
                <a:solidFill>
                  <a:srgbClr val="FFFFFF"/>
                </a:solidFill>
                <a:latin typeface="Arial"/>
                <a:ea typeface="DejaVu Sans"/>
              </a:rPr>
              <a:t>:</a:t>
            </a:r>
            <a:endParaRPr lang="en-CA" sz="2600" b="0" strike="noStrike" spc="-1" dirty="0">
              <a:latin typeface="Arial"/>
            </a:endParaRPr>
          </a:p>
          <a:p>
            <a:pPr algn="ctr">
              <a:lnSpc>
                <a:spcPct val="90000"/>
              </a:lnSpc>
              <a:spcAft>
                <a:spcPts val="601"/>
              </a:spcAft>
              <a:buNone/>
            </a:pPr>
            <a:r>
              <a:rPr lang="en-US" sz="2600" b="1" strike="noStrike" spc="-1" dirty="0">
                <a:solidFill>
                  <a:srgbClr val="FFFFFF"/>
                </a:solidFill>
                <a:latin typeface="Calibri Light"/>
                <a:ea typeface="DejaVu Sans"/>
              </a:rPr>
              <a:t>PLC and UI </a:t>
            </a:r>
            <a:r>
              <a:rPr lang="en-US" sz="2600" b="1" spc="-1" dirty="0">
                <a:solidFill>
                  <a:srgbClr val="FFFFFF"/>
                </a:solidFill>
                <a:latin typeface="Calibri Light"/>
                <a:ea typeface="DejaVu Sans"/>
              </a:rPr>
              <a:t>Conventions</a:t>
            </a:r>
            <a:endParaRPr lang="en-CA" sz="2600" b="0" strike="noStrike" spc="-1" dirty="0">
              <a:latin typeface="Arial"/>
            </a:endParaRPr>
          </a:p>
        </p:txBody>
      </p:sp>
      <p:pic>
        <p:nvPicPr>
          <p:cNvPr id="45" name="Picture 22" descr="Logo&#10;&#10;Description automatically generated"/>
          <p:cNvPicPr/>
          <p:nvPr/>
        </p:nvPicPr>
        <p:blipFill>
          <a:blip r:embed="rId3"/>
          <a:stretch/>
        </p:blipFill>
        <p:spPr>
          <a:xfrm>
            <a:off x="4635360" y="2803680"/>
            <a:ext cx="6780600" cy="2461680"/>
          </a:xfrm>
          <a:prstGeom prst="rect">
            <a:avLst/>
          </a:prstGeom>
          <a:ln w="0">
            <a:noFill/>
          </a:ln>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 name="Rectangle 10"/>
          <p:cNvSpPr/>
          <p:nvPr/>
        </p:nvSpPr>
        <p:spPr>
          <a:xfrm>
            <a:off x="0" y="0"/>
            <a:ext cx="12191040" cy="68569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CA" dirty="0"/>
          </a:p>
        </p:txBody>
      </p:sp>
      <p:sp>
        <p:nvSpPr>
          <p:cNvPr id="48" name="Freeform: Shape 14"/>
          <p:cNvSpPr/>
          <p:nvPr/>
        </p:nvSpPr>
        <p:spPr>
          <a:xfrm rot="10800000">
            <a:off x="-2160" y="3296520"/>
            <a:ext cx="12201120" cy="3560400"/>
          </a:xfrm>
          <a:custGeom>
            <a:avLst/>
            <a:gdLst/>
            <a:ahLst/>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p:style>
        <p:txBody>
          <a:bodyPr/>
          <a:lstStyle/>
          <a:p>
            <a:endParaRPr lang="en-CA"/>
          </a:p>
        </p:txBody>
      </p:sp>
      <p:pic>
        <p:nvPicPr>
          <p:cNvPr id="49" name="Picture 12" descr="Logo&#10;&#10;Description automatically generated"/>
          <p:cNvPicPr/>
          <p:nvPr/>
        </p:nvPicPr>
        <p:blipFill>
          <a:blip r:embed="rId2"/>
          <a:stretch/>
        </p:blipFill>
        <p:spPr>
          <a:xfrm>
            <a:off x="336240" y="208080"/>
            <a:ext cx="2932560" cy="1064520"/>
          </a:xfrm>
          <a:prstGeom prst="rect">
            <a:avLst/>
          </a:prstGeom>
          <a:ln w="0">
            <a:noFill/>
          </a:ln>
        </p:spPr>
      </p:pic>
      <p:sp>
        <p:nvSpPr>
          <p:cNvPr id="50" name="Rectangle 12"/>
          <p:cNvSpPr/>
          <p:nvPr/>
        </p:nvSpPr>
        <p:spPr>
          <a:xfrm>
            <a:off x="7783200" y="104400"/>
            <a:ext cx="4273920" cy="1271880"/>
          </a:xfrm>
          <a:prstGeom prst="rect">
            <a:avLst/>
          </a:prstGeom>
          <a:gradFill rotWithShape="0">
            <a:gsLst>
              <a:gs pos="0">
                <a:srgbClr val="EE8137"/>
              </a:gs>
              <a:gs pos="100000">
                <a:srgbClr val="F4B183"/>
              </a:gs>
            </a:gsLst>
            <a:lin ang="16200000"/>
          </a:grad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spcAft>
                <a:spcPts val="601"/>
              </a:spcAft>
              <a:buNone/>
            </a:pPr>
            <a:r>
              <a:rPr lang="en-CA" sz="4000" b="1" strike="noStrike" spc="-1" dirty="0">
                <a:solidFill>
                  <a:srgbClr val="000000"/>
                </a:solidFill>
                <a:latin typeface="Calibri Light"/>
                <a:ea typeface="DejaVu Sans"/>
              </a:rPr>
              <a:t>Intro</a:t>
            </a:r>
            <a:endParaRPr lang="en-CA" sz="2400" b="0" strike="noStrike" spc="-1" dirty="0">
              <a:latin typeface="Arial"/>
            </a:endParaRPr>
          </a:p>
        </p:txBody>
      </p:sp>
      <p:sp>
        <p:nvSpPr>
          <p:cNvPr id="2" name="TextBox 1">
            <a:extLst>
              <a:ext uri="{FF2B5EF4-FFF2-40B4-BE49-F238E27FC236}">
                <a16:creationId xmlns:a16="http://schemas.microsoft.com/office/drawing/2014/main" id="{79273B0B-8B43-297D-1A9E-BB91E1EE2FB9}"/>
              </a:ext>
            </a:extLst>
          </p:cNvPr>
          <p:cNvSpPr txBox="1"/>
          <p:nvPr/>
        </p:nvSpPr>
        <p:spPr>
          <a:xfrm>
            <a:off x="2980944" y="2537795"/>
            <a:ext cx="6044184" cy="2308324"/>
          </a:xfrm>
          <a:prstGeom prst="rect">
            <a:avLst/>
          </a:prstGeom>
          <a:noFill/>
        </p:spPr>
        <p:txBody>
          <a:bodyPr wrap="square" rtlCol="0">
            <a:spAutoFit/>
          </a:bodyPr>
          <a:lstStyle/>
          <a:p>
            <a:r>
              <a:rPr lang="en-CA" dirty="0">
                <a:latin typeface="Calibri" panose="020F0502020204030204" pitchFamily="34" charset="0"/>
                <a:ea typeface="Calibri" panose="020F0502020204030204" pitchFamily="34" charset="0"/>
                <a:cs typeface="Calibri" panose="020F0502020204030204" pitchFamily="34" charset="0"/>
              </a:rPr>
              <a:t>The goal of this power point presentation is to set some common conventions such as code style and layout, UI style and coloring as well as explain some standardized sections. Of our PLC and UI packages.</a:t>
            </a:r>
          </a:p>
          <a:p>
            <a:endParaRPr lang="en-CA" dirty="0">
              <a:latin typeface="Calibri" panose="020F0502020204030204" pitchFamily="34" charset="0"/>
              <a:ea typeface="Calibri" panose="020F0502020204030204" pitchFamily="34" charset="0"/>
              <a:cs typeface="Calibri" panose="020F0502020204030204" pitchFamily="34" charset="0"/>
            </a:endParaRPr>
          </a:p>
          <a:p>
            <a:r>
              <a:rPr lang="en-CA" dirty="0">
                <a:latin typeface="Calibri" panose="020F0502020204030204" pitchFamily="34" charset="0"/>
                <a:ea typeface="Calibri" panose="020F0502020204030204" pitchFamily="34" charset="0"/>
                <a:cs typeface="Calibri" panose="020F0502020204030204" pitchFamily="34" charset="0"/>
              </a:rPr>
              <a:t>Although we do like to promote creativity, setting some boundaries helps to ensure consistency, code portability and easier adoption from programmer to programmer.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2BA69EE-5914-3DA0-C878-96D94F3F14CB}"/>
            </a:ext>
          </a:extLst>
        </p:cNvPr>
        <p:cNvGrpSpPr/>
        <p:nvPr/>
      </p:nvGrpSpPr>
      <p:grpSpPr>
        <a:xfrm>
          <a:off x="0" y="0"/>
          <a:ext cx="0" cy="0"/>
          <a:chOff x="0" y="0"/>
          <a:chExt cx="0" cy="0"/>
        </a:xfrm>
      </p:grpSpPr>
      <p:sp>
        <p:nvSpPr>
          <p:cNvPr id="48" name="Freeform: Shape 14">
            <a:extLst>
              <a:ext uri="{FF2B5EF4-FFF2-40B4-BE49-F238E27FC236}">
                <a16:creationId xmlns:a16="http://schemas.microsoft.com/office/drawing/2014/main" id="{0F8E99DA-7E92-CE89-D538-F6759115E961}"/>
              </a:ext>
            </a:extLst>
          </p:cNvPr>
          <p:cNvSpPr/>
          <p:nvPr/>
        </p:nvSpPr>
        <p:spPr>
          <a:xfrm rot="10800000">
            <a:off x="-2160" y="3296520"/>
            <a:ext cx="12201120" cy="3560400"/>
          </a:xfrm>
          <a:custGeom>
            <a:avLst/>
            <a:gdLst/>
            <a:ahLst/>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p:style>
        <p:txBody>
          <a:bodyPr/>
          <a:lstStyle/>
          <a:p>
            <a:endParaRPr lang="en-CA"/>
          </a:p>
        </p:txBody>
      </p:sp>
      <p:pic>
        <p:nvPicPr>
          <p:cNvPr id="49" name="Picture 12" descr="Logo&#10;&#10;Description automatically generated">
            <a:extLst>
              <a:ext uri="{FF2B5EF4-FFF2-40B4-BE49-F238E27FC236}">
                <a16:creationId xmlns:a16="http://schemas.microsoft.com/office/drawing/2014/main" id="{9D8294B5-1344-CE74-8631-C40ABA215BF1}"/>
              </a:ext>
            </a:extLst>
          </p:cNvPr>
          <p:cNvPicPr/>
          <p:nvPr/>
        </p:nvPicPr>
        <p:blipFill>
          <a:blip r:embed="rId2"/>
          <a:stretch/>
        </p:blipFill>
        <p:spPr>
          <a:xfrm>
            <a:off x="336240" y="208080"/>
            <a:ext cx="2932560" cy="1064520"/>
          </a:xfrm>
          <a:prstGeom prst="rect">
            <a:avLst/>
          </a:prstGeom>
          <a:ln w="0">
            <a:noFill/>
          </a:ln>
        </p:spPr>
      </p:pic>
      <p:sp>
        <p:nvSpPr>
          <p:cNvPr id="50" name="Rectangle 12">
            <a:extLst>
              <a:ext uri="{FF2B5EF4-FFF2-40B4-BE49-F238E27FC236}">
                <a16:creationId xmlns:a16="http://schemas.microsoft.com/office/drawing/2014/main" id="{F6AE517A-5536-61E7-FDD0-1BDFD04E35C2}"/>
              </a:ext>
            </a:extLst>
          </p:cNvPr>
          <p:cNvSpPr/>
          <p:nvPr/>
        </p:nvSpPr>
        <p:spPr>
          <a:xfrm>
            <a:off x="7783200" y="104400"/>
            <a:ext cx="4273920" cy="1271880"/>
          </a:xfrm>
          <a:prstGeom prst="rect">
            <a:avLst/>
          </a:prstGeom>
          <a:gradFill rotWithShape="0">
            <a:gsLst>
              <a:gs pos="0">
                <a:srgbClr val="EE8137"/>
              </a:gs>
              <a:gs pos="100000">
                <a:srgbClr val="F4B183"/>
              </a:gs>
            </a:gsLst>
            <a:lin ang="16200000"/>
          </a:grad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spcAft>
                <a:spcPts val="601"/>
              </a:spcAft>
              <a:buNone/>
            </a:pPr>
            <a:r>
              <a:rPr lang="en-CA" sz="4000" b="1" strike="noStrike" spc="-1" dirty="0">
                <a:solidFill>
                  <a:srgbClr val="000000"/>
                </a:solidFill>
                <a:latin typeface="Calibri Light"/>
                <a:ea typeface="DejaVu Sans"/>
              </a:rPr>
              <a:t>Clamp Steps</a:t>
            </a:r>
          </a:p>
        </p:txBody>
      </p:sp>
      <p:pic>
        <p:nvPicPr>
          <p:cNvPr id="2050" name="Picture 2">
            <a:extLst>
              <a:ext uri="{FF2B5EF4-FFF2-40B4-BE49-F238E27FC236}">
                <a16:creationId xmlns:a16="http://schemas.microsoft.com/office/drawing/2014/main" id="{5B980EA7-367D-A705-1346-F613B567920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563" t="13019" r="9806" b="7645"/>
          <a:stretch>
            <a:fillRect/>
          </a:stretch>
        </p:blipFill>
        <p:spPr bwMode="auto">
          <a:xfrm>
            <a:off x="3946358" y="1568919"/>
            <a:ext cx="3561347" cy="43602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10521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19C809A-5FDE-F25F-1F28-12C79B98A12C}"/>
            </a:ext>
          </a:extLst>
        </p:cNvPr>
        <p:cNvGrpSpPr/>
        <p:nvPr/>
      </p:nvGrpSpPr>
      <p:grpSpPr>
        <a:xfrm>
          <a:off x="0" y="0"/>
          <a:ext cx="0" cy="0"/>
          <a:chOff x="0" y="0"/>
          <a:chExt cx="0" cy="0"/>
        </a:xfrm>
      </p:grpSpPr>
      <p:sp>
        <p:nvSpPr>
          <p:cNvPr id="47" name="Rectangle 10">
            <a:extLst>
              <a:ext uri="{FF2B5EF4-FFF2-40B4-BE49-F238E27FC236}">
                <a16:creationId xmlns:a16="http://schemas.microsoft.com/office/drawing/2014/main" id="{7C404A55-52F4-B11C-ACD6-530702178ED3}"/>
              </a:ext>
            </a:extLst>
          </p:cNvPr>
          <p:cNvSpPr/>
          <p:nvPr/>
        </p:nvSpPr>
        <p:spPr>
          <a:xfrm>
            <a:off x="0" y="0"/>
            <a:ext cx="12191040" cy="68569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CA"/>
          </a:p>
        </p:txBody>
      </p:sp>
      <p:sp>
        <p:nvSpPr>
          <p:cNvPr id="48" name="Freeform: Shape 14">
            <a:extLst>
              <a:ext uri="{FF2B5EF4-FFF2-40B4-BE49-F238E27FC236}">
                <a16:creationId xmlns:a16="http://schemas.microsoft.com/office/drawing/2014/main" id="{7E3244B3-DA14-CA36-761F-4BD2C4956439}"/>
              </a:ext>
            </a:extLst>
          </p:cNvPr>
          <p:cNvSpPr/>
          <p:nvPr/>
        </p:nvSpPr>
        <p:spPr>
          <a:xfrm rot="10800000">
            <a:off x="-2160" y="3296520"/>
            <a:ext cx="12201120" cy="3560400"/>
          </a:xfrm>
          <a:custGeom>
            <a:avLst/>
            <a:gdLst/>
            <a:ahLst/>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p:style>
        <p:txBody>
          <a:bodyPr/>
          <a:lstStyle/>
          <a:p>
            <a:endParaRPr lang="en-CA"/>
          </a:p>
        </p:txBody>
      </p:sp>
      <p:pic>
        <p:nvPicPr>
          <p:cNvPr id="49" name="Picture 12" descr="Logo&#10;&#10;Description automatically generated">
            <a:extLst>
              <a:ext uri="{FF2B5EF4-FFF2-40B4-BE49-F238E27FC236}">
                <a16:creationId xmlns:a16="http://schemas.microsoft.com/office/drawing/2014/main" id="{63F18436-E3B3-62E6-3C3E-4ADFABAB8F32}"/>
              </a:ext>
            </a:extLst>
          </p:cNvPr>
          <p:cNvPicPr/>
          <p:nvPr/>
        </p:nvPicPr>
        <p:blipFill>
          <a:blip r:embed="rId2"/>
          <a:stretch/>
        </p:blipFill>
        <p:spPr>
          <a:xfrm>
            <a:off x="336240" y="208080"/>
            <a:ext cx="2932560" cy="1064520"/>
          </a:xfrm>
          <a:prstGeom prst="rect">
            <a:avLst/>
          </a:prstGeom>
          <a:ln w="0">
            <a:noFill/>
          </a:ln>
        </p:spPr>
      </p:pic>
      <p:sp>
        <p:nvSpPr>
          <p:cNvPr id="50" name="Rectangle 12">
            <a:extLst>
              <a:ext uri="{FF2B5EF4-FFF2-40B4-BE49-F238E27FC236}">
                <a16:creationId xmlns:a16="http://schemas.microsoft.com/office/drawing/2014/main" id="{0B2E995E-2205-CF67-0B4D-729CD4206561}"/>
              </a:ext>
            </a:extLst>
          </p:cNvPr>
          <p:cNvSpPr/>
          <p:nvPr/>
        </p:nvSpPr>
        <p:spPr>
          <a:xfrm>
            <a:off x="7783200" y="104400"/>
            <a:ext cx="4273920" cy="1271880"/>
          </a:xfrm>
          <a:prstGeom prst="rect">
            <a:avLst/>
          </a:prstGeom>
          <a:gradFill rotWithShape="0">
            <a:gsLst>
              <a:gs pos="0">
                <a:srgbClr val="EE8137"/>
              </a:gs>
              <a:gs pos="100000">
                <a:srgbClr val="F4B183"/>
              </a:gs>
            </a:gsLst>
            <a:lin ang="16200000"/>
          </a:grad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spcAft>
                <a:spcPts val="601"/>
              </a:spcAft>
              <a:buNone/>
            </a:pPr>
            <a:r>
              <a:rPr lang="en-CA" sz="4000" b="1" strike="noStrike" spc="-1" dirty="0">
                <a:solidFill>
                  <a:srgbClr val="000000"/>
                </a:solidFill>
                <a:latin typeface="Calibri Light"/>
                <a:ea typeface="DejaVu Sans"/>
              </a:rPr>
              <a:t>Clamp Steps</a:t>
            </a:r>
          </a:p>
        </p:txBody>
      </p:sp>
      <p:sp>
        <p:nvSpPr>
          <p:cNvPr id="2" name="TextBox 1">
            <a:extLst>
              <a:ext uri="{FF2B5EF4-FFF2-40B4-BE49-F238E27FC236}">
                <a16:creationId xmlns:a16="http://schemas.microsoft.com/office/drawing/2014/main" id="{41AAE3F1-2DA4-44D3-738B-4629C172BCAE}"/>
              </a:ext>
            </a:extLst>
          </p:cNvPr>
          <p:cNvSpPr txBox="1"/>
          <p:nvPr/>
        </p:nvSpPr>
        <p:spPr>
          <a:xfrm>
            <a:off x="2926080" y="1861563"/>
            <a:ext cx="6044184" cy="3693319"/>
          </a:xfrm>
          <a:prstGeom prst="rect">
            <a:avLst/>
          </a:prstGeom>
          <a:noFill/>
        </p:spPr>
        <p:txBody>
          <a:bodyPr wrap="square" rtlCol="0">
            <a:spAutoFit/>
          </a:bodyPr>
          <a:lstStyle/>
          <a:p>
            <a:r>
              <a:rPr lang="en-CA" dirty="0">
                <a:latin typeface="Calibri" panose="020F0502020204030204" pitchFamily="34" charset="0"/>
                <a:ea typeface="Calibri" panose="020F0502020204030204" pitchFamily="34" charset="0"/>
                <a:cs typeface="Calibri" panose="020F0502020204030204" pitchFamily="34" charset="0"/>
              </a:rPr>
              <a:t>Clamps steps are where we carve out the general clamping and unclamping sequence of our fixtures, we then use the end result of the clamp step code to trigger valve banks associated with clamp groups.</a:t>
            </a:r>
          </a:p>
          <a:p>
            <a:endParaRPr lang="en-CA" dirty="0">
              <a:latin typeface="Calibri" panose="020F0502020204030204" pitchFamily="34" charset="0"/>
              <a:ea typeface="Calibri" panose="020F0502020204030204" pitchFamily="34" charset="0"/>
              <a:cs typeface="Calibri" panose="020F0502020204030204" pitchFamily="34" charset="0"/>
            </a:endParaRPr>
          </a:p>
          <a:p>
            <a:r>
              <a:rPr lang="en-CA" dirty="0">
                <a:latin typeface="Calibri" panose="020F0502020204030204" pitchFamily="34" charset="0"/>
                <a:ea typeface="Calibri" panose="020F0502020204030204" pitchFamily="34" charset="0"/>
                <a:cs typeface="Calibri" panose="020F0502020204030204" pitchFamily="34" charset="0"/>
              </a:rPr>
              <a:t>As you may be familiar, the concept of clamp steps have been a widely debated topic for many years at our company. The current general practice is, clamp step style of code is highly suggested on fixtures that have more then 1 clamp / unclamp step. If only one step is required, then the clamp step style may be ignored, and the valve bank code can be triggered with </a:t>
            </a:r>
            <a:r>
              <a:rPr lang="en-CA" dirty="0" err="1">
                <a:latin typeface="Calibri" panose="020F0502020204030204" pitchFamily="34" charset="0"/>
                <a:ea typeface="Calibri" panose="020F0502020204030204" pitchFamily="34" charset="0"/>
                <a:cs typeface="Calibri" panose="020F0502020204030204" pitchFamily="34" charset="0"/>
              </a:rPr>
              <a:t>Auto_Run</a:t>
            </a:r>
            <a:r>
              <a:rPr lang="en-CA" dirty="0">
                <a:latin typeface="Calibri" panose="020F0502020204030204" pitchFamily="34" charset="0"/>
                <a:ea typeface="Calibri" panose="020F0502020204030204" pitchFamily="34" charset="0"/>
                <a:cs typeface="Calibri" panose="020F0502020204030204" pitchFamily="34" charset="0"/>
              </a:rPr>
              <a:t> and Weld_Complete (or other Completes as required for the application) directly.</a:t>
            </a:r>
          </a:p>
        </p:txBody>
      </p:sp>
    </p:spTree>
    <p:extLst>
      <p:ext uri="{BB962C8B-B14F-4D97-AF65-F5344CB8AC3E}">
        <p14:creationId xmlns:p14="http://schemas.microsoft.com/office/powerpoint/2010/main" val="29418975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4A8866A-5572-41EF-106B-8CBB189D6096}"/>
            </a:ext>
          </a:extLst>
        </p:cNvPr>
        <p:cNvGrpSpPr/>
        <p:nvPr/>
      </p:nvGrpSpPr>
      <p:grpSpPr>
        <a:xfrm>
          <a:off x="0" y="0"/>
          <a:ext cx="0" cy="0"/>
          <a:chOff x="0" y="0"/>
          <a:chExt cx="0" cy="0"/>
        </a:xfrm>
      </p:grpSpPr>
      <p:sp>
        <p:nvSpPr>
          <p:cNvPr id="47" name="Rectangle 10">
            <a:extLst>
              <a:ext uri="{FF2B5EF4-FFF2-40B4-BE49-F238E27FC236}">
                <a16:creationId xmlns:a16="http://schemas.microsoft.com/office/drawing/2014/main" id="{2BE61AA7-62D8-B3D6-C02B-19ABA7DA7158}"/>
              </a:ext>
            </a:extLst>
          </p:cNvPr>
          <p:cNvSpPr/>
          <p:nvPr/>
        </p:nvSpPr>
        <p:spPr>
          <a:xfrm>
            <a:off x="0" y="0"/>
            <a:ext cx="12191040" cy="68569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CA"/>
          </a:p>
        </p:txBody>
      </p:sp>
      <p:pic>
        <p:nvPicPr>
          <p:cNvPr id="49" name="Picture 12" descr="Logo&#10;&#10;Description automatically generated">
            <a:extLst>
              <a:ext uri="{FF2B5EF4-FFF2-40B4-BE49-F238E27FC236}">
                <a16:creationId xmlns:a16="http://schemas.microsoft.com/office/drawing/2014/main" id="{02031390-2CDC-A9D6-94A6-693645C6C2AA}"/>
              </a:ext>
            </a:extLst>
          </p:cNvPr>
          <p:cNvPicPr/>
          <p:nvPr/>
        </p:nvPicPr>
        <p:blipFill>
          <a:blip r:embed="rId2"/>
          <a:stretch/>
        </p:blipFill>
        <p:spPr>
          <a:xfrm>
            <a:off x="336240" y="208080"/>
            <a:ext cx="2932560" cy="1064520"/>
          </a:xfrm>
          <a:prstGeom prst="rect">
            <a:avLst/>
          </a:prstGeom>
          <a:ln w="0">
            <a:noFill/>
          </a:ln>
        </p:spPr>
      </p:pic>
      <p:sp>
        <p:nvSpPr>
          <p:cNvPr id="50" name="Rectangle 12">
            <a:extLst>
              <a:ext uri="{FF2B5EF4-FFF2-40B4-BE49-F238E27FC236}">
                <a16:creationId xmlns:a16="http://schemas.microsoft.com/office/drawing/2014/main" id="{0F05B6EF-F719-B41F-8EAA-088560E66D97}"/>
              </a:ext>
            </a:extLst>
          </p:cNvPr>
          <p:cNvSpPr/>
          <p:nvPr/>
        </p:nvSpPr>
        <p:spPr>
          <a:xfrm>
            <a:off x="7783200" y="104400"/>
            <a:ext cx="4273920" cy="1271880"/>
          </a:xfrm>
          <a:prstGeom prst="rect">
            <a:avLst/>
          </a:prstGeom>
          <a:gradFill rotWithShape="0">
            <a:gsLst>
              <a:gs pos="0">
                <a:srgbClr val="EE8137"/>
              </a:gs>
              <a:gs pos="100000">
                <a:srgbClr val="F4B183"/>
              </a:gs>
            </a:gsLst>
            <a:lin ang="16200000"/>
          </a:grad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spcAft>
                <a:spcPts val="601"/>
              </a:spcAft>
              <a:buNone/>
            </a:pPr>
            <a:r>
              <a:rPr lang="en-CA" sz="4000" b="1" strike="noStrike" spc="-1" dirty="0">
                <a:solidFill>
                  <a:srgbClr val="000000"/>
                </a:solidFill>
                <a:latin typeface="Calibri Light"/>
                <a:ea typeface="DejaVu Sans"/>
              </a:rPr>
              <a:t>Clamp Steps</a:t>
            </a:r>
          </a:p>
        </p:txBody>
      </p:sp>
      <p:sp>
        <p:nvSpPr>
          <p:cNvPr id="2" name="TextBox 1">
            <a:extLst>
              <a:ext uri="{FF2B5EF4-FFF2-40B4-BE49-F238E27FC236}">
                <a16:creationId xmlns:a16="http://schemas.microsoft.com/office/drawing/2014/main" id="{291AC76F-1507-DF23-5958-53D51291E5BF}"/>
              </a:ext>
            </a:extLst>
          </p:cNvPr>
          <p:cNvSpPr txBox="1"/>
          <p:nvPr/>
        </p:nvSpPr>
        <p:spPr>
          <a:xfrm>
            <a:off x="265176" y="1480680"/>
            <a:ext cx="3995928" cy="923330"/>
          </a:xfrm>
          <a:prstGeom prst="rect">
            <a:avLst/>
          </a:prstGeom>
          <a:noFill/>
        </p:spPr>
        <p:txBody>
          <a:bodyPr wrap="square" rtlCol="0">
            <a:spAutoFit/>
          </a:bodyPr>
          <a:lstStyle/>
          <a:p>
            <a:r>
              <a:rPr lang="en-CA" dirty="0">
                <a:latin typeface="Calibri" panose="020F0502020204030204" pitchFamily="34" charset="0"/>
                <a:ea typeface="Calibri" panose="020F0502020204030204" pitchFamily="34" charset="0"/>
                <a:cs typeface="Calibri" panose="020F0502020204030204" pitchFamily="34" charset="0"/>
              </a:rPr>
              <a:t>This is what the clamp step code looks like in our current (SSCC610) FW out of the box:</a:t>
            </a:r>
          </a:p>
        </p:txBody>
      </p:sp>
      <p:pic>
        <p:nvPicPr>
          <p:cNvPr id="4" name="Picture 3">
            <a:extLst>
              <a:ext uri="{FF2B5EF4-FFF2-40B4-BE49-F238E27FC236}">
                <a16:creationId xmlns:a16="http://schemas.microsoft.com/office/drawing/2014/main" id="{140E38BF-24D9-00C3-722B-A12CA16FE395}"/>
              </a:ext>
            </a:extLst>
          </p:cNvPr>
          <p:cNvPicPr>
            <a:picLocks noChangeAspect="1"/>
          </p:cNvPicPr>
          <p:nvPr/>
        </p:nvPicPr>
        <p:blipFill>
          <a:blip r:embed="rId3"/>
          <a:stretch>
            <a:fillRect/>
          </a:stretch>
        </p:blipFill>
        <p:spPr>
          <a:xfrm>
            <a:off x="3649205" y="2295078"/>
            <a:ext cx="8407915" cy="445852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83897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0795C90-BFAC-5327-405A-BC418DA34BBE}"/>
            </a:ext>
          </a:extLst>
        </p:cNvPr>
        <p:cNvGrpSpPr/>
        <p:nvPr/>
      </p:nvGrpSpPr>
      <p:grpSpPr>
        <a:xfrm>
          <a:off x="0" y="0"/>
          <a:ext cx="0" cy="0"/>
          <a:chOff x="0" y="0"/>
          <a:chExt cx="0" cy="0"/>
        </a:xfrm>
      </p:grpSpPr>
      <p:sp>
        <p:nvSpPr>
          <p:cNvPr id="47" name="Rectangle 10">
            <a:extLst>
              <a:ext uri="{FF2B5EF4-FFF2-40B4-BE49-F238E27FC236}">
                <a16:creationId xmlns:a16="http://schemas.microsoft.com/office/drawing/2014/main" id="{CDDBEE7A-4AD4-8171-853B-36E104AC4739}"/>
              </a:ext>
            </a:extLst>
          </p:cNvPr>
          <p:cNvSpPr/>
          <p:nvPr/>
        </p:nvSpPr>
        <p:spPr>
          <a:xfrm>
            <a:off x="0" y="0"/>
            <a:ext cx="12191040" cy="68569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CA"/>
          </a:p>
        </p:txBody>
      </p:sp>
      <p:pic>
        <p:nvPicPr>
          <p:cNvPr id="49" name="Picture 12" descr="Logo&#10;&#10;Description automatically generated">
            <a:extLst>
              <a:ext uri="{FF2B5EF4-FFF2-40B4-BE49-F238E27FC236}">
                <a16:creationId xmlns:a16="http://schemas.microsoft.com/office/drawing/2014/main" id="{74D8E091-941D-BBF4-5AC8-84D42BA9C360}"/>
              </a:ext>
            </a:extLst>
          </p:cNvPr>
          <p:cNvPicPr/>
          <p:nvPr/>
        </p:nvPicPr>
        <p:blipFill>
          <a:blip r:embed="rId2"/>
          <a:stretch/>
        </p:blipFill>
        <p:spPr>
          <a:xfrm>
            <a:off x="336240" y="208080"/>
            <a:ext cx="2932560" cy="1064520"/>
          </a:xfrm>
          <a:prstGeom prst="rect">
            <a:avLst/>
          </a:prstGeom>
          <a:ln w="0">
            <a:noFill/>
          </a:ln>
        </p:spPr>
      </p:pic>
      <p:sp>
        <p:nvSpPr>
          <p:cNvPr id="50" name="Rectangle 12">
            <a:extLst>
              <a:ext uri="{FF2B5EF4-FFF2-40B4-BE49-F238E27FC236}">
                <a16:creationId xmlns:a16="http://schemas.microsoft.com/office/drawing/2014/main" id="{56E73592-DF15-9F59-935E-C65E4F88AEEA}"/>
              </a:ext>
            </a:extLst>
          </p:cNvPr>
          <p:cNvSpPr/>
          <p:nvPr/>
        </p:nvSpPr>
        <p:spPr>
          <a:xfrm>
            <a:off x="7783200" y="104400"/>
            <a:ext cx="4273920" cy="1271880"/>
          </a:xfrm>
          <a:prstGeom prst="rect">
            <a:avLst/>
          </a:prstGeom>
          <a:gradFill rotWithShape="0">
            <a:gsLst>
              <a:gs pos="0">
                <a:srgbClr val="EE8137"/>
              </a:gs>
              <a:gs pos="100000">
                <a:srgbClr val="F4B183"/>
              </a:gs>
            </a:gsLst>
            <a:lin ang="16200000"/>
          </a:grad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spcAft>
                <a:spcPts val="601"/>
              </a:spcAft>
              <a:buNone/>
            </a:pPr>
            <a:r>
              <a:rPr lang="en-CA" sz="4000" b="1" strike="noStrike" spc="-1" dirty="0">
                <a:solidFill>
                  <a:srgbClr val="000000"/>
                </a:solidFill>
                <a:latin typeface="Calibri Light"/>
                <a:ea typeface="DejaVu Sans"/>
              </a:rPr>
              <a:t>Clamp Steps</a:t>
            </a:r>
          </a:p>
        </p:txBody>
      </p:sp>
      <p:sp>
        <p:nvSpPr>
          <p:cNvPr id="2" name="TextBox 1">
            <a:extLst>
              <a:ext uri="{FF2B5EF4-FFF2-40B4-BE49-F238E27FC236}">
                <a16:creationId xmlns:a16="http://schemas.microsoft.com/office/drawing/2014/main" id="{2F4F1594-9D08-1DED-04BB-B6C17DB167B3}"/>
              </a:ext>
            </a:extLst>
          </p:cNvPr>
          <p:cNvSpPr txBox="1"/>
          <p:nvPr/>
        </p:nvSpPr>
        <p:spPr>
          <a:xfrm>
            <a:off x="265176" y="1480680"/>
            <a:ext cx="3995928" cy="1754326"/>
          </a:xfrm>
          <a:prstGeom prst="rect">
            <a:avLst/>
          </a:prstGeom>
          <a:noFill/>
        </p:spPr>
        <p:txBody>
          <a:bodyPr wrap="square" rtlCol="0">
            <a:spAutoFit/>
          </a:bodyPr>
          <a:lstStyle/>
          <a:p>
            <a:r>
              <a:rPr lang="en-CA" sz="1200" dirty="0">
                <a:latin typeface="Calibri" panose="020F0502020204030204" pitchFamily="34" charset="0"/>
                <a:ea typeface="Calibri" panose="020F0502020204030204" pitchFamily="34" charset="0"/>
                <a:cs typeface="Calibri" panose="020F0502020204030204" pitchFamily="34" charset="0"/>
              </a:rPr>
              <a:t>If our application used a very simple one step clamp / unclamp sequence, we could use the code as is with a few minor changes.</a:t>
            </a:r>
          </a:p>
          <a:p>
            <a:endParaRPr lang="en-CA" sz="1200" dirty="0">
              <a:latin typeface="Calibri" panose="020F0502020204030204" pitchFamily="34" charset="0"/>
              <a:ea typeface="Calibri" panose="020F0502020204030204" pitchFamily="34" charset="0"/>
              <a:cs typeface="Calibri" panose="020F0502020204030204" pitchFamily="34" charset="0"/>
            </a:endParaRPr>
          </a:p>
          <a:p>
            <a:pPr marL="342900" indent="-342900">
              <a:buAutoNum type="arabicPeriod"/>
            </a:pPr>
            <a:r>
              <a:rPr lang="en-CA" sz="1200" dirty="0">
                <a:latin typeface="Calibri" panose="020F0502020204030204" pitchFamily="34" charset="0"/>
                <a:ea typeface="Calibri" panose="020F0502020204030204" pitchFamily="34" charset="0"/>
                <a:cs typeface="Calibri" panose="020F0502020204030204" pitchFamily="34" charset="0"/>
              </a:rPr>
              <a:t>Comment the clamp / unclamp steps.</a:t>
            </a:r>
          </a:p>
          <a:p>
            <a:pPr marL="342900" indent="-342900">
              <a:buAutoNum type="arabicPeriod"/>
            </a:pPr>
            <a:r>
              <a:rPr lang="en-CA" sz="1200" dirty="0">
                <a:latin typeface="Calibri" panose="020F0502020204030204" pitchFamily="34" charset="0"/>
                <a:ea typeface="Calibri" panose="020F0502020204030204" pitchFamily="34" charset="0"/>
                <a:cs typeface="Calibri" panose="020F0502020204030204" pitchFamily="34" charset="0"/>
              </a:rPr>
              <a:t>Remove the False variables in the clamp and unclamp steps</a:t>
            </a:r>
            <a:r>
              <a:rPr lang="en-CA" sz="1200" b="1" dirty="0">
                <a:latin typeface="Calibri" panose="020F0502020204030204" pitchFamily="34" charset="0"/>
                <a:ea typeface="Calibri" panose="020F0502020204030204" pitchFamily="34" charset="0"/>
                <a:cs typeface="Calibri" panose="020F0502020204030204" pitchFamily="34" charset="0"/>
              </a:rPr>
              <a:t>.</a:t>
            </a:r>
          </a:p>
          <a:p>
            <a:pPr marL="342900" indent="-342900">
              <a:buAutoNum type="arabicPeriod"/>
            </a:pPr>
            <a:r>
              <a:rPr lang="en-CA" sz="12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Add the clamp and unclamp triggers to our valve bank code. (Next Slide)</a:t>
            </a:r>
          </a:p>
        </p:txBody>
      </p:sp>
      <p:pic>
        <p:nvPicPr>
          <p:cNvPr id="5" name="Picture 4">
            <a:extLst>
              <a:ext uri="{FF2B5EF4-FFF2-40B4-BE49-F238E27FC236}">
                <a16:creationId xmlns:a16="http://schemas.microsoft.com/office/drawing/2014/main" id="{5B1C51CB-BAED-88E7-CA4D-5E993FF799B2}"/>
              </a:ext>
            </a:extLst>
          </p:cNvPr>
          <p:cNvPicPr>
            <a:picLocks noChangeAspect="1"/>
          </p:cNvPicPr>
          <p:nvPr/>
        </p:nvPicPr>
        <p:blipFill>
          <a:blip r:embed="rId3"/>
          <a:stretch>
            <a:fillRect/>
          </a:stretch>
        </p:blipFill>
        <p:spPr>
          <a:xfrm>
            <a:off x="4960005" y="2009488"/>
            <a:ext cx="7097115" cy="474411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86473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D471545-32FA-BE68-DBE3-8D9F57F307EF}"/>
            </a:ext>
          </a:extLst>
        </p:cNvPr>
        <p:cNvGrpSpPr/>
        <p:nvPr/>
      </p:nvGrpSpPr>
      <p:grpSpPr>
        <a:xfrm>
          <a:off x="0" y="0"/>
          <a:ext cx="0" cy="0"/>
          <a:chOff x="0" y="0"/>
          <a:chExt cx="0" cy="0"/>
        </a:xfrm>
      </p:grpSpPr>
      <p:sp>
        <p:nvSpPr>
          <p:cNvPr id="47" name="Rectangle 10">
            <a:extLst>
              <a:ext uri="{FF2B5EF4-FFF2-40B4-BE49-F238E27FC236}">
                <a16:creationId xmlns:a16="http://schemas.microsoft.com/office/drawing/2014/main" id="{AE607FCA-76E1-3E5C-9B0A-733998F093C9}"/>
              </a:ext>
            </a:extLst>
          </p:cNvPr>
          <p:cNvSpPr/>
          <p:nvPr/>
        </p:nvSpPr>
        <p:spPr>
          <a:xfrm>
            <a:off x="0" y="0"/>
            <a:ext cx="12191040" cy="68569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CA"/>
          </a:p>
        </p:txBody>
      </p:sp>
      <p:pic>
        <p:nvPicPr>
          <p:cNvPr id="49" name="Picture 12" descr="Logo&#10;&#10;Description automatically generated">
            <a:extLst>
              <a:ext uri="{FF2B5EF4-FFF2-40B4-BE49-F238E27FC236}">
                <a16:creationId xmlns:a16="http://schemas.microsoft.com/office/drawing/2014/main" id="{766BF428-8520-4854-4139-56EF926B4863}"/>
              </a:ext>
            </a:extLst>
          </p:cNvPr>
          <p:cNvPicPr/>
          <p:nvPr/>
        </p:nvPicPr>
        <p:blipFill>
          <a:blip r:embed="rId2"/>
          <a:stretch/>
        </p:blipFill>
        <p:spPr>
          <a:xfrm>
            <a:off x="336240" y="208080"/>
            <a:ext cx="2932560" cy="1064520"/>
          </a:xfrm>
          <a:prstGeom prst="rect">
            <a:avLst/>
          </a:prstGeom>
          <a:ln w="0">
            <a:noFill/>
          </a:ln>
        </p:spPr>
      </p:pic>
      <p:sp>
        <p:nvSpPr>
          <p:cNvPr id="50" name="Rectangle 12">
            <a:extLst>
              <a:ext uri="{FF2B5EF4-FFF2-40B4-BE49-F238E27FC236}">
                <a16:creationId xmlns:a16="http://schemas.microsoft.com/office/drawing/2014/main" id="{1F70B7A6-D549-B3FD-C5A8-F1D45931AB5E}"/>
              </a:ext>
            </a:extLst>
          </p:cNvPr>
          <p:cNvSpPr/>
          <p:nvPr/>
        </p:nvSpPr>
        <p:spPr>
          <a:xfrm>
            <a:off x="7783200" y="104400"/>
            <a:ext cx="4273920" cy="1271880"/>
          </a:xfrm>
          <a:prstGeom prst="rect">
            <a:avLst/>
          </a:prstGeom>
          <a:gradFill rotWithShape="0">
            <a:gsLst>
              <a:gs pos="0">
                <a:srgbClr val="EE8137"/>
              </a:gs>
              <a:gs pos="100000">
                <a:srgbClr val="F4B183"/>
              </a:gs>
            </a:gsLst>
            <a:lin ang="16200000"/>
          </a:grad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spcAft>
                <a:spcPts val="601"/>
              </a:spcAft>
              <a:buNone/>
            </a:pPr>
            <a:r>
              <a:rPr lang="en-CA" sz="4000" b="1" strike="noStrike" spc="-1" dirty="0">
                <a:solidFill>
                  <a:srgbClr val="000000"/>
                </a:solidFill>
                <a:latin typeface="Calibri Light"/>
                <a:ea typeface="DejaVu Sans"/>
              </a:rPr>
              <a:t>Clamp Steps</a:t>
            </a:r>
          </a:p>
        </p:txBody>
      </p:sp>
      <p:pic>
        <p:nvPicPr>
          <p:cNvPr id="4" name="Picture 3">
            <a:extLst>
              <a:ext uri="{FF2B5EF4-FFF2-40B4-BE49-F238E27FC236}">
                <a16:creationId xmlns:a16="http://schemas.microsoft.com/office/drawing/2014/main" id="{6F7CACB4-7BC6-C39E-9D1E-C571D52BA45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581306" y="2825496"/>
            <a:ext cx="10024460" cy="3824423"/>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0A7E3594-E415-3596-F4BA-C13D4D04BA8A}"/>
              </a:ext>
            </a:extLst>
          </p:cNvPr>
          <p:cNvSpPr txBox="1"/>
          <p:nvPr/>
        </p:nvSpPr>
        <p:spPr>
          <a:xfrm>
            <a:off x="256032" y="1320971"/>
            <a:ext cx="3995928" cy="1384995"/>
          </a:xfrm>
          <a:prstGeom prst="rect">
            <a:avLst/>
          </a:prstGeom>
          <a:noFill/>
        </p:spPr>
        <p:txBody>
          <a:bodyPr wrap="square" rtlCol="0">
            <a:spAutoFit/>
          </a:bodyPr>
          <a:lstStyle/>
          <a:p>
            <a:r>
              <a:rPr lang="en-CA" sz="1200" dirty="0">
                <a:latin typeface="Calibri" panose="020F0502020204030204" pitchFamily="34" charset="0"/>
                <a:ea typeface="Calibri" panose="020F0502020204030204" pitchFamily="34" charset="0"/>
                <a:cs typeface="Calibri" panose="020F0502020204030204" pitchFamily="34" charset="0"/>
              </a:rPr>
              <a:t>From previous slide:</a:t>
            </a:r>
            <a:endParaRPr lang="en-CA" sz="12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endParaRPr>
          </a:p>
          <a:p>
            <a:endParaRPr lang="en-CA" sz="12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endParaRPr>
          </a:p>
          <a:p>
            <a:pPr marL="342900" indent="-342900">
              <a:buAutoNum type="arabicPeriod"/>
            </a:pPr>
            <a:r>
              <a:rPr lang="en-CA" sz="12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Comment the clamp / unclamp steps.</a:t>
            </a:r>
          </a:p>
          <a:p>
            <a:pPr marL="342900" indent="-342900">
              <a:buAutoNum type="arabicPeriod"/>
            </a:pPr>
            <a:r>
              <a:rPr lang="en-CA" sz="12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Remove the False variables in the clamp and unclamp steps.</a:t>
            </a:r>
          </a:p>
          <a:p>
            <a:pPr marL="342900" indent="-342900">
              <a:buAutoNum type="arabicPeriod"/>
            </a:pPr>
            <a:r>
              <a:rPr lang="en-CA" sz="1200" dirty="0">
                <a:latin typeface="Calibri" panose="020F0502020204030204" pitchFamily="34" charset="0"/>
                <a:ea typeface="Calibri" panose="020F0502020204030204" pitchFamily="34" charset="0"/>
                <a:cs typeface="Calibri" panose="020F0502020204030204" pitchFamily="34" charset="0"/>
              </a:rPr>
              <a:t>Add the clamp and unclamp triggers to our valve bank code.</a:t>
            </a:r>
          </a:p>
        </p:txBody>
      </p:sp>
    </p:spTree>
    <p:extLst>
      <p:ext uri="{BB962C8B-B14F-4D97-AF65-F5344CB8AC3E}">
        <p14:creationId xmlns:p14="http://schemas.microsoft.com/office/powerpoint/2010/main" val="3383217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B21E002-0E2F-9631-B4A4-3D0CCF68814A}"/>
            </a:ext>
          </a:extLst>
        </p:cNvPr>
        <p:cNvGrpSpPr/>
        <p:nvPr/>
      </p:nvGrpSpPr>
      <p:grpSpPr>
        <a:xfrm>
          <a:off x="0" y="0"/>
          <a:ext cx="0" cy="0"/>
          <a:chOff x="0" y="0"/>
          <a:chExt cx="0" cy="0"/>
        </a:xfrm>
      </p:grpSpPr>
      <p:sp>
        <p:nvSpPr>
          <p:cNvPr id="47" name="Rectangle 10">
            <a:extLst>
              <a:ext uri="{FF2B5EF4-FFF2-40B4-BE49-F238E27FC236}">
                <a16:creationId xmlns:a16="http://schemas.microsoft.com/office/drawing/2014/main" id="{25C69032-DC9C-DE71-4A78-D7101BEE24F8}"/>
              </a:ext>
            </a:extLst>
          </p:cNvPr>
          <p:cNvSpPr/>
          <p:nvPr/>
        </p:nvSpPr>
        <p:spPr>
          <a:xfrm>
            <a:off x="0" y="0"/>
            <a:ext cx="12191040" cy="68569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CA"/>
          </a:p>
        </p:txBody>
      </p:sp>
      <p:pic>
        <p:nvPicPr>
          <p:cNvPr id="49" name="Picture 12" descr="Logo&#10;&#10;Description automatically generated">
            <a:extLst>
              <a:ext uri="{FF2B5EF4-FFF2-40B4-BE49-F238E27FC236}">
                <a16:creationId xmlns:a16="http://schemas.microsoft.com/office/drawing/2014/main" id="{13A32930-E77F-0507-1734-C9DA77C24DB0}"/>
              </a:ext>
            </a:extLst>
          </p:cNvPr>
          <p:cNvPicPr/>
          <p:nvPr/>
        </p:nvPicPr>
        <p:blipFill>
          <a:blip r:embed="rId2"/>
          <a:stretch/>
        </p:blipFill>
        <p:spPr>
          <a:xfrm>
            <a:off x="336240" y="208080"/>
            <a:ext cx="2932560" cy="1064520"/>
          </a:xfrm>
          <a:prstGeom prst="rect">
            <a:avLst/>
          </a:prstGeom>
          <a:ln w="0">
            <a:noFill/>
          </a:ln>
        </p:spPr>
      </p:pic>
      <p:sp>
        <p:nvSpPr>
          <p:cNvPr id="50" name="Rectangle 12">
            <a:extLst>
              <a:ext uri="{FF2B5EF4-FFF2-40B4-BE49-F238E27FC236}">
                <a16:creationId xmlns:a16="http://schemas.microsoft.com/office/drawing/2014/main" id="{E30B99C8-5FDA-1255-F712-DF566AC580DE}"/>
              </a:ext>
            </a:extLst>
          </p:cNvPr>
          <p:cNvSpPr/>
          <p:nvPr/>
        </p:nvSpPr>
        <p:spPr>
          <a:xfrm>
            <a:off x="7783200" y="104400"/>
            <a:ext cx="4273920" cy="1271880"/>
          </a:xfrm>
          <a:prstGeom prst="rect">
            <a:avLst/>
          </a:prstGeom>
          <a:gradFill rotWithShape="0">
            <a:gsLst>
              <a:gs pos="0">
                <a:srgbClr val="EE8137"/>
              </a:gs>
              <a:gs pos="100000">
                <a:srgbClr val="F4B183"/>
              </a:gs>
            </a:gsLst>
            <a:lin ang="16200000"/>
          </a:grad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spcAft>
                <a:spcPts val="601"/>
              </a:spcAft>
              <a:buNone/>
            </a:pPr>
            <a:r>
              <a:rPr lang="en-CA" sz="4000" b="1" strike="noStrike" spc="-1" dirty="0">
                <a:solidFill>
                  <a:srgbClr val="000000"/>
                </a:solidFill>
                <a:latin typeface="Calibri Light"/>
                <a:ea typeface="DejaVu Sans"/>
              </a:rPr>
              <a:t>Clamp Steps</a:t>
            </a:r>
          </a:p>
        </p:txBody>
      </p:sp>
      <p:sp>
        <p:nvSpPr>
          <p:cNvPr id="2" name="TextBox 1">
            <a:extLst>
              <a:ext uri="{FF2B5EF4-FFF2-40B4-BE49-F238E27FC236}">
                <a16:creationId xmlns:a16="http://schemas.microsoft.com/office/drawing/2014/main" id="{DC63CFA2-37E4-BFCF-6A1F-252EE3ECF531}"/>
              </a:ext>
            </a:extLst>
          </p:cNvPr>
          <p:cNvSpPr txBox="1"/>
          <p:nvPr/>
        </p:nvSpPr>
        <p:spPr>
          <a:xfrm>
            <a:off x="3073428" y="1709688"/>
            <a:ext cx="6044184" cy="5355312"/>
          </a:xfrm>
          <a:prstGeom prst="rect">
            <a:avLst/>
          </a:prstGeom>
          <a:noFill/>
        </p:spPr>
        <p:txBody>
          <a:bodyPr wrap="square" rtlCol="0">
            <a:spAutoFit/>
          </a:bodyPr>
          <a:lstStyle/>
          <a:p>
            <a:r>
              <a:rPr lang="en-CA" dirty="0">
                <a:latin typeface="Calibri" panose="020F0502020204030204" pitchFamily="34" charset="0"/>
                <a:ea typeface="Calibri" panose="020F0502020204030204" pitchFamily="34" charset="0"/>
                <a:cs typeface="Calibri" panose="020F0502020204030204" pitchFamily="34" charset="0"/>
              </a:rPr>
              <a:t>Easy right?</a:t>
            </a:r>
          </a:p>
          <a:p>
            <a:r>
              <a:rPr lang="en-CA" dirty="0">
                <a:latin typeface="Calibri" panose="020F0502020204030204" pitchFamily="34" charset="0"/>
                <a:ea typeface="Calibri" panose="020F0502020204030204" pitchFamily="34" charset="0"/>
                <a:cs typeface="Calibri" panose="020F0502020204030204" pitchFamily="34" charset="0"/>
              </a:rPr>
              <a:t>In this next example, we will add a secondary step to the sequence. </a:t>
            </a:r>
          </a:p>
          <a:p>
            <a:r>
              <a:rPr lang="en-CA" dirty="0">
                <a:latin typeface="Calibri" panose="020F0502020204030204" pitchFamily="34" charset="0"/>
                <a:ea typeface="Calibri" panose="020F0502020204030204" pitchFamily="34" charset="0"/>
                <a:cs typeface="Calibri" panose="020F0502020204030204" pitchFamily="34" charset="0"/>
              </a:rPr>
              <a:t>Our application criteria will be as follows:</a:t>
            </a:r>
          </a:p>
          <a:p>
            <a:endParaRPr lang="en-CA" dirty="0">
              <a:latin typeface="Calibri" panose="020F0502020204030204" pitchFamily="34" charset="0"/>
              <a:ea typeface="Calibri" panose="020F0502020204030204" pitchFamily="34" charset="0"/>
              <a:cs typeface="Calibri" panose="020F0502020204030204" pitchFamily="34" charset="0"/>
            </a:endParaRPr>
          </a:p>
          <a:p>
            <a:r>
              <a:rPr lang="en-CA" dirty="0">
                <a:latin typeface="Calibri" panose="020F0502020204030204" pitchFamily="34" charset="0"/>
                <a:ea typeface="Calibri" panose="020F0502020204030204" pitchFamily="34" charset="0"/>
                <a:cs typeface="Calibri" panose="020F0502020204030204" pitchFamily="34" charset="0"/>
              </a:rPr>
              <a:t>Clamping Sequence:</a:t>
            </a:r>
          </a:p>
          <a:p>
            <a:r>
              <a:rPr lang="en-CA" dirty="0">
                <a:latin typeface="Calibri" panose="020F0502020204030204" pitchFamily="34" charset="0"/>
                <a:ea typeface="Calibri" panose="020F0502020204030204" pitchFamily="34" charset="0"/>
                <a:cs typeface="Calibri" panose="020F0502020204030204" pitchFamily="34" charset="0"/>
              </a:rPr>
              <a:t>First Step = Send Clamp#3 to work </a:t>
            </a:r>
          </a:p>
          <a:p>
            <a:r>
              <a:rPr lang="en-CA" dirty="0">
                <a:latin typeface="Calibri" panose="020F0502020204030204" pitchFamily="34" charset="0"/>
                <a:ea typeface="Calibri" panose="020F0502020204030204" pitchFamily="34" charset="0"/>
                <a:cs typeface="Calibri" panose="020F0502020204030204" pitchFamily="34" charset="0"/>
              </a:rPr>
              <a:t>Second Step = Send Clamp#1,2,4 to work </a:t>
            </a:r>
          </a:p>
          <a:p>
            <a:endParaRPr lang="en-CA" dirty="0">
              <a:latin typeface="Calibri" panose="020F0502020204030204" pitchFamily="34" charset="0"/>
              <a:ea typeface="Calibri" panose="020F0502020204030204" pitchFamily="34" charset="0"/>
              <a:cs typeface="Calibri" panose="020F0502020204030204" pitchFamily="34" charset="0"/>
            </a:endParaRPr>
          </a:p>
          <a:p>
            <a:endParaRPr lang="en-CA" dirty="0">
              <a:latin typeface="Calibri" panose="020F0502020204030204" pitchFamily="34" charset="0"/>
              <a:ea typeface="Calibri" panose="020F0502020204030204" pitchFamily="34" charset="0"/>
              <a:cs typeface="Calibri" panose="020F0502020204030204" pitchFamily="34" charset="0"/>
            </a:endParaRPr>
          </a:p>
          <a:p>
            <a:r>
              <a:rPr lang="en-CA" dirty="0">
                <a:latin typeface="Calibri" panose="020F0502020204030204" pitchFamily="34" charset="0"/>
                <a:ea typeface="Calibri" panose="020F0502020204030204" pitchFamily="34" charset="0"/>
                <a:cs typeface="Calibri" panose="020F0502020204030204" pitchFamily="34" charset="0"/>
              </a:rPr>
              <a:t>Un-Clamping Sequence:</a:t>
            </a:r>
          </a:p>
          <a:p>
            <a:r>
              <a:rPr lang="en-CA" dirty="0">
                <a:latin typeface="Calibri" panose="020F0502020204030204" pitchFamily="34" charset="0"/>
                <a:ea typeface="Calibri" panose="020F0502020204030204" pitchFamily="34" charset="0"/>
                <a:cs typeface="Calibri" panose="020F0502020204030204" pitchFamily="34" charset="0"/>
              </a:rPr>
              <a:t>First Step = Send Clamp#3 to home</a:t>
            </a:r>
          </a:p>
          <a:p>
            <a:r>
              <a:rPr lang="en-CA" dirty="0">
                <a:latin typeface="Calibri" panose="020F0502020204030204" pitchFamily="34" charset="0"/>
                <a:ea typeface="Calibri" panose="020F0502020204030204" pitchFamily="34" charset="0"/>
                <a:cs typeface="Calibri" panose="020F0502020204030204" pitchFamily="34" charset="0"/>
              </a:rPr>
              <a:t>Second Step = Send Clamp#1,2,4 to home</a:t>
            </a:r>
          </a:p>
          <a:p>
            <a:endParaRPr lang="en-CA" dirty="0">
              <a:latin typeface="Calibri" panose="020F0502020204030204" pitchFamily="34" charset="0"/>
              <a:ea typeface="Calibri" panose="020F0502020204030204" pitchFamily="34" charset="0"/>
              <a:cs typeface="Calibri" panose="020F0502020204030204" pitchFamily="34" charset="0"/>
            </a:endParaRPr>
          </a:p>
          <a:p>
            <a:r>
              <a:rPr lang="en-CA" dirty="0">
                <a:latin typeface="Calibri" panose="020F0502020204030204" pitchFamily="34" charset="0"/>
                <a:ea typeface="Calibri" panose="020F0502020204030204" pitchFamily="34" charset="0"/>
                <a:cs typeface="Calibri" panose="020F0502020204030204" pitchFamily="34" charset="0"/>
              </a:rPr>
              <a:t>Valving:</a:t>
            </a:r>
          </a:p>
          <a:p>
            <a:r>
              <a:rPr lang="en-CA" dirty="0">
                <a:latin typeface="Calibri" panose="020F0502020204030204" pitchFamily="34" charset="0"/>
                <a:ea typeface="Calibri" panose="020F0502020204030204" pitchFamily="34" charset="0"/>
                <a:cs typeface="Calibri" panose="020F0502020204030204" pitchFamily="34" charset="0"/>
              </a:rPr>
              <a:t>Valve#1 is plumbed to clamps 1,2,4</a:t>
            </a:r>
          </a:p>
          <a:p>
            <a:r>
              <a:rPr lang="en-CA" dirty="0">
                <a:latin typeface="Calibri" panose="020F0502020204030204" pitchFamily="34" charset="0"/>
                <a:ea typeface="Calibri" panose="020F0502020204030204" pitchFamily="34" charset="0"/>
                <a:cs typeface="Calibri" panose="020F0502020204030204" pitchFamily="34" charset="0"/>
              </a:rPr>
              <a:t>Valve#2 is plumbed to clamp 3</a:t>
            </a:r>
          </a:p>
          <a:p>
            <a:endParaRPr lang="en-CA" dirty="0"/>
          </a:p>
          <a:p>
            <a:endParaRPr lang="en-CA" b="1" dirty="0"/>
          </a:p>
        </p:txBody>
      </p:sp>
    </p:spTree>
    <p:extLst>
      <p:ext uri="{BB962C8B-B14F-4D97-AF65-F5344CB8AC3E}">
        <p14:creationId xmlns:p14="http://schemas.microsoft.com/office/powerpoint/2010/main" val="889948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323C744-B34A-40A0-8D8D-C4867BB4084A}"/>
            </a:ext>
          </a:extLst>
        </p:cNvPr>
        <p:cNvGrpSpPr/>
        <p:nvPr/>
      </p:nvGrpSpPr>
      <p:grpSpPr>
        <a:xfrm>
          <a:off x="0" y="0"/>
          <a:ext cx="0" cy="0"/>
          <a:chOff x="0" y="0"/>
          <a:chExt cx="0" cy="0"/>
        </a:xfrm>
      </p:grpSpPr>
      <p:sp>
        <p:nvSpPr>
          <p:cNvPr id="47" name="Rectangle 10">
            <a:extLst>
              <a:ext uri="{FF2B5EF4-FFF2-40B4-BE49-F238E27FC236}">
                <a16:creationId xmlns:a16="http://schemas.microsoft.com/office/drawing/2014/main" id="{2C645869-F2C1-5D19-F00F-9F0DA6CFA426}"/>
              </a:ext>
            </a:extLst>
          </p:cNvPr>
          <p:cNvSpPr/>
          <p:nvPr/>
        </p:nvSpPr>
        <p:spPr>
          <a:xfrm>
            <a:off x="0" y="0"/>
            <a:ext cx="12191040" cy="68569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CA"/>
          </a:p>
        </p:txBody>
      </p:sp>
      <p:pic>
        <p:nvPicPr>
          <p:cNvPr id="49" name="Picture 12" descr="Logo&#10;&#10;Description automatically generated">
            <a:extLst>
              <a:ext uri="{FF2B5EF4-FFF2-40B4-BE49-F238E27FC236}">
                <a16:creationId xmlns:a16="http://schemas.microsoft.com/office/drawing/2014/main" id="{6E277E62-A434-8F88-3A8D-CF96471A524E}"/>
              </a:ext>
            </a:extLst>
          </p:cNvPr>
          <p:cNvPicPr/>
          <p:nvPr/>
        </p:nvPicPr>
        <p:blipFill>
          <a:blip r:embed="rId2"/>
          <a:stretch/>
        </p:blipFill>
        <p:spPr>
          <a:xfrm>
            <a:off x="336240" y="208080"/>
            <a:ext cx="2932560" cy="1064520"/>
          </a:xfrm>
          <a:prstGeom prst="rect">
            <a:avLst/>
          </a:prstGeom>
          <a:ln w="0">
            <a:noFill/>
          </a:ln>
        </p:spPr>
      </p:pic>
      <p:sp>
        <p:nvSpPr>
          <p:cNvPr id="50" name="Rectangle 12">
            <a:extLst>
              <a:ext uri="{FF2B5EF4-FFF2-40B4-BE49-F238E27FC236}">
                <a16:creationId xmlns:a16="http://schemas.microsoft.com/office/drawing/2014/main" id="{0F0F4FF5-5D44-DD1E-0601-BA0927769921}"/>
              </a:ext>
            </a:extLst>
          </p:cNvPr>
          <p:cNvSpPr/>
          <p:nvPr/>
        </p:nvSpPr>
        <p:spPr>
          <a:xfrm>
            <a:off x="7783200" y="104400"/>
            <a:ext cx="4273920" cy="1271880"/>
          </a:xfrm>
          <a:prstGeom prst="rect">
            <a:avLst/>
          </a:prstGeom>
          <a:gradFill rotWithShape="0">
            <a:gsLst>
              <a:gs pos="0">
                <a:srgbClr val="EE8137"/>
              </a:gs>
              <a:gs pos="100000">
                <a:srgbClr val="F4B183"/>
              </a:gs>
            </a:gsLst>
            <a:lin ang="16200000"/>
          </a:grad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spcAft>
                <a:spcPts val="601"/>
              </a:spcAft>
              <a:buNone/>
            </a:pPr>
            <a:r>
              <a:rPr lang="en-CA" sz="4000" b="1" strike="noStrike" spc="-1" dirty="0">
                <a:solidFill>
                  <a:srgbClr val="000000"/>
                </a:solidFill>
                <a:latin typeface="Calibri Light"/>
                <a:ea typeface="DejaVu Sans"/>
              </a:rPr>
              <a:t>Clamp Steps</a:t>
            </a:r>
          </a:p>
        </p:txBody>
      </p:sp>
      <p:sp>
        <p:nvSpPr>
          <p:cNvPr id="2" name="TextBox 1">
            <a:extLst>
              <a:ext uri="{FF2B5EF4-FFF2-40B4-BE49-F238E27FC236}">
                <a16:creationId xmlns:a16="http://schemas.microsoft.com/office/drawing/2014/main" id="{826C194F-EA5F-D9B9-D192-CE07188E7B08}"/>
              </a:ext>
            </a:extLst>
          </p:cNvPr>
          <p:cNvSpPr txBox="1"/>
          <p:nvPr/>
        </p:nvSpPr>
        <p:spPr>
          <a:xfrm>
            <a:off x="206978" y="1556772"/>
            <a:ext cx="2755369" cy="1200329"/>
          </a:xfrm>
          <a:prstGeom prst="rect">
            <a:avLst/>
          </a:prstGeom>
          <a:noFill/>
        </p:spPr>
        <p:txBody>
          <a:bodyPr wrap="square" rtlCol="0">
            <a:spAutoFit/>
          </a:bodyPr>
          <a:lstStyle/>
          <a:p>
            <a:r>
              <a:rPr lang="en-CA" dirty="0">
                <a:latin typeface="Calibri" panose="020F0502020204030204" pitchFamily="34" charset="0"/>
                <a:ea typeface="Calibri" panose="020F0502020204030204" pitchFamily="34" charset="0"/>
                <a:cs typeface="Calibri" panose="020F0502020204030204" pitchFamily="34" charset="0"/>
              </a:rPr>
              <a:t>For the scenario, here is the clamp step code:</a:t>
            </a:r>
          </a:p>
          <a:p>
            <a:endParaRPr lang="en-CA" dirty="0"/>
          </a:p>
          <a:p>
            <a:endParaRPr lang="en-CA" b="1" dirty="0"/>
          </a:p>
        </p:txBody>
      </p:sp>
      <p:pic>
        <p:nvPicPr>
          <p:cNvPr id="6" name="Picture 5">
            <a:extLst>
              <a:ext uri="{FF2B5EF4-FFF2-40B4-BE49-F238E27FC236}">
                <a16:creationId xmlns:a16="http://schemas.microsoft.com/office/drawing/2014/main" id="{43595691-7417-1952-204C-521D94FC423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143860" y="1727065"/>
            <a:ext cx="7913260" cy="502653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033841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2EE61F7-8B74-49F3-6802-C4E7AC98D088}"/>
            </a:ext>
          </a:extLst>
        </p:cNvPr>
        <p:cNvGrpSpPr/>
        <p:nvPr/>
      </p:nvGrpSpPr>
      <p:grpSpPr>
        <a:xfrm>
          <a:off x="0" y="0"/>
          <a:ext cx="0" cy="0"/>
          <a:chOff x="0" y="0"/>
          <a:chExt cx="0" cy="0"/>
        </a:xfrm>
      </p:grpSpPr>
      <p:sp>
        <p:nvSpPr>
          <p:cNvPr id="47" name="Rectangle 10">
            <a:extLst>
              <a:ext uri="{FF2B5EF4-FFF2-40B4-BE49-F238E27FC236}">
                <a16:creationId xmlns:a16="http://schemas.microsoft.com/office/drawing/2014/main" id="{AA611424-4A13-B4A2-D39A-59E9FA093F5E}"/>
              </a:ext>
            </a:extLst>
          </p:cNvPr>
          <p:cNvSpPr/>
          <p:nvPr/>
        </p:nvSpPr>
        <p:spPr>
          <a:xfrm>
            <a:off x="0" y="0"/>
            <a:ext cx="12191040" cy="68569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CA"/>
          </a:p>
        </p:txBody>
      </p:sp>
      <p:pic>
        <p:nvPicPr>
          <p:cNvPr id="49" name="Picture 12" descr="Logo&#10;&#10;Description automatically generated">
            <a:extLst>
              <a:ext uri="{FF2B5EF4-FFF2-40B4-BE49-F238E27FC236}">
                <a16:creationId xmlns:a16="http://schemas.microsoft.com/office/drawing/2014/main" id="{7CCCBA67-61CD-F81C-8027-434C49AD32CE}"/>
              </a:ext>
            </a:extLst>
          </p:cNvPr>
          <p:cNvPicPr/>
          <p:nvPr/>
        </p:nvPicPr>
        <p:blipFill>
          <a:blip r:embed="rId2"/>
          <a:stretch/>
        </p:blipFill>
        <p:spPr>
          <a:xfrm>
            <a:off x="336240" y="208080"/>
            <a:ext cx="2932560" cy="1064520"/>
          </a:xfrm>
          <a:prstGeom prst="rect">
            <a:avLst/>
          </a:prstGeom>
          <a:ln w="0">
            <a:noFill/>
          </a:ln>
        </p:spPr>
      </p:pic>
      <p:sp>
        <p:nvSpPr>
          <p:cNvPr id="2" name="TextBox 1">
            <a:extLst>
              <a:ext uri="{FF2B5EF4-FFF2-40B4-BE49-F238E27FC236}">
                <a16:creationId xmlns:a16="http://schemas.microsoft.com/office/drawing/2014/main" id="{42D6E62D-4777-6A59-D2FF-AD4121FA3E17}"/>
              </a:ext>
            </a:extLst>
          </p:cNvPr>
          <p:cNvSpPr txBox="1"/>
          <p:nvPr/>
        </p:nvSpPr>
        <p:spPr>
          <a:xfrm>
            <a:off x="336240" y="1480680"/>
            <a:ext cx="2755369" cy="1200329"/>
          </a:xfrm>
          <a:prstGeom prst="rect">
            <a:avLst/>
          </a:prstGeom>
          <a:noFill/>
        </p:spPr>
        <p:txBody>
          <a:bodyPr wrap="square" rtlCol="0">
            <a:spAutoFit/>
          </a:bodyPr>
          <a:lstStyle/>
          <a:p>
            <a:r>
              <a:rPr lang="en-CA" dirty="0">
                <a:latin typeface="Calibri" panose="020F0502020204030204" pitchFamily="34" charset="0"/>
                <a:ea typeface="Calibri" panose="020F0502020204030204" pitchFamily="34" charset="0"/>
                <a:cs typeface="Calibri" panose="020F0502020204030204" pitchFamily="34" charset="0"/>
              </a:rPr>
              <a:t>And this is the code for the valving:</a:t>
            </a:r>
          </a:p>
          <a:p>
            <a:endParaRPr lang="en-CA" dirty="0"/>
          </a:p>
          <a:p>
            <a:endParaRPr lang="en-CA" b="1" dirty="0"/>
          </a:p>
        </p:txBody>
      </p:sp>
      <p:pic>
        <p:nvPicPr>
          <p:cNvPr id="4" name="Picture 3">
            <a:extLst>
              <a:ext uri="{FF2B5EF4-FFF2-40B4-BE49-F238E27FC236}">
                <a16:creationId xmlns:a16="http://schemas.microsoft.com/office/drawing/2014/main" id="{900ADE34-D225-7AEA-79EE-FE8F0F52683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685592" y="622169"/>
            <a:ext cx="7045767" cy="6131431"/>
          </a:xfrm>
          <a:prstGeom prst="rect">
            <a:avLst/>
          </a:prstGeom>
          <a:ln>
            <a:noFill/>
          </a:ln>
          <a:effectLst>
            <a:outerShdw blurRad="292100" dist="139700" dir="2700000" algn="tl" rotWithShape="0">
              <a:srgbClr val="333333">
                <a:alpha val="65000"/>
              </a:srgbClr>
            </a:outerShdw>
          </a:effectLst>
        </p:spPr>
      </p:pic>
      <p:sp>
        <p:nvSpPr>
          <p:cNvPr id="50" name="Rectangle 12">
            <a:extLst>
              <a:ext uri="{FF2B5EF4-FFF2-40B4-BE49-F238E27FC236}">
                <a16:creationId xmlns:a16="http://schemas.microsoft.com/office/drawing/2014/main" id="{C87CAFC1-3E98-2540-9F47-D2AC90C89C4C}"/>
              </a:ext>
            </a:extLst>
          </p:cNvPr>
          <p:cNvSpPr/>
          <p:nvPr/>
        </p:nvSpPr>
        <p:spPr>
          <a:xfrm>
            <a:off x="7783200" y="104400"/>
            <a:ext cx="4273920" cy="1271880"/>
          </a:xfrm>
          <a:prstGeom prst="rect">
            <a:avLst/>
          </a:prstGeom>
          <a:gradFill rotWithShape="0">
            <a:gsLst>
              <a:gs pos="0">
                <a:srgbClr val="EE8137"/>
              </a:gs>
              <a:gs pos="100000">
                <a:srgbClr val="F4B183"/>
              </a:gs>
            </a:gsLst>
            <a:lin ang="16200000"/>
          </a:grad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spcAft>
                <a:spcPts val="601"/>
              </a:spcAft>
              <a:buNone/>
            </a:pPr>
            <a:r>
              <a:rPr lang="en-CA" sz="4000" b="1" strike="noStrike" spc="-1" dirty="0">
                <a:solidFill>
                  <a:srgbClr val="000000"/>
                </a:solidFill>
                <a:latin typeface="Calibri Light"/>
                <a:ea typeface="DejaVu Sans"/>
              </a:rPr>
              <a:t>Clamp Steps</a:t>
            </a:r>
          </a:p>
        </p:txBody>
      </p:sp>
    </p:spTree>
    <p:extLst>
      <p:ext uri="{BB962C8B-B14F-4D97-AF65-F5344CB8AC3E}">
        <p14:creationId xmlns:p14="http://schemas.microsoft.com/office/powerpoint/2010/main" val="3298773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32A519A-89F8-311E-194C-E2230A6200D2}"/>
            </a:ext>
          </a:extLst>
        </p:cNvPr>
        <p:cNvGrpSpPr/>
        <p:nvPr/>
      </p:nvGrpSpPr>
      <p:grpSpPr>
        <a:xfrm>
          <a:off x="0" y="0"/>
          <a:ext cx="0" cy="0"/>
          <a:chOff x="0" y="0"/>
          <a:chExt cx="0" cy="0"/>
        </a:xfrm>
      </p:grpSpPr>
      <p:pic>
        <p:nvPicPr>
          <p:cNvPr id="49" name="Picture 12" descr="Logo&#10;&#10;Description automatically generated">
            <a:extLst>
              <a:ext uri="{FF2B5EF4-FFF2-40B4-BE49-F238E27FC236}">
                <a16:creationId xmlns:a16="http://schemas.microsoft.com/office/drawing/2014/main" id="{F2467BFF-9482-EA4B-EF32-D0C8F2E0CBBA}"/>
              </a:ext>
            </a:extLst>
          </p:cNvPr>
          <p:cNvPicPr/>
          <p:nvPr/>
        </p:nvPicPr>
        <p:blipFill>
          <a:blip r:embed="rId2"/>
          <a:stretch/>
        </p:blipFill>
        <p:spPr>
          <a:xfrm>
            <a:off x="336240" y="208080"/>
            <a:ext cx="2932560" cy="1064520"/>
          </a:xfrm>
          <a:prstGeom prst="rect">
            <a:avLst/>
          </a:prstGeom>
          <a:ln w="0">
            <a:noFill/>
          </a:ln>
        </p:spPr>
      </p:pic>
      <p:sp>
        <p:nvSpPr>
          <p:cNvPr id="50" name="Rectangle 12">
            <a:extLst>
              <a:ext uri="{FF2B5EF4-FFF2-40B4-BE49-F238E27FC236}">
                <a16:creationId xmlns:a16="http://schemas.microsoft.com/office/drawing/2014/main" id="{90143CD2-1606-91CB-3CC8-71743AE17EB2}"/>
              </a:ext>
            </a:extLst>
          </p:cNvPr>
          <p:cNvSpPr/>
          <p:nvPr/>
        </p:nvSpPr>
        <p:spPr>
          <a:xfrm>
            <a:off x="7783200" y="104400"/>
            <a:ext cx="4273920" cy="1271880"/>
          </a:xfrm>
          <a:prstGeom prst="rect">
            <a:avLst/>
          </a:prstGeom>
          <a:gradFill rotWithShape="0">
            <a:gsLst>
              <a:gs pos="0">
                <a:srgbClr val="EE8137"/>
              </a:gs>
              <a:gs pos="100000">
                <a:srgbClr val="F4B183"/>
              </a:gs>
            </a:gsLst>
            <a:lin ang="16200000"/>
          </a:grad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spcAft>
                <a:spcPts val="601"/>
              </a:spcAft>
              <a:buNone/>
            </a:pPr>
            <a:r>
              <a:rPr lang="en-CA" sz="4000" b="1" strike="noStrike" spc="-1" dirty="0" err="1">
                <a:solidFill>
                  <a:srgbClr val="000000"/>
                </a:solidFill>
                <a:latin typeface="Calibri Light"/>
                <a:ea typeface="DejaVu Sans"/>
              </a:rPr>
              <a:t>TwinSAFE</a:t>
            </a:r>
            <a:r>
              <a:rPr lang="en-CA" sz="4000" b="1" strike="noStrike" spc="-1" dirty="0">
                <a:solidFill>
                  <a:srgbClr val="000000"/>
                </a:solidFill>
                <a:latin typeface="Calibri Light"/>
                <a:ea typeface="DejaVu Sans"/>
              </a:rPr>
              <a:t> I/F</a:t>
            </a:r>
          </a:p>
        </p:txBody>
      </p:sp>
      <p:pic>
        <p:nvPicPr>
          <p:cNvPr id="5" name="Picture 4">
            <a:extLst>
              <a:ext uri="{FF2B5EF4-FFF2-40B4-BE49-F238E27FC236}">
                <a16:creationId xmlns:a16="http://schemas.microsoft.com/office/drawing/2014/main" id="{38F3147C-98B7-8B9B-6048-DA5D7B4C46D6}"/>
              </a:ext>
            </a:extLst>
          </p:cNvPr>
          <p:cNvPicPr>
            <a:picLocks noChangeAspect="1"/>
          </p:cNvPicPr>
          <p:nvPr/>
        </p:nvPicPr>
        <p:blipFill>
          <a:blip r:embed="rId3"/>
          <a:stretch>
            <a:fillRect/>
          </a:stretch>
        </p:blipFill>
        <p:spPr>
          <a:xfrm>
            <a:off x="4393396" y="2327504"/>
            <a:ext cx="2563959" cy="2549307"/>
          </a:xfrm>
          <a:prstGeom prst="rect">
            <a:avLst/>
          </a:prstGeom>
        </p:spPr>
      </p:pic>
      <p:pic>
        <p:nvPicPr>
          <p:cNvPr id="11" name="Picture 2" descr="TE9100 | TwinSAFE Logic Simulator | Beckhoff Canada">
            <a:extLst>
              <a:ext uri="{FF2B5EF4-FFF2-40B4-BE49-F238E27FC236}">
                <a16:creationId xmlns:a16="http://schemas.microsoft.com/office/drawing/2014/main" id="{F876CCFD-0325-9297-3969-9FDB92C8D69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268400" y="4876811"/>
            <a:ext cx="1788720" cy="17887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89873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0E90AD0-7BB3-B9B0-67BA-C5E290F6A264}"/>
            </a:ext>
          </a:extLst>
        </p:cNvPr>
        <p:cNvGrpSpPr/>
        <p:nvPr/>
      </p:nvGrpSpPr>
      <p:grpSpPr>
        <a:xfrm>
          <a:off x="0" y="0"/>
          <a:ext cx="0" cy="0"/>
          <a:chOff x="0" y="0"/>
          <a:chExt cx="0" cy="0"/>
        </a:xfrm>
      </p:grpSpPr>
      <p:pic>
        <p:nvPicPr>
          <p:cNvPr id="49" name="Picture 12" descr="Logo&#10;&#10;Description automatically generated">
            <a:extLst>
              <a:ext uri="{FF2B5EF4-FFF2-40B4-BE49-F238E27FC236}">
                <a16:creationId xmlns:a16="http://schemas.microsoft.com/office/drawing/2014/main" id="{85C271AC-2445-D8EE-636E-CB27CAEE6EB9}"/>
              </a:ext>
            </a:extLst>
          </p:cNvPr>
          <p:cNvPicPr/>
          <p:nvPr/>
        </p:nvPicPr>
        <p:blipFill>
          <a:blip r:embed="rId2"/>
          <a:stretch/>
        </p:blipFill>
        <p:spPr>
          <a:xfrm>
            <a:off x="336240" y="208080"/>
            <a:ext cx="2932560" cy="1064520"/>
          </a:xfrm>
          <a:prstGeom prst="rect">
            <a:avLst/>
          </a:prstGeom>
          <a:ln w="0">
            <a:noFill/>
          </a:ln>
        </p:spPr>
      </p:pic>
      <p:sp>
        <p:nvSpPr>
          <p:cNvPr id="50" name="Rectangle 12">
            <a:extLst>
              <a:ext uri="{FF2B5EF4-FFF2-40B4-BE49-F238E27FC236}">
                <a16:creationId xmlns:a16="http://schemas.microsoft.com/office/drawing/2014/main" id="{20C2EC5B-3093-F8F8-1F8A-1E8E2D1A2C24}"/>
              </a:ext>
            </a:extLst>
          </p:cNvPr>
          <p:cNvSpPr/>
          <p:nvPr/>
        </p:nvSpPr>
        <p:spPr>
          <a:xfrm>
            <a:off x="7783200" y="104400"/>
            <a:ext cx="4273920" cy="1271880"/>
          </a:xfrm>
          <a:prstGeom prst="rect">
            <a:avLst/>
          </a:prstGeom>
          <a:gradFill rotWithShape="0">
            <a:gsLst>
              <a:gs pos="0">
                <a:srgbClr val="EE8137"/>
              </a:gs>
              <a:gs pos="100000">
                <a:srgbClr val="F4B183"/>
              </a:gs>
            </a:gsLst>
            <a:lin ang="16200000"/>
          </a:grad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spcAft>
                <a:spcPts val="601"/>
              </a:spcAft>
              <a:buNone/>
            </a:pPr>
            <a:r>
              <a:rPr lang="en-CA" sz="4000" b="1" strike="noStrike" spc="-1" dirty="0" err="1">
                <a:solidFill>
                  <a:srgbClr val="000000"/>
                </a:solidFill>
                <a:latin typeface="Calibri Light"/>
                <a:ea typeface="DejaVu Sans"/>
              </a:rPr>
              <a:t>TwinSAFE</a:t>
            </a:r>
            <a:r>
              <a:rPr lang="en-CA" sz="4000" b="1" strike="noStrike" spc="-1" dirty="0">
                <a:solidFill>
                  <a:srgbClr val="000000"/>
                </a:solidFill>
                <a:latin typeface="Calibri Light"/>
                <a:ea typeface="DejaVu Sans"/>
              </a:rPr>
              <a:t> I/F</a:t>
            </a:r>
          </a:p>
        </p:txBody>
      </p:sp>
      <p:sp>
        <p:nvSpPr>
          <p:cNvPr id="3" name="TextBox 2">
            <a:extLst>
              <a:ext uri="{FF2B5EF4-FFF2-40B4-BE49-F238E27FC236}">
                <a16:creationId xmlns:a16="http://schemas.microsoft.com/office/drawing/2014/main" id="{01324541-3C8B-04A9-64A2-74931EBE6EE9}"/>
              </a:ext>
            </a:extLst>
          </p:cNvPr>
          <p:cNvSpPr txBox="1"/>
          <p:nvPr/>
        </p:nvSpPr>
        <p:spPr>
          <a:xfrm>
            <a:off x="285867" y="1513198"/>
            <a:ext cx="2755369" cy="2308324"/>
          </a:xfrm>
          <a:prstGeom prst="rect">
            <a:avLst/>
          </a:prstGeom>
          <a:noFill/>
        </p:spPr>
        <p:txBody>
          <a:bodyPr wrap="square" rtlCol="0">
            <a:spAutoFit/>
          </a:bodyPr>
          <a:lstStyle/>
          <a:p>
            <a:r>
              <a:rPr lang="en-CA" dirty="0">
                <a:latin typeface="Calibri" panose="020F0502020204030204" pitchFamily="34" charset="0"/>
                <a:ea typeface="Calibri" panose="020F0502020204030204" pitchFamily="34" charset="0"/>
                <a:cs typeface="Calibri" panose="020F0502020204030204" pitchFamily="34" charset="0"/>
              </a:rPr>
              <a:t>You may have noticed we have a standardized interface for sending and gathering information to and from </a:t>
            </a:r>
            <a:r>
              <a:rPr lang="en-CA" dirty="0" err="1">
                <a:latin typeface="Calibri" panose="020F0502020204030204" pitchFamily="34" charset="0"/>
                <a:ea typeface="Calibri" panose="020F0502020204030204" pitchFamily="34" charset="0"/>
                <a:cs typeface="Calibri" panose="020F0502020204030204" pitchFamily="34" charset="0"/>
              </a:rPr>
              <a:t>TwinSAFE</a:t>
            </a:r>
            <a:r>
              <a:rPr lang="en-CA" dirty="0">
                <a:latin typeface="Calibri" panose="020F0502020204030204" pitchFamily="34" charset="0"/>
                <a:ea typeface="Calibri" panose="020F0502020204030204" pitchFamily="34" charset="0"/>
                <a:cs typeface="Calibri" panose="020F0502020204030204" pitchFamily="34" charset="0"/>
              </a:rPr>
              <a:t> based safety devices</a:t>
            </a:r>
          </a:p>
          <a:p>
            <a:endParaRPr lang="en-CA" dirty="0"/>
          </a:p>
          <a:p>
            <a:endParaRPr lang="en-CA" b="1" dirty="0"/>
          </a:p>
        </p:txBody>
      </p:sp>
      <p:pic>
        <p:nvPicPr>
          <p:cNvPr id="1026" name="Picture 2" descr="TE9100 | TwinSAFE Logic Simulator | Beckhoff Canada">
            <a:extLst>
              <a:ext uri="{FF2B5EF4-FFF2-40B4-BE49-F238E27FC236}">
                <a16:creationId xmlns:a16="http://schemas.microsoft.com/office/drawing/2014/main" id="{0DD61550-D128-F80F-1685-EF407078890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72103" y="3155503"/>
            <a:ext cx="1788720" cy="178872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C1000 | TwinCAT 3 ADS | Beckhoff Canada">
            <a:extLst>
              <a:ext uri="{FF2B5EF4-FFF2-40B4-BE49-F238E27FC236}">
                <a16:creationId xmlns:a16="http://schemas.microsoft.com/office/drawing/2014/main" id="{FB19D3DF-D5E9-2707-AE03-4BC7BBD3A67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31177" y="3183442"/>
            <a:ext cx="1788720" cy="1788720"/>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a:extLst>
              <a:ext uri="{FF2B5EF4-FFF2-40B4-BE49-F238E27FC236}">
                <a16:creationId xmlns:a16="http://schemas.microsoft.com/office/drawing/2014/main" id="{CFB63D51-B3C1-FA52-3EF2-240A4F2D43AD}"/>
              </a:ext>
            </a:extLst>
          </p:cNvPr>
          <p:cNvCxnSpPr/>
          <p:nvPr/>
        </p:nvCxnSpPr>
        <p:spPr>
          <a:xfrm>
            <a:off x="3930577" y="4517136"/>
            <a:ext cx="48006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CC52B28A-25D1-BD4B-A052-B87F0D2851DA}"/>
              </a:ext>
            </a:extLst>
          </p:cNvPr>
          <p:cNvCxnSpPr/>
          <p:nvPr/>
        </p:nvCxnSpPr>
        <p:spPr>
          <a:xfrm>
            <a:off x="3930577" y="4870704"/>
            <a:ext cx="48006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3186EC84-7C23-E51B-0758-6026D0CD7D6E}"/>
              </a:ext>
            </a:extLst>
          </p:cNvPr>
          <p:cNvCxnSpPr/>
          <p:nvPr/>
        </p:nvCxnSpPr>
        <p:spPr>
          <a:xfrm>
            <a:off x="3930577" y="5211036"/>
            <a:ext cx="48006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CDCA1806-E21F-188E-73AB-7D0596460203}"/>
              </a:ext>
            </a:extLst>
          </p:cNvPr>
          <p:cNvCxnSpPr/>
          <p:nvPr/>
        </p:nvCxnSpPr>
        <p:spPr>
          <a:xfrm>
            <a:off x="3930577" y="5565648"/>
            <a:ext cx="48006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89E0A8B2-0881-C067-6AA0-19258F8447D9}"/>
              </a:ext>
            </a:extLst>
          </p:cNvPr>
          <p:cNvCxnSpPr>
            <a:cxnSpLocks/>
          </p:cNvCxnSpPr>
          <p:nvPr/>
        </p:nvCxnSpPr>
        <p:spPr>
          <a:xfrm flipH="1">
            <a:off x="3858767" y="3142488"/>
            <a:ext cx="4872409"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07926F6E-F16A-E719-3A6D-8F5FE3C08061}"/>
              </a:ext>
            </a:extLst>
          </p:cNvPr>
          <p:cNvCxnSpPr>
            <a:cxnSpLocks/>
          </p:cNvCxnSpPr>
          <p:nvPr/>
        </p:nvCxnSpPr>
        <p:spPr>
          <a:xfrm flipH="1">
            <a:off x="3858767" y="2855976"/>
            <a:ext cx="4872409"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52FE9266-D28C-6CF5-8F21-4B52ACE56FC9}"/>
              </a:ext>
            </a:extLst>
          </p:cNvPr>
          <p:cNvSpPr txBox="1"/>
          <p:nvPr/>
        </p:nvSpPr>
        <p:spPr>
          <a:xfrm>
            <a:off x="5354778" y="4182530"/>
            <a:ext cx="1990163" cy="338554"/>
          </a:xfrm>
          <a:prstGeom prst="rect">
            <a:avLst/>
          </a:prstGeom>
          <a:noFill/>
        </p:spPr>
        <p:txBody>
          <a:bodyPr wrap="square" rtlCol="0">
            <a:spAutoFit/>
          </a:bodyPr>
          <a:lstStyle/>
          <a:p>
            <a:r>
              <a:rPr lang="en-CA" sz="1600" dirty="0" err="1">
                <a:latin typeface="Calibri" panose="020F0502020204030204" pitchFamily="34" charset="0"/>
                <a:ea typeface="Calibri" panose="020F0502020204030204" pitchFamily="34" charset="0"/>
                <a:cs typeface="Calibri" panose="020F0502020204030204" pitchFamily="34" charset="0"/>
              </a:rPr>
              <a:t>SGs_FB_ERR</a:t>
            </a:r>
            <a:r>
              <a:rPr lang="en-CA" sz="1600" dirty="0">
                <a:latin typeface="Calibri" panose="020F0502020204030204" pitchFamily="34" charset="0"/>
                <a:ea typeface="Calibri" panose="020F0502020204030204" pitchFamily="34" charset="0"/>
                <a:cs typeface="Calibri" panose="020F0502020204030204" pitchFamily="34" charset="0"/>
              </a:rPr>
              <a:t> (byte)</a:t>
            </a:r>
          </a:p>
        </p:txBody>
      </p:sp>
      <p:sp>
        <p:nvSpPr>
          <p:cNvPr id="18" name="TextBox 17">
            <a:extLst>
              <a:ext uri="{FF2B5EF4-FFF2-40B4-BE49-F238E27FC236}">
                <a16:creationId xmlns:a16="http://schemas.microsoft.com/office/drawing/2014/main" id="{55EAF58D-BDBB-777A-3CDA-99010DA44901}"/>
              </a:ext>
            </a:extLst>
          </p:cNvPr>
          <p:cNvSpPr txBox="1"/>
          <p:nvPr/>
        </p:nvSpPr>
        <p:spPr>
          <a:xfrm>
            <a:off x="5354777" y="4545017"/>
            <a:ext cx="2138125" cy="338554"/>
          </a:xfrm>
          <a:prstGeom prst="rect">
            <a:avLst/>
          </a:prstGeom>
          <a:noFill/>
        </p:spPr>
        <p:txBody>
          <a:bodyPr wrap="square" rtlCol="0">
            <a:spAutoFit/>
          </a:bodyPr>
          <a:lstStyle/>
          <a:p>
            <a:r>
              <a:rPr lang="en-CA" sz="1600" dirty="0" err="1">
                <a:latin typeface="Calibri" panose="020F0502020204030204" pitchFamily="34" charset="0"/>
                <a:ea typeface="Calibri" panose="020F0502020204030204" pitchFamily="34" charset="0"/>
                <a:cs typeface="Calibri" panose="020F0502020204030204" pitchFamily="34" charset="0"/>
              </a:rPr>
              <a:t>SGs_COM_ERR</a:t>
            </a:r>
            <a:r>
              <a:rPr lang="en-CA" sz="1600" dirty="0">
                <a:latin typeface="Calibri" panose="020F0502020204030204" pitchFamily="34" charset="0"/>
                <a:ea typeface="Calibri" panose="020F0502020204030204" pitchFamily="34" charset="0"/>
                <a:cs typeface="Calibri" panose="020F0502020204030204" pitchFamily="34" charset="0"/>
              </a:rPr>
              <a:t> (byte)</a:t>
            </a:r>
          </a:p>
        </p:txBody>
      </p:sp>
      <p:sp>
        <p:nvSpPr>
          <p:cNvPr id="19" name="TextBox 18">
            <a:extLst>
              <a:ext uri="{FF2B5EF4-FFF2-40B4-BE49-F238E27FC236}">
                <a16:creationId xmlns:a16="http://schemas.microsoft.com/office/drawing/2014/main" id="{E40B33FD-4A3A-3D39-7ADF-FE332A80A260}"/>
              </a:ext>
            </a:extLst>
          </p:cNvPr>
          <p:cNvSpPr txBox="1"/>
          <p:nvPr/>
        </p:nvSpPr>
        <p:spPr>
          <a:xfrm>
            <a:off x="5354778" y="4898584"/>
            <a:ext cx="2072460" cy="338554"/>
          </a:xfrm>
          <a:prstGeom prst="rect">
            <a:avLst/>
          </a:prstGeom>
          <a:noFill/>
        </p:spPr>
        <p:txBody>
          <a:bodyPr wrap="square" rtlCol="0">
            <a:spAutoFit/>
          </a:bodyPr>
          <a:lstStyle/>
          <a:p>
            <a:r>
              <a:rPr lang="en-CA" sz="1600" dirty="0" err="1">
                <a:latin typeface="Calibri" panose="020F0502020204030204" pitchFamily="34" charset="0"/>
                <a:ea typeface="Calibri" panose="020F0502020204030204" pitchFamily="34" charset="0"/>
                <a:cs typeface="Calibri" panose="020F0502020204030204" pitchFamily="34" charset="0"/>
              </a:rPr>
              <a:t>SGs_OUT_ERR</a:t>
            </a:r>
            <a:r>
              <a:rPr lang="en-CA" sz="1600" dirty="0">
                <a:latin typeface="Calibri" panose="020F0502020204030204" pitchFamily="34" charset="0"/>
                <a:ea typeface="Calibri" panose="020F0502020204030204" pitchFamily="34" charset="0"/>
                <a:cs typeface="Calibri" panose="020F0502020204030204" pitchFamily="34" charset="0"/>
              </a:rPr>
              <a:t> (byte)</a:t>
            </a:r>
          </a:p>
        </p:txBody>
      </p:sp>
      <p:sp>
        <p:nvSpPr>
          <p:cNvPr id="20" name="TextBox 19">
            <a:extLst>
              <a:ext uri="{FF2B5EF4-FFF2-40B4-BE49-F238E27FC236}">
                <a16:creationId xmlns:a16="http://schemas.microsoft.com/office/drawing/2014/main" id="{682C3660-B369-7521-14E2-23143B09B0F6}"/>
              </a:ext>
            </a:extLst>
          </p:cNvPr>
          <p:cNvSpPr txBox="1"/>
          <p:nvPr/>
        </p:nvSpPr>
        <p:spPr>
          <a:xfrm>
            <a:off x="5354778" y="5245166"/>
            <a:ext cx="1779851" cy="338554"/>
          </a:xfrm>
          <a:prstGeom prst="rect">
            <a:avLst/>
          </a:prstGeom>
          <a:noFill/>
        </p:spPr>
        <p:txBody>
          <a:bodyPr wrap="square" rtlCol="0">
            <a:spAutoFit/>
          </a:bodyPr>
          <a:lstStyle/>
          <a:p>
            <a:r>
              <a:rPr lang="en-CA" sz="1600" dirty="0" err="1">
                <a:latin typeface="Calibri" panose="020F0502020204030204" pitchFamily="34" charset="0"/>
                <a:ea typeface="Calibri" panose="020F0502020204030204" pitchFamily="34" charset="0"/>
                <a:cs typeface="Calibri" panose="020F0502020204030204" pitchFamily="34" charset="0"/>
              </a:rPr>
              <a:t>FBs_FB_ERR</a:t>
            </a:r>
            <a:r>
              <a:rPr lang="en-CA" sz="1600" dirty="0">
                <a:latin typeface="Calibri" panose="020F0502020204030204" pitchFamily="34" charset="0"/>
                <a:ea typeface="Calibri" panose="020F0502020204030204" pitchFamily="34" charset="0"/>
                <a:cs typeface="Calibri" panose="020F0502020204030204" pitchFamily="34" charset="0"/>
              </a:rPr>
              <a:t> (dint)</a:t>
            </a:r>
          </a:p>
        </p:txBody>
      </p:sp>
      <p:sp>
        <p:nvSpPr>
          <p:cNvPr id="21" name="TextBox 20">
            <a:extLst>
              <a:ext uri="{FF2B5EF4-FFF2-40B4-BE49-F238E27FC236}">
                <a16:creationId xmlns:a16="http://schemas.microsoft.com/office/drawing/2014/main" id="{A219D3FF-A489-B4DD-AE0E-B5A08228E568}"/>
              </a:ext>
            </a:extLst>
          </p:cNvPr>
          <p:cNvSpPr txBox="1"/>
          <p:nvPr/>
        </p:nvSpPr>
        <p:spPr>
          <a:xfrm>
            <a:off x="5354777" y="2537347"/>
            <a:ext cx="1990163" cy="338554"/>
          </a:xfrm>
          <a:prstGeom prst="rect">
            <a:avLst/>
          </a:prstGeom>
          <a:noFill/>
        </p:spPr>
        <p:txBody>
          <a:bodyPr wrap="square" rtlCol="0">
            <a:spAutoFit/>
          </a:bodyPr>
          <a:lstStyle/>
          <a:p>
            <a:r>
              <a:rPr lang="en-CA" sz="1600" dirty="0" err="1">
                <a:latin typeface="Calibri" panose="020F0502020204030204" pitchFamily="34" charset="0"/>
                <a:ea typeface="Calibri" panose="020F0502020204030204" pitchFamily="34" charset="0"/>
                <a:cs typeface="Calibri" panose="020F0502020204030204" pitchFamily="34" charset="0"/>
              </a:rPr>
              <a:t>SGs_RUNSTOP</a:t>
            </a:r>
            <a:r>
              <a:rPr lang="en-CA" sz="1600" dirty="0">
                <a:latin typeface="Calibri" panose="020F0502020204030204" pitchFamily="34" charset="0"/>
                <a:ea typeface="Calibri" panose="020F0502020204030204" pitchFamily="34" charset="0"/>
                <a:cs typeface="Calibri" panose="020F0502020204030204" pitchFamily="34" charset="0"/>
              </a:rPr>
              <a:t> (bool)</a:t>
            </a:r>
          </a:p>
        </p:txBody>
      </p:sp>
      <p:sp>
        <p:nvSpPr>
          <p:cNvPr id="22" name="TextBox 21">
            <a:extLst>
              <a:ext uri="{FF2B5EF4-FFF2-40B4-BE49-F238E27FC236}">
                <a16:creationId xmlns:a16="http://schemas.microsoft.com/office/drawing/2014/main" id="{AF603E94-FAFB-D1E7-CE41-3E51495738EA}"/>
              </a:ext>
            </a:extLst>
          </p:cNvPr>
          <p:cNvSpPr txBox="1"/>
          <p:nvPr/>
        </p:nvSpPr>
        <p:spPr>
          <a:xfrm>
            <a:off x="5354777" y="2839918"/>
            <a:ext cx="1990163" cy="338554"/>
          </a:xfrm>
          <a:prstGeom prst="rect">
            <a:avLst/>
          </a:prstGeom>
          <a:noFill/>
        </p:spPr>
        <p:txBody>
          <a:bodyPr wrap="square" rtlCol="0">
            <a:spAutoFit/>
          </a:bodyPr>
          <a:lstStyle/>
          <a:p>
            <a:r>
              <a:rPr lang="en-CA" sz="1600" dirty="0" err="1">
                <a:latin typeface="Calibri" panose="020F0502020204030204" pitchFamily="34" charset="0"/>
                <a:ea typeface="Calibri" panose="020F0502020204030204" pitchFamily="34" charset="0"/>
                <a:cs typeface="Calibri" panose="020F0502020204030204" pitchFamily="34" charset="0"/>
              </a:rPr>
              <a:t>SGs_ERRAck</a:t>
            </a:r>
            <a:r>
              <a:rPr lang="en-CA" sz="1600" dirty="0">
                <a:latin typeface="Calibri" panose="020F0502020204030204" pitchFamily="34" charset="0"/>
                <a:ea typeface="Calibri" panose="020F0502020204030204" pitchFamily="34" charset="0"/>
                <a:cs typeface="Calibri" panose="020F0502020204030204" pitchFamily="34" charset="0"/>
              </a:rPr>
              <a:t> (bool)</a:t>
            </a:r>
          </a:p>
        </p:txBody>
      </p:sp>
      <p:cxnSp>
        <p:nvCxnSpPr>
          <p:cNvPr id="23" name="Straight Arrow Connector 22">
            <a:extLst>
              <a:ext uri="{FF2B5EF4-FFF2-40B4-BE49-F238E27FC236}">
                <a16:creationId xmlns:a16="http://schemas.microsoft.com/office/drawing/2014/main" id="{714D3BF4-3F20-3A10-D90B-7890A15FC28A}"/>
              </a:ext>
            </a:extLst>
          </p:cNvPr>
          <p:cNvCxnSpPr>
            <a:cxnSpLocks/>
          </p:cNvCxnSpPr>
          <p:nvPr/>
        </p:nvCxnSpPr>
        <p:spPr>
          <a:xfrm flipH="1">
            <a:off x="3858767" y="3450336"/>
            <a:ext cx="4872409"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6CFE05C1-1793-5025-5877-3C7DCC7DB225}"/>
              </a:ext>
            </a:extLst>
          </p:cNvPr>
          <p:cNvCxnSpPr>
            <a:cxnSpLocks/>
          </p:cNvCxnSpPr>
          <p:nvPr/>
        </p:nvCxnSpPr>
        <p:spPr>
          <a:xfrm flipH="1">
            <a:off x="3858767" y="3779520"/>
            <a:ext cx="4872409"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5" name="TextBox 24">
            <a:extLst>
              <a:ext uri="{FF2B5EF4-FFF2-40B4-BE49-F238E27FC236}">
                <a16:creationId xmlns:a16="http://schemas.microsoft.com/office/drawing/2014/main" id="{CE16C855-F9C0-A5EC-284E-F44CA2DD5F4B}"/>
              </a:ext>
            </a:extLst>
          </p:cNvPr>
          <p:cNvSpPr txBox="1"/>
          <p:nvPr/>
        </p:nvSpPr>
        <p:spPr>
          <a:xfrm>
            <a:off x="5354777" y="3155503"/>
            <a:ext cx="2637079" cy="338554"/>
          </a:xfrm>
          <a:prstGeom prst="rect">
            <a:avLst/>
          </a:prstGeom>
          <a:noFill/>
        </p:spPr>
        <p:txBody>
          <a:bodyPr wrap="square" rtlCol="0">
            <a:spAutoFit/>
          </a:bodyPr>
          <a:lstStyle/>
          <a:p>
            <a:r>
              <a:rPr lang="en-CA" sz="1600" dirty="0" err="1">
                <a:latin typeface="Calibri" panose="020F0502020204030204" pitchFamily="34" charset="0"/>
                <a:ea typeface="Calibri" panose="020F0502020204030204" pitchFamily="34" charset="0"/>
                <a:cs typeface="Calibri" panose="020F0502020204030204" pitchFamily="34" charset="0"/>
              </a:rPr>
              <a:t>FBs_ControlPowerPB</a:t>
            </a:r>
            <a:r>
              <a:rPr lang="en-CA" sz="1600" dirty="0">
                <a:latin typeface="Calibri" panose="020F0502020204030204" pitchFamily="34" charset="0"/>
                <a:ea typeface="Calibri" panose="020F0502020204030204" pitchFamily="34" charset="0"/>
                <a:cs typeface="Calibri" panose="020F0502020204030204" pitchFamily="34" charset="0"/>
              </a:rPr>
              <a:t> (bool)</a:t>
            </a:r>
          </a:p>
        </p:txBody>
      </p:sp>
      <p:sp>
        <p:nvSpPr>
          <p:cNvPr id="26" name="TextBox 25">
            <a:extLst>
              <a:ext uri="{FF2B5EF4-FFF2-40B4-BE49-F238E27FC236}">
                <a16:creationId xmlns:a16="http://schemas.microsoft.com/office/drawing/2014/main" id="{5390E083-BB88-848A-1981-DD643A2B5899}"/>
              </a:ext>
            </a:extLst>
          </p:cNvPr>
          <p:cNvSpPr txBox="1"/>
          <p:nvPr/>
        </p:nvSpPr>
        <p:spPr>
          <a:xfrm>
            <a:off x="5354777" y="3482968"/>
            <a:ext cx="2637079" cy="338554"/>
          </a:xfrm>
          <a:prstGeom prst="rect">
            <a:avLst/>
          </a:prstGeom>
          <a:noFill/>
        </p:spPr>
        <p:txBody>
          <a:bodyPr wrap="square" rtlCol="0">
            <a:spAutoFit/>
          </a:bodyPr>
          <a:lstStyle/>
          <a:p>
            <a:r>
              <a:rPr lang="en-CA" sz="1600" dirty="0" err="1">
                <a:latin typeface="Calibri" panose="020F0502020204030204" pitchFamily="34" charset="0"/>
                <a:ea typeface="Calibri" panose="020F0502020204030204" pitchFamily="34" charset="0"/>
                <a:cs typeface="Calibri" panose="020F0502020204030204" pitchFamily="34" charset="0"/>
              </a:rPr>
              <a:t>FBs_Restart_Spare</a:t>
            </a:r>
            <a:r>
              <a:rPr lang="en-CA" sz="1600" dirty="0">
                <a:latin typeface="Calibri" panose="020F0502020204030204" pitchFamily="34" charset="0"/>
                <a:ea typeface="Calibri" panose="020F0502020204030204" pitchFamily="34" charset="0"/>
                <a:cs typeface="Calibri" panose="020F0502020204030204" pitchFamily="34" charset="0"/>
              </a:rPr>
              <a:t> (bool)</a:t>
            </a:r>
          </a:p>
        </p:txBody>
      </p:sp>
      <p:sp>
        <p:nvSpPr>
          <p:cNvPr id="27" name="TextBox 26">
            <a:extLst>
              <a:ext uri="{FF2B5EF4-FFF2-40B4-BE49-F238E27FC236}">
                <a16:creationId xmlns:a16="http://schemas.microsoft.com/office/drawing/2014/main" id="{8F30F6C8-6413-4A07-A8FC-AD3D84795747}"/>
              </a:ext>
            </a:extLst>
          </p:cNvPr>
          <p:cNvSpPr txBox="1"/>
          <p:nvPr/>
        </p:nvSpPr>
        <p:spPr>
          <a:xfrm>
            <a:off x="2047200" y="4701427"/>
            <a:ext cx="1038525" cy="338554"/>
          </a:xfrm>
          <a:prstGeom prst="rect">
            <a:avLst/>
          </a:prstGeom>
          <a:noFill/>
        </p:spPr>
        <p:txBody>
          <a:bodyPr wrap="square" rtlCol="0">
            <a:spAutoFit/>
          </a:bodyPr>
          <a:lstStyle/>
          <a:p>
            <a:r>
              <a:rPr lang="en-CA" sz="1600" dirty="0" err="1">
                <a:latin typeface="Calibri" panose="020F0502020204030204" pitchFamily="34" charset="0"/>
                <a:ea typeface="Calibri" panose="020F0502020204030204" pitchFamily="34" charset="0"/>
                <a:cs typeface="Calibri" panose="020F0502020204030204" pitchFamily="34" charset="0"/>
              </a:rPr>
              <a:t>TwinSAFE</a:t>
            </a:r>
            <a:endParaRPr lang="en-CA" sz="1600" dirty="0">
              <a:latin typeface="Calibri" panose="020F0502020204030204" pitchFamily="34" charset="0"/>
              <a:ea typeface="Calibri" panose="020F0502020204030204" pitchFamily="34" charset="0"/>
              <a:cs typeface="Calibri" panose="020F0502020204030204" pitchFamily="34" charset="0"/>
            </a:endParaRPr>
          </a:p>
        </p:txBody>
      </p:sp>
      <p:sp>
        <p:nvSpPr>
          <p:cNvPr id="28" name="TextBox 27">
            <a:extLst>
              <a:ext uri="{FF2B5EF4-FFF2-40B4-BE49-F238E27FC236}">
                <a16:creationId xmlns:a16="http://schemas.microsoft.com/office/drawing/2014/main" id="{C3952BE3-0840-4338-DEE9-8FC2F38B514C}"/>
              </a:ext>
            </a:extLst>
          </p:cNvPr>
          <p:cNvSpPr txBox="1"/>
          <p:nvPr/>
        </p:nvSpPr>
        <p:spPr>
          <a:xfrm>
            <a:off x="9481372" y="4701427"/>
            <a:ext cx="1038525" cy="338554"/>
          </a:xfrm>
          <a:prstGeom prst="rect">
            <a:avLst/>
          </a:prstGeom>
          <a:noFill/>
        </p:spPr>
        <p:txBody>
          <a:bodyPr wrap="square" rtlCol="0">
            <a:spAutoFit/>
          </a:bodyPr>
          <a:lstStyle/>
          <a:p>
            <a:r>
              <a:rPr lang="en-CA" sz="1600" dirty="0">
                <a:latin typeface="Calibri" panose="020F0502020204030204" pitchFamily="34" charset="0"/>
                <a:ea typeface="Calibri" panose="020F0502020204030204" pitchFamily="34" charset="0"/>
                <a:cs typeface="Calibri" panose="020F0502020204030204" pitchFamily="34" charset="0"/>
              </a:rPr>
              <a:t>PLC</a:t>
            </a:r>
          </a:p>
        </p:txBody>
      </p:sp>
    </p:spTree>
    <p:extLst>
      <p:ext uri="{BB962C8B-B14F-4D97-AF65-F5344CB8AC3E}">
        <p14:creationId xmlns:p14="http://schemas.microsoft.com/office/powerpoint/2010/main" val="5450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0008509-8610-2F8A-5869-A574D09AED46}"/>
            </a:ext>
          </a:extLst>
        </p:cNvPr>
        <p:cNvGrpSpPr/>
        <p:nvPr/>
      </p:nvGrpSpPr>
      <p:grpSpPr>
        <a:xfrm>
          <a:off x="0" y="0"/>
          <a:ext cx="0" cy="0"/>
          <a:chOff x="0" y="0"/>
          <a:chExt cx="0" cy="0"/>
        </a:xfrm>
      </p:grpSpPr>
      <p:pic>
        <p:nvPicPr>
          <p:cNvPr id="49" name="Picture 12" descr="Logo&#10;&#10;Description automatically generated">
            <a:extLst>
              <a:ext uri="{FF2B5EF4-FFF2-40B4-BE49-F238E27FC236}">
                <a16:creationId xmlns:a16="http://schemas.microsoft.com/office/drawing/2014/main" id="{1B071DDD-7E28-726D-70CF-D2276AEE07B4}"/>
              </a:ext>
            </a:extLst>
          </p:cNvPr>
          <p:cNvPicPr/>
          <p:nvPr/>
        </p:nvPicPr>
        <p:blipFill>
          <a:blip r:embed="rId2"/>
          <a:stretch/>
        </p:blipFill>
        <p:spPr>
          <a:xfrm>
            <a:off x="336240" y="208080"/>
            <a:ext cx="2932560" cy="1064520"/>
          </a:xfrm>
          <a:prstGeom prst="rect">
            <a:avLst/>
          </a:prstGeom>
          <a:ln w="0">
            <a:noFill/>
          </a:ln>
        </p:spPr>
      </p:pic>
      <p:sp>
        <p:nvSpPr>
          <p:cNvPr id="50" name="Rectangle 12">
            <a:extLst>
              <a:ext uri="{FF2B5EF4-FFF2-40B4-BE49-F238E27FC236}">
                <a16:creationId xmlns:a16="http://schemas.microsoft.com/office/drawing/2014/main" id="{99F5C931-B7E1-CB4E-8CEA-0385506C1C2B}"/>
              </a:ext>
            </a:extLst>
          </p:cNvPr>
          <p:cNvSpPr/>
          <p:nvPr/>
        </p:nvSpPr>
        <p:spPr>
          <a:xfrm>
            <a:off x="7783200" y="104400"/>
            <a:ext cx="4273920" cy="1271880"/>
          </a:xfrm>
          <a:prstGeom prst="rect">
            <a:avLst/>
          </a:prstGeom>
          <a:gradFill rotWithShape="0">
            <a:gsLst>
              <a:gs pos="0">
                <a:srgbClr val="EE8137"/>
              </a:gs>
              <a:gs pos="100000">
                <a:srgbClr val="F4B183"/>
              </a:gs>
            </a:gsLst>
            <a:lin ang="16200000"/>
          </a:grad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spcAft>
                <a:spcPts val="601"/>
              </a:spcAft>
              <a:buNone/>
            </a:pPr>
            <a:r>
              <a:rPr lang="en-CA" sz="4000" b="1" strike="noStrike" spc="-1" dirty="0" err="1">
                <a:solidFill>
                  <a:srgbClr val="000000"/>
                </a:solidFill>
                <a:latin typeface="Calibri Light"/>
                <a:ea typeface="DejaVu Sans"/>
              </a:rPr>
              <a:t>TwinSAFE</a:t>
            </a:r>
            <a:r>
              <a:rPr lang="en-CA" sz="4000" b="1" strike="noStrike" spc="-1" dirty="0">
                <a:solidFill>
                  <a:srgbClr val="000000"/>
                </a:solidFill>
                <a:latin typeface="Calibri Light"/>
                <a:ea typeface="DejaVu Sans"/>
              </a:rPr>
              <a:t> I/F</a:t>
            </a:r>
          </a:p>
        </p:txBody>
      </p:sp>
      <p:sp>
        <p:nvSpPr>
          <p:cNvPr id="3" name="TextBox 2">
            <a:extLst>
              <a:ext uri="{FF2B5EF4-FFF2-40B4-BE49-F238E27FC236}">
                <a16:creationId xmlns:a16="http://schemas.microsoft.com/office/drawing/2014/main" id="{D2FAFC6B-44F3-FBC8-1704-8744E6B545D9}"/>
              </a:ext>
            </a:extLst>
          </p:cNvPr>
          <p:cNvSpPr txBox="1"/>
          <p:nvPr/>
        </p:nvSpPr>
        <p:spPr>
          <a:xfrm>
            <a:off x="285867" y="1513198"/>
            <a:ext cx="3051693" cy="2031325"/>
          </a:xfrm>
          <a:prstGeom prst="rect">
            <a:avLst/>
          </a:prstGeom>
          <a:noFill/>
        </p:spPr>
        <p:txBody>
          <a:bodyPr wrap="square" rtlCol="0">
            <a:spAutoFit/>
          </a:bodyPr>
          <a:lstStyle/>
          <a:p>
            <a:r>
              <a:rPr lang="en-CA" dirty="0">
                <a:latin typeface="Calibri" panose="020F0502020204030204" pitchFamily="34" charset="0"/>
                <a:ea typeface="Calibri" panose="020F0502020204030204" pitchFamily="34" charset="0"/>
                <a:cs typeface="Calibri" panose="020F0502020204030204" pitchFamily="34" charset="0"/>
              </a:rPr>
              <a:t>Before we explore each signal, we should have a look at our standardized break down of a </a:t>
            </a:r>
            <a:r>
              <a:rPr lang="en-CA" dirty="0" err="1">
                <a:latin typeface="Calibri" panose="020F0502020204030204" pitchFamily="34" charset="0"/>
                <a:ea typeface="Calibri" panose="020F0502020204030204" pitchFamily="34" charset="0"/>
                <a:cs typeface="Calibri" panose="020F0502020204030204" pitchFamily="34" charset="0"/>
              </a:rPr>
              <a:t>TwinSAFE</a:t>
            </a:r>
            <a:r>
              <a:rPr lang="en-CA" dirty="0">
                <a:latin typeface="Calibri" panose="020F0502020204030204" pitchFamily="34" charset="0"/>
                <a:ea typeface="Calibri" panose="020F0502020204030204" pitchFamily="34" charset="0"/>
                <a:cs typeface="Calibri" panose="020F0502020204030204" pitchFamily="34" charset="0"/>
              </a:rPr>
              <a:t> safety project into Safety Groups</a:t>
            </a:r>
          </a:p>
          <a:p>
            <a:endParaRPr lang="en-CA" dirty="0"/>
          </a:p>
          <a:p>
            <a:endParaRPr lang="en-CA" b="1" dirty="0"/>
          </a:p>
        </p:txBody>
      </p:sp>
      <p:sp>
        <p:nvSpPr>
          <p:cNvPr id="25" name="TextBox 24">
            <a:extLst>
              <a:ext uri="{FF2B5EF4-FFF2-40B4-BE49-F238E27FC236}">
                <a16:creationId xmlns:a16="http://schemas.microsoft.com/office/drawing/2014/main" id="{97AD6044-D4AB-13EE-78E4-65CDF8694D95}"/>
              </a:ext>
            </a:extLst>
          </p:cNvPr>
          <p:cNvSpPr txBox="1"/>
          <p:nvPr/>
        </p:nvSpPr>
        <p:spPr>
          <a:xfrm>
            <a:off x="5345633" y="2753167"/>
            <a:ext cx="2637079" cy="1077218"/>
          </a:xfrm>
          <a:prstGeom prst="rect">
            <a:avLst/>
          </a:prstGeom>
          <a:noFill/>
        </p:spPr>
        <p:txBody>
          <a:bodyPr wrap="square" rtlCol="0">
            <a:spAutoFit/>
          </a:bodyPr>
          <a:lstStyle/>
          <a:p>
            <a:r>
              <a:rPr lang="en-CA" sz="1600" b="1" dirty="0">
                <a:latin typeface="Calibri" panose="020F0502020204030204" pitchFamily="34" charset="0"/>
                <a:ea typeface="Calibri" panose="020F0502020204030204" pitchFamily="34" charset="0"/>
                <a:cs typeface="Calibri" panose="020F0502020204030204" pitchFamily="34" charset="0"/>
              </a:rPr>
              <a:t>Primary Safety Group:</a:t>
            </a:r>
          </a:p>
          <a:p>
            <a:r>
              <a:rPr lang="en-CA" sz="1600" dirty="0">
                <a:latin typeface="Calibri" panose="020F0502020204030204" pitchFamily="34" charset="0"/>
                <a:ea typeface="Calibri" panose="020F0502020204030204" pitchFamily="34" charset="0"/>
                <a:cs typeface="Calibri" panose="020F0502020204030204" pitchFamily="34" charset="0"/>
              </a:rPr>
              <a:t>Contains the bulk of linking and all safety code for the component (IC01 in this case)</a:t>
            </a:r>
          </a:p>
        </p:txBody>
      </p:sp>
      <p:sp>
        <p:nvSpPr>
          <p:cNvPr id="4" name="TextBox 3">
            <a:extLst>
              <a:ext uri="{FF2B5EF4-FFF2-40B4-BE49-F238E27FC236}">
                <a16:creationId xmlns:a16="http://schemas.microsoft.com/office/drawing/2014/main" id="{FD8C0BAA-F438-DC93-15A3-2B54C095B739}"/>
              </a:ext>
            </a:extLst>
          </p:cNvPr>
          <p:cNvSpPr txBox="1"/>
          <p:nvPr/>
        </p:nvSpPr>
        <p:spPr>
          <a:xfrm>
            <a:off x="5345633" y="4067806"/>
            <a:ext cx="2637079" cy="1815882"/>
          </a:xfrm>
          <a:prstGeom prst="rect">
            <a:avLst/>
          </a:prstGeom>
          <a:noFill/>
        </p:spPr>
        <p:txBody>
          <a:bodyPr wrap="square" rtlCol="0">
            <a:spAutoFit/>
          </a:bodyPr>
          <a:lstStyle/>
          <a:p>
            <a:r>
              <a:rPr lang="en-CA" sz="1600" b="1" dirty="0">
                <a:latin typeface="Calibri" panose="020F0502020204030204" pitchFamily="34" charset="0"/>
                <a:ea typeface="Calibri" panose="020F0502020204030204" pitchFamily="34" charset="0"/>
                <a:cs typeface="Calibri" panose="020F0502020204030204" pitchFamily="34" charset="0"/>
              </a:rPr>
              <a:t>Decoupler Safety Groups:</a:t>
            </a:r>
          </a:p>
          <a:p>
            <a:r>
              <a:rPr lang="en-CA" sz="1600" dirty="0">
                <a:latin typeface="Calibri" panose="020F0502020204030204" pitchFamily="34" charset="0"/>
                <a:ea typeface="Calibri" panose="020F0502020204030204" pitchFamily="34" charset="0"/>
                <a:cs typeface="Calibri" panose="020F0502020204030204" pitchFamily="34" charset="0"/>
              </a:rPr>
              <a:t>Contain communication decoupling between the component at hand (IC01) and other components it must communicate with (other ICs, Robots, STs IS)</a:t>
            </a:r>
          </a:p>
        </p:txBody>
      </p:sp>
      <p:sp>
        <p:nvSpPr>
          <p:cNvPr id="5" name="TextBox 4">
            <a:extLst>
              <a:ext uri="{FF2B5EF4-FFF2-40B4-BE49-F238E27FC236}">
                <a16:creationId xmlns:a16="http://schemas.microsoft.com/office/drawing/2014/main" id="{11309293-E4F6-09DB-9982-3DCEAB691A19}"/>
              </a:ext>
            </a:extLst>
          </p:cNvPr>
          <p:cNvSpPr txBox="1"/>
          <p:nvPr/>
        </p:nvSpPr>
        <p:spPr>
          <a:xfrm>
            <a:off x="9228275" y="4481950"/>
            <a:ext cx="2755369" cy="2862322"/>
          </a:xfrm>
          <a:prstGeom prst="rect">
            <a:avLst/>
          </a:prstGeom>
          <a:noFill/>
        </p:spPr>
        <p:txBody>
          <a:bodyPr wrap="square" rtlCol="0">
            <a:spAutoFit/>
          </a:bodyPr>
          <a:lstStyle/>
          <a:p>
            <a:r>
              <a:rPr lang="en-CA" dirty="0">
                <a:latin typeface="Calibri" panose="020F0502020204030204" pitchFamily="34" charset="0"/>
                <a:ea typeface="Calibri" panose="020F0502020204030204" pitchFamily="34" charset="0"/>
                <a:cs typeface="Calibri" panose="020F0502020204030204" pitchFamily="34" charset="0"/>
              </a:rPr>
              <a:t>We break up our Safey code to separate logical “Safety Groups” so that a failure in one safety group doesn’t result in the entire safety project from halting.</a:t>
            </a:r>
          </a:p>
          <a:p>
            <a:endParaRPr lang="en-CA" dirty="0">
              <a:latin typeface="Calibri" panose="020F0502020204030204" pitchFamily="34" charset="0"/>
              <a:ea typeface="Calibri" panose="020F0502020204030204" pitchFamily="34" charset="0"/>
              <a:cs typeface="Calibri" panose="020F0502020204030204" pitchFamily="34" charset="0"/>
            </a:endParaRPr>
          </a:p>
          <a:p>
            <a:endParaRPr lang="en-CA" dirty="0">
              <a:latin typeface="Calibri" panose="020F0502020204030204" pitchFamily="34" charset="0"/>
              <a:ea typeface="Calibri" panose="020F0502020204030204" pitchFamily="34" charset="0"/>
              <a:cs typeface="Calibri" panose="020F0502020204030204" pitchFamily="34" charset="0"/>
            </a:endParaRPr>
          </a:p>
          <a:p>
            <a:endParaRPr lang="en-CA" dirty="0"/>
          </a:p>
          <a:p>
            <a:endParaRPr lang="en-CA" b="1" dirty="0"/>
          </a:p>
        </p:txBody>
      </p:sp>
      <p:pic>
        <p:nvPicPr>
          <p:cNvPr id="12" name="Picture 11">
            <a:extLst>
              <a:ext uri="{FF2B5EF4-FFF2-40B4-BE49-F238E27FC236}">
                <a16:creationId xmlns:a16="http://schemas.microsoft.com/office/drawing/2014/main" id="{6C3BFC31-04B2-1453-A9FD-19278DBC7A1A}"/>
              </a:ext>
            </a:extLst>
          </p:cNvPr>
          <p:cNvPicPr>
            <a:picLocks noChangeAspect="1"/>
          </p:cNvPicPr>
          <p:nvPr/>
        </p:nvPicPr>
        <p:blipFill>
          <a:blip r:embed="rId3"/>
          <a:stretch>
            <a:fillRect/>
          </a:stretch>
        </p:blipFill>
        <p:spPr>
          <a:xfrm>
            <a:off x="928814" y="3562747"/>
            <a:ext cx="2905530" cy="2229161"/>
          </a:xfrm>
          <a:prstGeom prst="rect">
            <a:avLst/>
          </a:prstGeom>
        </p:spPr>
      </p:pic>
      <p:cxnSp>
        <p:nvCxnSpPr>
          <p:cNvPr id="9" name="Straight Arrow Connector 8">
            <a:extLst>
              <a:ext uri="{FF2B5EF4-FFF2-40B4-BE49-F238E27FC236}">
                <a16:creationId xmlns:a16="http://schemas.microsoft.com/office/drawing/2014/main" id="{733C3565-930A-FE79-2955-E6AEC4894E94}"/>
              </a:ext>
            </a:extLst>
          </p:cNvPr>
          <p:cNvCxnSpPr>
            <a:cxnSpLocks/>
          </p:cNvCxnSpPr>
          <p:nvPr/>
        </p:nvCxnSpPr>
        <p:spPr>
          <a:xfrm flipH="1">
            <a:off x="2768433" y="3163824"/>
            <a:ext cx="2434503" cy="1875624"/>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15" name="Straight Arrow Connector 14">
            <a:extLst>
              <a:ext uri="{FF2B5EF4-FFF2-40B4-BE49-F238E27FC236}">
                <a16:creationId xmlns:a16="http://schemas.microsoft.com/office/drawing/2014/main" id="{C57E221C-E5A0-90B0-E663-D5011E52FAE8}"/>
              </a:ext>
            </a:extLst>
          </p:cNvPr>
          <p:cNvCxnSpPr>
            <a:cxnSpLocks/>
          </p:cNvCxnSpPr>
          <p:nvPr/>
        </p:nvCxnSpPr>
        <p:spPr>
          <a:xfrm flipH="1">
            <a:off x="2588272" y="4852636"/>
            <a:ext cx="2614664" cy="12888"/>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29" name="Straight Arrow Connector 28">
            <a:extLst>
              <a:ext uri="{FF2B5EF4-FFF2-40B4-BE49-F238E27FC236}">
                <a16:creationId xmlns:a16="http://schemas.microsoft.com/office/drawing/2014/main" id="{B7478612-1100-A7E9-3F10-56EE7AC352BE}"/>
              </a:ext>
            </a:extLst>
          </p:cNvPr>
          <p:cNvCxnSpPr>
            <a:cxnSpLocks/>
          </p:cNvCxnSpPr>
          <p:nvPr/>
        </p:nvCxnSpPr>
        <p:spPr>
          <a:xfrm flipH="1">
            <a:off x="2588272" y="4883748"/>
            <a:ext cx="2614664" cy="311401"/>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32" name="Straight Arrow Connector 31">
            <a:extLst>
              <a:ext uri="{FF2B5EF4-FFF2-40B4-BE49-F238E27FC236}">
                <a16:creationId xmlns:a16="http://schemas.microsoft.com/office/drawing/2014/main" id="{4B4B73BA-6B1A-DA5B-DF16-AF7AAC1D27B2}"/>
              </a:ext>
            </a:extLst>
          </p:cNvPr>
          <p:cNvCxnSpPr>
            <a:cxnSpLocks/>
          </p:cNvCxnSpPr>
          <p:nvPr/>
        </p:nvCxnSpPr>
        <p:spPr>
          <a:xfrm flipH="1">
            <a:off x="2740672" y="4865524"/>
            <a:ext cx="2462264" cy="482025"/>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34" name="Straight Arrow Connector 33">
            <a:extLst>
              <a:ext uri="{FF2B5EF4-FFF2-40B4-BE49-F238E27FC236}">
                <a16:creationId xmlns:a16="http://schemas.microsoft.com/office/drawing/2014/main" id="{BA7CEEAB-7FD7-0DB6-9FB2-5ED5F4CFEC18}"/>
              </a:ext>
            </a:extLst>
          </p:cNvPr>
          <p:cNvCxnSpPr>
            <a:cxnSpLocks/>
          </p:cNvCxnSpPr>
          <p:nvPr/>
        </p:nvCxnSpPr>
        <p:spPr>
          <a:xfrm flipH="1">
            <a:off x="2588272" y="4878412"/>
            <a:ext cx="2614664" cy="690284"/>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6765537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192B9CE-B7AC-3C41-8A0A-64ADC6F50AA8}"/>
            </a:ext>
          </a:extLst>
        </p:cNvPr>
        <p:cNvGrpSpPr/>
        <p:nvPr/>
      </p:nvGrpSpPr>
      <p:grpSpPr>
        <a:xfrm>
          <a:off x="0" y="0"/>
          <a:ext cx="0" cy="0"/>
          <a:chOff x="0" y="0"/>
          <a:chExt cx="0" cy="0"/>
        </a:xfrm>
      </p:grpSpPr>
      <p:pic>
        <p:nvPicPr>
          <p:cNvPr id="49" name="Picture 12" descr="Logo&#10;&#10;Description automatically generated">
            <a:extLst>
              <a:ext uri="{FF2B5EF4-FFF2-40B4-BE49-F238E27FC236}">
                <a16:creationId xmlns:a16="http://schemas.microsoft.com/office/drawing/2014/main" id="{DF0152B9-816C-844F-B3CC-A5EDA34605F2}"/>
              </a:ext>
            </a:extLst>
          </p:cNvPr>
          <p:cNvPicPr/>
          <p:nvPr/>
        </p:nvPicPr>
        <p:blipFill>
          <a:blip r:embed="rId2"/>
          <a:stretch/>
        </p:blipFill>
        <p:spPr>
          <a:xfrm>
            <a:off x="336240" y="208080"/>
            <a:ext cx="2932560" cy="1064520"/>
          </a:xfrm>
          <a:prstGeom prst="rect">
            <a:avLst/>
          </a:prstGeom>
          <a:ln w="0">
            <a:noFill/>
          </a:ln>
        </p:spPr>
      </p:pic>
      <p:sp>
        <p:nvSpPr>
          <p:cNvPr id="50" name="Rectangle 12">
            <a:extLst>
              <a:ext uri="{FF2B5EF4-FFF2-40B4-BE49-F238E27FC236}">
                <a16:creationId xmlns:a16="http://schemas.microsoft.com/office/drawing/2014/main" id="{369DD39D-C20F-AA64-8D47-946726F9B848}"/>
              </a:ext>
            </a:extLst>
          </p:cNvPr>
          <p:cNvSpPr/>
          <p:nvPr/>
        </p:nvSpPr>
        <p:spPr>
          <a:xfrm>
            <a:off x="7783200" y="104400"/>
            <a:ext cx="4273920" cy="1271880"/>
          </a:xfrm>
          <a:prstGeom prst="rect">
            <a:avLst/>
          </a:prstGeom>
          <a:gradFill rotWithShape="0">
            <a:gsLst>
              <a:gs pos="0">
                <a:srgbClr val="EE8137"/>
              </a:gs>
              <a:gs pos="100000">
                <a:srgbClr val="F4B183"/>
              </a:gs>
            </a:gsLst>
            <a:lin ang="16200000"/>
          </a:grad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spcAft>
                <a:spcPts val="601"/>
              </a:spcAft>
              <a:buNone/>
            </a:pPr>
            <a:r>
              <a:rPr lang="en-CA" sz="4000" b="1" strike="noStrike" spc="-1" dirty="0" err="1">
                <a:solidFill>
                  <a:srgbClr val="000000"/>
                </a:solidFill>
                <a:latin typeface="Calibri Light"/>
                <a:ea typeface="DejaVu Sans"/>
              </a:rPr>
              <a:t>TwinSAFE</a:t>
            </a:r>
            <a:r>
              <a:rPr lang="en-CA" sz="4000" b="1" strike="noStrike" spc="-1" dirty="0">
                <a:solidFill>
                  <a:srgbClr val="000000"/>
                </a:solidFill>
                <a:latin typeface="Calibri Light"/>
                <a:ea typeface="DejaVu Sans"/>
              </a:rPr>
              <a:t> I/F</a:t>
            </a:r>
          </a:p>
        </p:txBody>
      </p:sp>
      <p:sp>
        <p:nvSpPr>
          <p:cNvPr id="3" name="TextBox 2">
            <a:extLst>
              <a:ext uri="{FF2B5EF4-FFF2-40B4-BE49-F238E27FC236}">
                <a16:creationId xmlns:a16="http://schemas.microsoft.com/office/drawing/2014/main" id="{7DCD76B1-C140-D2AA-965F-9F794829B4FC}"/>
              </a:ext>
            </a:extLst>
          </p:cNvPr>
          <p:cNvSpPr txBox="1"/>
          <p:nvPr/>
        </p:nvSpPr>
        <p:spPr>
          <a:xfrm>
            <a:off x="4290939" y="860582"/>
            <a:ext cx="2755369" cy="1754326"/>
          </a:xfrm>
          <a:prstGeom prst="rect">
            <a:avLst/>
          </a:prstGeom>
          <a:noFill/>
        </p:spPr>
        <p:txBody>
          <a:bodyPr wrap="square" rtlCol="0">
            <a:spAutoFit/>
          </a:bodyPr>
          <a:lstStyle/>
          <a:p>
            <a:r>
              <a:rPr lang="en-CA" dirty="0">
                <a:latin typeface="Calibri" panose="020F0502020204030204" pitchFamily="34" charset="0"/>
                <a:ea typeface="Calibri" panose="020F0502020204030204" pitchFamily="34" charset="0"/>
                <a:cs typeface="Calibri" panose="020F0502020204030204" pitchFamily="34" charset="0"/>
              </a:rPr>
              <a:t>Let’s explore what each is used for. We will start with signals sent from the PLC to the Safety System</a:t>
            </a:r>
          </a:p>
          <a:p>
            <a:endParaRPr lang="en-CA" dirty="0"/>
          </a:p>
          <a:p>
            <a:endParaRPr lang="en-CA" b="1" dirty="0"/>
          </a:p>
        </p:txBody>
      </p:sp>
      <p:sp>
        <p:nvSpPr>
          <p:cNvPr id="21" name="TextBox 20">
            <a:extLst>
              <a:ext uri="{FF2B5EF4-FFF2-40B4-BE49-F238E27FC236}">
                <a16:creationId xmlns:a16="http://schemas.microsoft.com/office/drawing/2014/main" id="{5BD14357-68EF-2F65-C2FF-DDD0FC6D4185}"/>
              </a:ext>
            </a:extLst>
          </p:cNvPr>
          <p:cNvSpPr txBox="1"/>
          <p:nvPr/>
        </p:nvSpPr>
        <p:spPr>
          <a:xfrm>
            <a:off x="272232" y="2704209"/>
            <a:ext cx="2755369" cy="3293209"/>
          </a:xfrm>
          <a:prstGeom prst="rect">
            <a:avLst/>
          </a:prstGeom>
          <a:noFill/>
        </p:spPr>
        <p:txBody>
          <a:bodyPr wrap="square" rtlCol="0">
            <a:spAutoFit/>
          </a:bodyPr>
          <a:lstStyle/>
          <a:p>
            <a:r>
              <a:rPr lang="en-CA" sz="1600" dirty="0" err="1">
                <a:latin typeface="Calibri" panose="020F0502020204030204" pitchFamily="34" charset="0"/>
                <a:ea typeface="Calibri" panose="020F0502020204030204" pitchFamily="34" charset="0"/>
                <a:cs typeface="Calibri" panose="020F0502020204030204" pitchFamily="34" charset="0"/>
              </a:rPr>
              <a:t>SGs_RUNSTOP</a:t>
            </a:r>
            <a:r>
              <a:rPr lang="en-CA" sz="1600" dirty="0">
                <a:latin typeface="Calibri" panose="020F0502020204030204" pitchFamily="34" charset="0"/>
                <a:ea typeface="Calibri" panose="020F0502020204030204" pitchFamily="34" charset="0"/>
                <a:cs typeface="Calibri" panose="020F0502020204030204" pitchFamily="34" charset="0"/>
              </a:rPr>
              <a:t> (bool):</a:t>
            </a:r>
          </a:p>
          <a:p>
            <a:endParaRPr lang="en-CA" sz="1600" dirty="0">
              <a:latin typeface="Calibri" panose="020F0502020204030204" pitchFamily="34" charset="0"/>
              <a:ea typeface="Calibri" panose="020F0502020204030204" pitchFamily="34" charset="0"/>
              <a:cs typeface="Calibri" panose="020F0502020204030204" pitchFamily="34" charset="0"/>
            </a:endParaRPr>
          </a:p>
          <a:p>
            <a:r>
              <a:rPr lang="en-CA" sz="1600" dirty="0">
                <a:latin typeface="Calibri" panose="020F0502020204030204" pitchFamily="34" charset="0"/>
                <a:ea typeface="Calibri" panose="020F0502020204030204" pitchFamily="34" charset="0"/>
                <a:cs typeface="Calibri" panose="020F0502020204030204" pitchFamily="34" charset="0"/>
              </a:rPr>
              <a:t>This is a simply bit used to set each Safety Group into Run. There is nothing fancy going on here. In the PLC code, these bits are set to True. Meaning , if the PLC is running, the safety group is also set to RUN</a:t>
            </a:r>
          </a:p>
          <a:p>
            <a:endParaRPr lang="en-CA" sz="1600" dirty="0">
              <a:latin typeface="Calibri" panose="020F0502020204030204" pitchFamily="34" charset="0"/>
              <a:ea typeface="Calibri" panose="020F0502020204030204" pitchFamily="34" charset="0"/>
              <a:cs typeface="Calibri" panose="020F0502020204030204" pitchFamily="34" charset="0"/>
            </a:endParaRPr>
          </a:p>
          <a:p>
            <a:r>
              <a:rPr lang="en-CA" sz="1600" dirty="0">
                <a:latin typeface="Calibri" panose="020F0502020204030204" pitchFamily="34" charset="0"/>
                <a:ea typeface="Calibri" panose="020F0502020204030204" pitchFamily="34" charset="0"/>
                <a:cs typeface="Calibri" panose="020F0502020204030204" pitchFamily="34" charset="0"/>
              </a:rPr>
              <a:t>These are multi linked to every Safety Group in the applicable Safety Project.</a:t>
            </a:r>
          </a:p>
        </p:txBody>
      </p:sp>
      <p:sp>
        <p:nvSpPr>
          <p:cNvPr id="22" name="TextBox 21">
            <a:extLst>
              <a:ext uri="{FF2B5EF4-FFF2-40B4-BE49-F238E27FC236}">
                <a16:creationId xmlns:a16="http://schemas.microsoft.com/office/drawing/2014/main" id="{F91737B1-E658-8038-60A5-96F7DC4FFAAA}"/>
              </a:ext>
            </a:extLst>
          </p:cNvPr>
          <p:cNvSpPr txBox="1"/>
          <p:nvPr/>
        </p:nvSpPr>
        <p:spPr>
          <a:xfrm>
            <a:off x="3276623" y="2704209"/>
            <a:ext cx="2755369" cy="3539430"/>
          </a:xfrm>
          <a:prstGeom prst="rect">
            <a:avLst/>
          </a:prstGeom>
          <a:noFill/>
        </p:spPr>
        <p:txBody>
          <a:bodyPr wrap="square" rtlCol="0">
            <a:spAutoFit/>
          </a:bodyPr>
          <a:lstStyle/>
          <a:p>
            <a:r>
              <a:rPr lang="en-CA" sz="1600" dirty="0" err="1">
                <a:latin typeface="Calibri" panose="020F0502020204030204" pitchFamily="34" charset="0"/>
                <a:ea typeface="Calibri" panose="020F0502020204030204" pitchFamily="34" charset="0"/>
                <a:cs typeface="Calibri" panose="020F0502020204030204" pitchFamily="34" charset="0"/>
              </a:rPr>
              <a:t>SGs_ERRAck</a:t>
            </a:r>
            <a:r>
              <a:rPr lang="en-CA" sz="1600" dirty="0">
                <a:latin typeface="Calibri" panose="020F0502020204030204" pitchFamily="34" charset="0"/>
                <a:ea typeface="Calibri" panose="020F0502020204030204" pitchFamily="34" charset="0"/>
                <a:cs typeface="Calibri" panose="020F0502020204030204" pitchFamily="34" charset="0"/>
              </a:rPr>
              <a:t> (bool):</a:t>
            </a:r>
          </a:p>
          <a:p>
            <a:endParaRPr lang="en-CA" sz="1600" dirty="0">
              <a:latin typeface="Calibri" panose="020F0502020204030204" pitchFamily="34" charset="0"/>
              <a:ea typeface="Calibri" panose="020F0502020204030204" pitchFamily="34" charset="0"/>
              <a:cs typeface="Calibri" panose="020F0502020204030204" pitchFamily="34" charset="0"/>
            </a:endParaRPr>
          </a:p>
          <a:p>
            <a:r>
              <a:rPr lang="en-CA" sz="1600" dirty="0">
                <a:latin typeface="Calibri" panose="020F0502020204030204" pitchFamily="34" charset="0"/>
                <a:ea typeface="Calibri" panose="020F0502020204030204" pitchFamily="34" charset="0"/>
                <a:cs typeface="Calibri" panose="020F0502020204030204" pitchFamily="34" charset="0"/>
              </a:rPr>
              <a:t>This is a bit which is used to reset safety group level errors. In general, it is mapped to the Control Power PB by default BUT can be changed according to the applications needs for reset timing.</a:t>
            </a:r>
          </a:p>
          <a:p>
            <a:endParaRPr lang="en-CA" sz="1600" dirty="0">
              <a:latin typeface="Calibri" panose="020F0502020204030204" pitchFamily="34" charset="0"/>
              <a:ea typeface="Calibri" panose="020F0502020204030204" pitchFamily="34" charset="0"/>
              <a:cs typeface="Calibri" panose="020F0502020204030204" pitchFamily="34" charset="0"/>
            </a:endParaRPr>
          </a:p>
          <a:p>
            <a:r>
              <a:rPr lang="en-CA" sz="1600" dirty="0">
                <a:latin typeface="Calibri" panose="020F0502020204030204" pitchFamily="34" charset="0"/>
                <a:ea typeface="Calibri" panose="020F0502020204030204" pitchFamily="34" charset="0"/>
                <a:cs typeface="Calibri" panose="020F0502020204030204" pitchFamily="34" charset="0"/>
              </a:rPr>
              <a:t>These are multi linked to every Safety Group in the applicable Safety Project.</a:t>
            </a:r>
          </a:p>
          <a:p>
            <a:endParaRPr lang="en-CA" sz="1600" dirty="0">
              <a:latin typeface="Calibri" panose="020F0502020204030204" pitchFamily="34" charset="0"/>
              <a:ea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3386534C-6D8C-B2FD-4F92-D841A78C6DAA}"/>
              </a:ext>
            </a:extLst>
          </p:cNvPr>
          <p:cNvSpPr txBox="1"/>
          <p:nvPr/>
        </p:nvSpPr>
        <p:spPr>
          <a:xfrm>
            <a:off x="6400652" y="2704209"/>
            <a:ext cx="2637079" cy="3785652"/>
          </a:xfrm>
          <a:prstGeom prst="rect">
            <a:avLst/>
          </a:prstGeom>
          <a:noFill/>
        </p:spPr>
        <p:txBody>
          <a:bodyPr wrap="square" rtlCol="0">
            <a:spAutoFit/>
          </a:bodyPr>
          <a:lstStyle/>
          <a:p>
            <a:r>
              <a:rPr lang="en-CA" sz="1600" dirty="0" err="1">
                <a:latin typeface="Calibri" panose="020F0502020204030204" pitchFamily="34" charset="0"/>
                <a:ea typeface="Calibri" panose="020F0502020204030204" pitchFamily="34" charset="0"/>
                <a:cs typeface="Calibri" panose="020F0502020204030204" pitchFamily="34" charset="0"/>
              </a:rPr>
              <a:t>FBs_ControlPowerPB</a:t>
            </a:r>
            <a:r>
              <a:rPr lang="en-CA" sz="1600" dirty="0">
                <a:latin typeface="Calibri" panose="020F0502020204030204" pitchFamily="34" charset="0"/>
                <a:ea typeface="Calibri" panose="020F0502020204030204" pitchFamily="34" charset="0"/>
                <a:cs typeface="Calibri" panose="020F0502020204030204" pitchFamily="34" charset="0"/>
              </a:rPr>
              <a:t> (bool):</a:t>
            </a:r>
          </a:p>
          <a:p>
            <a:endParaRPr lang="en-CA" sz="1600" dirty="0">
              <a:latin typeface="Calibri" panose="020F0502020204030204" pitchFamily="34" charset="0"/>
              <a:ea typeface="Calibri" panose="020F0502020204030204" pitchFamily="34" charset="0"/>
              <a:cs typeface="Calibri" panose="020F0502020204030204" pitchFamily="34" charset="0"/>
            </a:endParaRPr>
          </a:p>
          <a:p>
            <a:r>
              <a:rPr lang="en-CA" sz="1600" dirty="0">
                <a:latin typeface="Calibri" panose="020F0502020204030204" pitchFamily="34" charset="0"/>
                <a:ea typeface="Calibri" panose="020F0502020204030204" pitchFamily="34" charset="0"/>
                <a:cs typeface="Calibri" panose="020F0502020204030204" pitchFamily="34" charset="0"/>
              </a:rPr>
              <a:t>This is a fixed signal, tied to our UI Control Power Pushbutton, used to reset FB level monitoring. Examples of this are to reset Estop Function Blocks. </a:t>
            </a:r>
          </a:p>
          <a:p>
            <a:endParaRPr lang="en-CA" sz="1600" dirty="0">
              <a:latin typeface="Calibri" panose="020F0502020204030204" pitchFamily="34" charset="0"/>
              <a:ea typeface="Calibri" panose="020F0502020204030204" pitchFamily="34" charset="0"/>
              <a:cs typeface="Calibri" panose="020F0502020204030204" pitchFamily="34" charset="0"/>
            </a:endParaRPr>
          </a:p>
          <a:p>
            <a:endParaRPr lang="en-CA" sz="1600" dirty="0">
              <a:latin typeface="Calibri" panose="020F0502020204030204" pitchFamily="34" charset="0"/>
              <a:ea typeface="Calibri" panose="020F0502020204030204" pitchFamily="34" charset="0"/>
              <a:cs typeface="Calibri" panose="020F0502020204030204" pitchFamily="34" charset="0"/>
            </a:endParaRPr>
          </a:p>
          <a:p>
            <a:r>
              <a:rPr lang="en-CA" sz="1600" dirty="0">
                <a:latin typeface="Calibri" panose="020F0502020204030204" pitchFamily="34" charset="0"/>
                <a:ea typeface="Calibri" panose="020F0502020204030204" pitchFamily="34" charset="0"/>
                <a:cs typeface="Calibri" panose="020F0502020204030204" pitchFamily="34" charset="0"/>
              </a:rPr>
              <a:t>These are linked to any applicable FBs requiring monitoring reset, where the Control Power PB is applicable as a reset method.</a:t>
            </a:r>
          </a:p>
        </p:txBody>
      </p:sp>
      <p:sp>
        <p:nvSpPr>
          <p:cNvPr id="26" name="TextBox 25">
            <a:extLst>
              <a:ext uri="{FF2B5EF4-FFF2-40B4-BE49-F238E27FC236}">
                <a16:creationId xmlns:a16="http://schemas.microsoft.com/office/drawing/2014/main" id="{B4C6F1F7-9D83-6EA4-45E4-FB25F687C999}"/>
              </a:ext>
            </a:extLst>
          </p:cNvPr>
          <p:cNvSpPr txBox="1"/>
          <p:nvPr/>
        </p:nvSpPr>
        <p:spPr>
          <a:xfrm>
            <a:off x="9222689" y="2704209"/>
            <a:ext cx="2637079" cy="4031873"/>
          </a:xfrm>
          <a:prstGeom prst="rect">
            <a:avLst/>
          </a:prstGeom>
          <a:noFill/>
        </p:spPr>
        <p:txBody>
          <a:bodyPr wrap="square" rtlCol="0">
            <a:spAutoFit/>
          </a:bodyPr>
          <a:lstStyle/>
          <a:p>
            <a:r>
              <a:rPr lang="en-CA" sz="1600" dirty="0" err="1">
                <a:latin typeface="Calibri" panose="020F0502020204030204" pitchFamily="34" charset="0"/>
                <a:ea typeface="Calibri" panose="020F0502020204030204" pitchFamily="34" charset="0"/>
                <a:cs typeface="Calibri" panose="020F0502020204030204" pitchFamily="34" charset="0"/>
              </a:rPr>
              <a:t>FBs_Restart_Spare</a:t>
            </a:r>
            <a:r>
              <a:rPr lang="en-CA" sz="1600" dirty="0">
                <a:latin typeface="Calibri" panose="020F0502020204030204" pitchFamily="34" charset="0"/>
                <a:ea typeface="Calibri" panose="020F0502020204030204" pitchFamily="34" charset="0"/>
                <a:cs typeface="Calibri" panose="020F0502020204030204" pitchFamily="34" charset="0"/>
              </a:rPr>
              <a:t> (bool):</a:t>
            </a:r>
          </a:p>
          <a:p>
            <a:endParaRPr lang="en-CA" sz="1600" dirty="0">
              <a:latin typeface="Calibri" panose="020F0502020204030204" pitchFamily="34" charset="0"/>
              <a:ea typeface="Calibri" panose="020F0502020204030204" pitchFamily="34" charset="0"/>
              <a:cs typeface="Calibri" panose="020F0502020204030204" pitchFamily="34" charset="0"/>
            </a:endParaRPr>
          </a:p>
          <a:p>
            <a:r>
              <a:rPr lang="en-CA" sz="1600" dirty="0">
                <a:latin typeface="Calibri" panose="020F0502020204030204" pitchFamily="34" charset="0"/>
                <a:ea typeface="Calibri" panose="020F0502020204030204" pitchFamily="34" charset="0"/>
                <a:cs typeface="Calibri" panose="020F0502020204030204" pitchFamily="34" charset="0"/>
              </a:rPr>
              <a:t>This is a spare signal that can be mapped in the PLC to have other Push buttons used as a FB level reset. An example might be a specific zone in a machine that is only visible by one UI, in which case a global Control Power PB reset may not be best.</a:t>
            </a:r>
          </a:p>
          <a:p>
            <a:endParaRPr lang="en-CA" sz="1600" dirty="0">
              <a:latin typeface="Calibri" panose="020F0502020204030204" pitchFamily="34" charset="0"/>
              <a:ea typeface="Calibri" panose="020F0502020204030204" pitchFamily="34" charset="0"/>
              <a:cs typeface="Calibri" panose="020F0502020204030204" pitchFamily="34" charset="0"/>
            </a:endParaRPr>
          </a:p>
          <a:p>
            <a:r>
              <a:rPr lang="en-CA" sz="1600" dirty="0">
                <a:latin typeface="Calibri" panose="020F0502020204030204" pitchFamily="34" charset="0"/>
                <a:ea typeface="Calibri" panose="020F0502020204030204" pitchFamily="34" charset="0"/>
                <a:cs typeface="Calibri" panose="020F0502020204030204" pitchFamily="34" charset="0"/>
              </a:rPr>
              <a:t>These are only used in applications requiring a specific scenario such as described.</a:t>
            </a:r>
          </a:p>
        </p:txBody>
      </p:sp>
    </p:spTree>
    <p:extLst>
      <p:ext uri="{BB962C8B-B14F-4D97-AF65-F5344CB8AC3E}">
        <p14:creationId xmlns:p14="http://schemas.microsoft.com/office/powerpoint/2010/main" val="23398771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87451BE-674F-B11E-6152-5A4B7856BD71}"/>
            </a:ext>
          </a:extLst>
        </p:cNvPr>
        <p:cNvGrpSpPr/>
        <p:nvPr/>
      </p:nvGrpSpPr>
      <p:grpSpPr>
        <a:xfrm>
          <a:off x="0" y="0"/>
          <a:ext cx="0" cy="0"/>
          <a:chOff x="0" y="0"/>
          <a:chExt cx="0" cy="0"/>
        </a:xfrm>
      </p:grpSpPr>
      <p:pic>
        <p:nvPicPr>
          <p:cNvPr id="49" name="Picture 12" descr="Logo&#10;&#10;Description automatically generated">
            <a:extLst>
              <a:ext uri="{FF2B5EF4-FFF2-40B4-BE49-F238E27FC236}">
                <a16:creationId xmlns:a16="http://schemas.microsoft.com/office/drawing/2014/main" id="{AC8B47BE-0233-BB92-CC95-EB543F1B1E3B}"/>
              </a:ext>
            </a:extLst>
          </p:cNvPr>
          <p:cNvPicPr/>
          <p:nvPr/>
        </p:nvPicPr>
        <p:blipFill>
          <a:blip r:embed="rId2"/>
          <a:stretch/>
        </p:blipFill>
        <p:spPr>
          <a:xfrm>
            <a:off x="336240" y="208080"/>
            <a:ext cx="2932560" cy="1064520"/>
          </a:xfrm>
          <a:prstGeom prst="rect">
            <a:avLst/>
          </a:prstGeom>
          <a:ln w="0">
            <a:noFill/>
          </a:ln>
        </p:spPr>
      </p:pic>
      <p:sp>
        <p:nvSpPr>
          <p:cNvPr id="50" name="Rectangle 12">
            <a:extLst>
              <a:ext uri="{FF2B5EF4-FFF2-40B4-BE49-F238E27FC236}">
                <a16:creationId xmlns:a16="http://schemas.microsoft.com/office/drawing/2014/main" id="{5600A047-430B-6B22-9B4D-E917A9F34581}"/>
              </a:ext>
            </a:extLst>
          </p:cNvPr>
          <p:cNvSpPr/>
          <p:nvPr/>
        </p:nvSpPr>
        <p:spPr>
          <a:xfrm>
            <a:off x="7783200" y="104400"/>
            <a:ext cx="4273920" cy="1271880"/>
          </a:xfrm>
          <a:prstGeom prst="rect">
            <a:avLst/>
          </a:prstGeom>
          <a:gradFill rotWithShape="0">
            <a:gsLst>
              <a:gs pos="0">
                <a:srgbClr val="EE8137"/>
              </a:gs>
              <a:gs pos="100000">
                <a:srgbClr val="F4B183"/>
              </a:gs>
            </a:gsLst>
            <a:lin ang="16200000"/>
          </a:grad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spcAft>
                <a:spcPts val="601"/>
              </a:spcAft>
              <a:buNone/>
            </a:pPr>
            <a:r>
              <a:rPr lang="en-CA" sz="4000" b="1" strike="noStrike" spc="-1" dirty="0" err="1">
                <a:solidFill>
                  <a:srgbClr val="000000"/>
                </a:solidFill>
                <a:latin typeface="Calibri Light"/>
                <a:ea typeface="DejaVu Sans"/>
              </a:rPr>
              <a:t>TwinSAFE</a:t>
            </a:r>
            <a:r>
              <a:rPr lang="en-CA" sz="4000" b="1" strike="noStrike" spc="-1" dirty="0">
                <a:solidFill>
                  <a:srgbClr val="000000"/>
                </a:solidFill>
                <a:latin typeface="Calibri Light"/>
                <a:ea typeface="DejaVu Sans"/>
              </a:rPr>
              <a:t> I/F</a:t>
            </a:r>
          </a:p>
        </p:txBody>
      </p:sp>
      <p:sp>
        <p:nvSpPr>
          <p:cNvPr id="3" name="TextBox 2">
            <a:extLst>
              <a:ext uri="{FF2B5EF4-FFF2-40B4-BE49-F238E27FC236}">
                <a16:creationId xmlns:a16="http://schemas.microsoft.com/office/drawing/2014/main" id="{888B144C-EBB9-4627-7C78-56C2658C86A6}"/>
              </a:ext>
            </a:extLst>
          </p:cNvPr>
          <p:cNvSpPr txBox="1"/>
          <p:nvPr/>
        </p:nvSpPr>
        <p:spPr>
          <a:xfrm>
            <a:off x="4290939" y="860582"/>
            <a:ext cx="2755369" cy="1477328"/>
          </a:xfrm>
          <a:prstGeom prst="rect">
            <a:avLst/>
          </a:prstGeom>
          <a:noFill/>
        </p:spPr>
        <p:txBody>
          <a:bodyPr wrap="square" rtlCol="0">
            <a:spAutoFit/>
          </a:bodyPr>
          <a:lstStyle/>
          <a:p>
            <a:r>
              <a:rPr lang="en-CA" dirty="0">
                <a:latin typeface="Calibri" panose="020F0502020204030204" pitchFamily="34" charset="0"/>
                <a:ea typeface="Calibri" panose="020F0502020204030204" pitchFamily="34" charset="0"/>
                <a:cs typeface="Calibri" panose="020F0502020204030204" pitchFamily="34" charset="0"/>
              </a:rPr>
              <a:t>Now let’s take a look at signals sent to the PLC from the Safety System</a:t>
            </a:r>
          </a:p>
          <a:p>
            <a:endParaRPr lang="en-CA" dirty="0"/>
          </a:p>
          <a:p>
            <a:endParaRPr lang="en-CA" b="1" dirty="0"/>
          </a:p>
        </p:txBody>
      </p:sp>
      <p:sp>
        <p:nvSpPr>
          <p:cNvPr id="21" name="TextBox 20">
            <a:extLst>
              <a:ext uri="{FF2B5EF4-FFF2-40B4-BE49-F238E27FC236}">
                <a16:creationId xmlns:a16="http://schemas.microsoft.com/office/drawing/2014/main" id="{1DFF444B-2445-FB25-93DF-9EDC64ADDD11}"/>
              </a:ext>
            </a:extLst>
          </p:cNvPr>
          <p:cNvSpPr txBox="1"/>
          <p:nvPr/>
        </p:nvSpPr>
        <p:spPr>
          <a:xfrm>
            <a:off x="217368" y="2119552"/>
            <a:ext cx="2755369" cy="4524315"/>
          </a:xfrm>
          <a:prstGeom prst="rect">
            <a:avLst/>
          </a:prstGeom>
          <a:noFill/>
        </p:spPr>
        <p:txBody>
          <a:bodyPr wrap="square" rtlCol="0">
            <a:spAutoFit/>
          </a:bodyPr>
          <a:lstStyle/>
          <a:p>
            <a:r>
              <a:rPr lang="en-CA" sz="1600" dirty="0" err="1">
                <a:latin typeface="Calibri" panose="020F0502020204030204" pitchFamily="34" charset="0"/>
                <a:ea typeface="Calibri" panose="020F0502020204030204" pitchFamily="34" charset="0"/>
                <a:cs typeface="Calibri" panose="020F0502020204030204" pitchFamily="34" charset="0"/>
              </a:rPr>
              <a:t>SGs_FB_ERR</a:t>
            </a:r>
            <a:r>
              <a:rPr lang="en-CA" sz="1600" dirty="0">
                <a:latin typeface="Calibri" panose="020F0502020204030204" pitchFamily="34" charset="0"/>
                <a:ea typeface="Calibri" panose="020F0502020204030204" pitchFamily="34" charset="0"/>
                <a:cs typeface="Calibri" panose="020F0502020204030204" pitchFamily="34" charset="0"/>
              </a:rPr>
              <a:t> (byte):</a:t>
            </a:r>
          </a:p>
          <a:p>
            <a:endParaRPr lang="en-CA" sz="1600" dirty="0">
              <a:latin typeface="Calibri" panose="020F0502020204030204" pitchFamily="34" charset="0"/>
              <a:ea typeface="Calibri" panose="020F0502020204030204" pitchFamily="34" charset="0"/>
              <a:cs typeface="Calibri" panose="020F0502020204030204" pitchFamily="34" charset="0"/>
            </a:endParaRPr>
          </a:p>
          <a:p>
            <a:r>
              <a:rPr lang="en-CA" sz="1600" dirty="0">
                <a:latin typeface="Calibri" panose="020F0502020204030204" pitchFamily="34" charset="0"/>
                <a:ea typeface="Calibri" panose="020F0502020204030204" pitchFamily="34" charset="0"/>
                <a:cs typeface="Calibri" panose="020F0502020204030204" pitchFamily="34" charset="0"/>
              </a:rPr>
              <a:t>Each Bit in this signal’s byte is linked to a safety group’s “FB Error” group signal. So, for example, the Safety Systems Primary safety group, which contains it’s safety code, would be linked to bit 0. Subsequent decoupler safety groups are linked to bits 1, 2 and so on.</a:t>
            </a:r>
          </a:p>
          <a:p>
            <a:endParaRPr lang="en-CA" sz="1600" dirty="0">
              <a:latin typeface="Calibri" panose="020F0502020204030204" pitchFamily="34" charset="0"/>
              <a:ea typeface="Calibri" panose="020F0502020204030204" pitchFamily="34" charset="0"/>
              <a:cs typeface="Calibri" panose="020F0502020204030204" pitchFamily="34" charset="0"/>
            </a:endParaRPr>
          </a:p>
          <a:p>
            <a:r>
              <a:rPr lang="en-CA" sz="1600" dirty="0">
                <a:latin typeface="Calibri" panose="020F0502020204030204" pitchFamily="34" charset="0"/>
                <a:ea typeface="Calibri" panose="020F0502020204030204" pitchFamily="34" charset="0"/>
                <a:cs typeface="Calibri" panose="020F0502020204030204" pitchFamily="34" charset="0"/>
              </a:rPr>
              <a:t>The linking map for each GTAC component type (IC, IS </a:t>
            </a:r>
            <a:r>
              <a:rPr lang="en-CA" sz="1600" dirty="0" err="1">
                <a:latin typeface="Calibri" panose="020F0502020204030204" pitchFamily="34" charset="0"/>
                <a:ea typeface="Calibri" panose="020F0502020204030204" pitchFamily="34" charset="0"/>
                <a:cs typeface="Calibri" panose="020F0502020204030204" pitchFamily="34" charset="0"/>
              </a:rPr>
              <a:t>etc</a:t>
            </a:r>
            <a:r>
              <a:rPr lang="en-CA" sz="1600" dirty="0">
                <a:latin typeface="Calibri" panose="020F0502020204030204" pitchFamily="34" charset="0"/>
                <a:ea typeface="Calibri" panose="020F0502020204030204" pitchFamily="34" charset="0"/>
                <a:cs typeface="Calibri" panose="020F0502020204030204" pitchFamily="34" charset="0"/>
              </a:rPr>
              <a:t>) can be found, as comments, in the </a:t>
            </a:r>
            <a:r>
              <a:rPr lang="en-CA" sz="1600" dirty="0" err="1">
                <a:latin typeface="Calibri" panose="020F0502020204030204" pitchFamily="34" charset="0"/>
                <a:ea typeface="Calibri" panose="020F0502020204030204" pitchFamily="34" charset="0"/>
                <a:cs typeface="Calibri" panose="020F0502020204030204" pitchFamily="34" charset="0"/>
              </a:rPr>
              <a:t>TwnSAFE</a:t>
            </a:r>
            <a:r>
              <a:rPr lang="en-CA" sz="1600" dirty="0">
                <a:latin typeface="Calibri" panose="020F0502020204030204" pitchFamily="34" charset="0"/>
                <a:ea typeface="Calibri" panose="020F0502020204030204" pitchFamily="34" charset="0"/>
                <a:cs typeface="Calibri" panose="020F0502020204030204" pitchFamily="34" charset="0"/>
              </a:rPr>
              <a:t> area of PLC’s fault code.</a:t>
            </a:r>
          </a:p>
          <a:p>
            <a:endParaRPr lang="en-CA" sz="1600" dirty="0">
              <a:latin typeface="Calibri" panose="020F0502020204030204" pitchFamily="34" charset="0"/>
              <a:ea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C7D34C73-0D83-2375-D794-F00686EFB102}"/>
              </a:ext>
            </a:extLst>
          </p:cNvPr>
          <p:cNvSpPr txBox="1"/>
          <p:nvPr/>
        </p:nvSpPr>
        <p:spPr>
          <a:xfrm>
            <a:off x="3208551" y="2113578"/>
            <a:ext cx="2755369" cy="5262979"/>
          </a:xfrm>
          <a:prstGeom prst="rect">
            <a:avLst/>
          </a:prstGeom>
          <a:noFill/>
        </p:spPr>
        <p:txBody>
          <a:bodyPr wrap="square" rtlCol="0">
            <a:spAutoFit/>
          </a:bodyPr>
          <a:lstStyle/>
          <a:p>
            <a:r>
              <a:rPr lang="en-CA" sz="1600" dirty="0" err="1">
                <a:latin typeface="Calibri" panose="020F0502020204030204" pitchFamily="34" charset="0"/>
                <a:ea typeface="Calibri" panose="020F0502020204030204" pitchFamily="34" charset="0"/>
                <a:cs typeface="Calibri" panose="020F0502020204030204" pitchFamily="34" charset="0"/>
              </a:rPr>
              <a:t>SGs_COMM_ERR</a:t>
            </a:r>
            <a:r>
              <a:rPr lang="en-CA" sz="1600" dirty="0">
                <a:latin typeface="Calibri" panose="020F0502020204030204" pitchFamily="34" charset="0"/>
                <a:ea typeface="Calibri" panose="020F0502020204030204" pitchFamily="34" charset="0"/>
                <a:cs typeface="Calibri" panose="020F0502020204030204" pitchFamily="34" charset="0"/>
              </a:rPr>
              <a:t> (byte):</a:t>
            </a:r>
          </a:p>
          <a:p>
            <a:endParaRPr lang="en-CA" sz="1600" dirty="0">
              <a:latin typeface="Calibri" panose="020F0502020204030204" pitchFamily="34" charset="0"/>
              <a:ea typeface="Calibri" panose="020F0502020204030204" pitchFamily="34" charset="0"/>
              <a:cs typeface="Calibri" panose="020F0502020204030204" pitchFamily="34" charset="0"/>
            </a:endParaRPr>
          </a:p>
          <a:p>
            <a:r>
              <a:rPr lang="en-CA" sz="1600" dirty="0">
                <a:latin typeface="Calibri" panose="020F0502020204030204" pitchFamily="34" charset="0"/>
                <a:ea typeface="Calibri" panose="020F0502020204030204" pitchFamily="34" charset="0"/>
                <a:cs typeface="Calibri" panose="020F0502020204030204" pitchFamily="34" charset="0"/>
              </a:rPr>
              <a:t>Again, each bit in this signal’s byte is linked to a safety groups “COMM Error”.</a:t>
            </a:r>
          </a:p>
          <a:p>
            <a:r>
              <a:rPr lang="en-CA" sz="1600" dirty="0">
                <a:latin typeface="Calibri" panose="020F0502020204030204" pitchFamily="34" charset="0"/>
                <a:ea typeface="Calibri" panose="020F0502020204030204" pitchFamily="34" charset="0"/>
                <a:cs typeface="Calibri" panose="020F0502020204030204" pitchFamily="34" charset="0"/>
              </a:rPr>
              <a:t>Bit 0 is always linked to the primary safety group, meaning bit 0 represents a comm error between the safety processor and a terminal local to the component. All subsequent bits are linked to decoupler safety groups.</a:t>
            </a:r>
          </a:p>
          <a:p>
            <a:endParaRPr lang="en-CA" sz="1600" dirty="0">
              <a:latin typeface="Calibri" panose="020F0502020204030204" pitchFamily="34" charset="0"/>
              <a:ea typeface="Calibri" panose="020F0502020204030204" pitchFamily="34" charset="0"/>
              <a:cs typeface="Calibri" panose="020F0502020204030204" pitchFamily="34" charset="0"/>
            </a:endParaRPr>
          </a:p>
          <a:p>
            <a:r>
              <a:rPr lang="en-CA" sz="1600" dirty="0">
                <a:latin typeface="Calibri" panose="020F0502020204030204" pitchFamily="34" charset="0"/>
                <a:ea typeface="Calibri" panose="020F0502020204030204" pitchFamily="34" charset="0"/>
                <a:cs typeface="Calibri" panose="020F0502020204030204" pitchFamily="34" charset="0"/>
              </a:rPr>
              <a:t>Again, the linking map can be found in the fault section of our PLC code.</a:t>
            </a:r>
          </a:p>
          <a:p>
            <a:r>
              <a:rPr lang="en-CA" sz="1600" dirty="0">
                <a:latin typeface="Calibri" panose="020F0502020204030204" pitchFamily="34" charset="0"/>
                <a:ea typeface="Calibri" panose="020F0502020204030204" pitchFamily="34" charset="0"/>
                <a:cs typeface="Calibri" panose="020F0502020204030204" pitchFamily="34" charset="0"/>
              </a:rPr>
              <a:t> </a:t>
            </a:r>
          </a:p>
          <a:p>
            <a:endParaRPr lang="en-CA" sz="1600" dirty="0">
              <a:latin typeface="Calibri" panose="020F0502020204030204" pitchFamily="34" charset="0"/>
              <a:ea typeface="Calibri" panose="020F0502020204030204" pitchFamily="34" charset="0"/>
              <a:cs typeface="Calibri" panose="020F0502020204030204" pitchFamily="34" charset="0"/>
            </a:endParaRPr>
          </a:p>
          <a:p>
            <a:endParaRPr lang="en-CA" sz="1600" dirty="0">
              <a:latin typeface="Calibri" panose="020F0502020204030204" pitchFamily="34" charset="0"/>
              <a:ea typeface="Calibri" panose="020F0502020204030204" pitchFamily="34" charset="0"/>
              <a:cs typeface="Calibri" panose="020F0502020204030204" pitchFamily="34" charset="0"/>
            </a:endParaRPr>
          </a:p>
          <a:p>
            <a:endParaRPr lang="en-CA" sz="1600" dirty="0">
              <a:latin typeface="Calibri" panose="020F0502020204030204" pitchFamily="34" charset="0"/>
              <a:ea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4038B00D-A0B5-EE1B-66B6-06E64CD9B144}"/>
              </a:ext>
            </a:extLst>
          </p:cNvPr>
          <p:cNvSpPr txBox="1"/>
          <p:nvPr/>
        </p:nvSpPr>
        <p:spPr>
          <a:xfrm>
            <a:off x="6464660" y="2113362"/>
            <a:ext cx="2637079" cy="3539430"/>
          </a:xfrm>
          <a:prstGeom prst="rect">
            <a:avLst/>
          </a:prstGeom>
          <a:noFill/>
        </p:spPr>
        <p:txBody>
          <a:bodyPr wrap="square" rtlCol="0">
            <a:spAutoFit/>
          </a:bodyPr>
          <a:lstStyle/>
          <a:p>
            <a:r>
              <a:rPr lang="en-CA" sz="1600" dirty="0" err="1">
                <a:latin typeface="Calibri" panose="020F0502020204030204" pitchFamily="34" charset="0"/>
                <a:ea typeface="Calibri" panose="020F0502020204030204" pitchFamily="34" charset="0"/>
                <a:cs typeface="Calibri" panose="020F0502020204030204" pitchFamily="34" charset="0"/>
              </a:rPr>
              <a:t>SGs_OUT_ERR</a:t>
            </a:r>
            <a:r>
              <a:rPr lang="en-CA" sz="1600" dirty="0">
                <a:latin typeface="Calibri" panose="020F0502020204030204" pitchFamily="34" charset="0"/>
                <a:ea typeface="Calibri" panose="020F0502020204030204" pitchFamily="34" charset="0"/>
                <a:cs typeface="Calibri" panose="020F0502020204030204" pitchFamily="34" charset="0"/>
              </a:rPr>
              <a:t> (byte):</a:t>
            </a:r>
          </a:p>
          <a:p>
            <a:endParaRPr lang="en-CA" sz="1600" dirty="0">
              <a:latin typeface="Calibri" panose="020F0502020204030204" pitchFamily="34" charset="0"/>
              <a:ea typeface="Calibri" panose="020F0502020204030204" pitchFamily="34" charset="0"/>
              <a:cs typeface="Calibri" panose="020F0502020204030204" pitchFamily="34" charset="0"/>
            </a:endParaRPr>
          </a:p>
          <a:p>
            <a:r>
              <a:rPr lang="en-CA" sz="1600" dirty="0">
                <a:latin typeface="Calibri" panose="020F0502020204030204" pitchFamily="34" charset="0"/>
                <a:ea typeface="Calibri" panose="020F0502020204030204" pitchFamily="34" charset="0"/>
                <a:cs typeface="Calibri" panose="020F0502020204030204" pitchFamily="34" charset="0"/>
              </a:rPr>
              <a:t>You’re likely now seeing the pattern for these Safety group signals. As with the previous two, bit 0 is always linked to the primary safety group and the remaining bits re linked to subsequent decoupler groups.</a:t>
            </a:r>
          </a:p>
          <a:p>
            <a:endParaRPr lang="en-CA" sz="1600" dirty="0">
              <a:latin typeface="Calibri" panose="020F0502020204030204" pitchFamily="34" charset="0"/>
              <a:ea typeface="Calibri" panose="020F0502020204030204" pitchFamily="34" charset="0"/>
              <a:cs typeface="Calibri" panose="020F0502020204030204" pitchFamily="34" charset="0"/>
            </a:endParaRPr>
          </a:p>
          <a:p>
            <a:r>
              <a:rPr lang="en-CA" sz="1600" dirty="0">
                <a:latin typeface="Calibri" panose="020F0502020204030204" pitchFamily="34" charset="0"/>
                <a:ea typeface="Calibri" panose="020F0502020204030204" pitchFamily="34" charset="0"/>
                <a:cs typeface="Calibri" panose="020F0502020204030204" pitchFamily="34" charset="0"/>
              </a:rPr>
              <a:t>Once again, mapping legends can be found in the </a:t>
            </a:r>
            <a:r>
              <a:rPr lang="en-CA" sz="1600" dirty="0" err="1">
                <a:latin typeface="Calibri" panose="020F0502020204030204" pitchFamily="34" charset="0"/>
                <a:ea typeface="Calibri" panose="020F0502020204030204" pitchFamily="34" charset="0"/>
                <a:cs typeface="Calibri" panose="020F0502020204030204" pitchFamily="34" charset="0"/>
              </a:rPr>
              <a:t>TwinSAFE</a:t>
            </a:r>
            <a:r>
              <a:rPr lang="en-CA" sz="1600" dirty="0">
                <a:latin typeface="Calibri" panose="020F0502020204030204" pitchFamily="34" charset="0"/>
                <a:ea typeface="Calibri" panose="020F0502020204030204" pitchFamily="34" charset="0"/>
                <a:cs typeface="Calibri" panose="020F0502020204030204" pitchFamily="34" charset="0"/>
              </a:rPr>
              <a:t> area of the PLC fault code.</a:t>
            </a:r>
          </a:p>
        </p:txBody>
      </p:sp>
      <p:sp>
        <p:nvSpPr>
          <p:cNvPr id="26" name="TextBox 25">
            <a:extLst>
              <a:ext uri="{FF2B5EF4-FFF2-40B4-BE49-F238E27FC236}">
                <a16:creationId xmlns:a16="http://schemas.microsoft.com/office/drawing/2014/main" id="{B1D7E9BD-0B40-CE61-8B67-C53214143E7A}"/>
              </a:ext>
            </a:extLst>
          </p:cNvPr>
          <p:cNvSpPr txBox="1"/>
          <p:nvPr/>
        </p:nvSpPr>
        <p:spPr>
          <a:xfrm>
            <a:off x="9337553" y="2113362"/>
            <a:ext cx="2637079" cy="4770537"/>
          </a:xfrm>
          <a:prstGeom prst="rect">
            <a:avLst/>
          </a:prstGeom>
          <a:noFill/>
        </p:spPr>
        <p:txBody>
          <a:bodyPr wrap="square" rtlCol="0">
            <a:spAutoFit/>
          </a:bodyPr>
          <a:lstStyle/>
          <a:p>
            <a:r>
              <a:rPr lang="en-CA" sz="1600" dirty="0" err="1">
                <a:latin typeface="Calibri" panose="020F0502020204030204" pitchFamily="34" charset="0"/>
                <a:ea typeface="Calibri" panose="020F0502020204030204" pitchFamily="34" charset="0"/>
                <a:cs typeface="Calibri" panose="020F0502020204030204" pitchFamily="34" charset="0"/>
              </a:rPr>
              <a:t>FBs_FB_ERR</a:t>
            </a:r>
            <a:r>
              <a:rPr lang="en-CA" sz="1600" dirty="0">
                <a:latin typeface="Calibri" panose="020F0502020204030204" pitchFamily="34" charset="0"/>
                <a:ea typeface="Calibri" panose="020F0502020204030204" pitchFamily="34" charset="0"/>
                <a:cs typeface="Calibri" panose="020F0502020204030204" pitchFamily="34" charset="0"/>
              </a:rPr>
              <a:t> (dint):</a:t>
            </a:r>
          </a:p>
          <a:p>
            <a:endParaRPr lang="en-CA" sz="1600" dirty="0">
              <a:latin typeface="Calibri" panose="020F0502020204030204" pitchFamily="34" charset="0"/>
              <a:ea typeface="Calibri" panose="020F0502020204030204" pitchFamily="34" charset="0"/>
              <a:cs typeface="Calibri" panose="020F0502020204030204" pitchFamily="34" charset="0"/>
            </a:endParaRPr>
          </a:p>
          <a:p>
            <a:r>
              <a:rPr lang="en-CA" sz="1600" dirty="0">
                <a:latin typeface="Calibri" panose="020F0502020204030204" pitchFamily="34" charset="0"/>
                <a:ea typeface="Calibri" panose="020F0502020204030204" pitchFamily="34" charset="0"/>
                <a:cs typeface="Calibri" panose="020F0502020204030204" pitchFamily="34" charset="0"/>
              </a:rPr>
              <a:t>These bits are used to link directly to specific FBs inside the safety project. Each bit represents a specific FB error. For example, in IC type components, bit 0 is used to link to the IC internal Estop FB. </a:t>
            </a:r>
            <a:r>
              <a:rPr lang="en-CA" sz="1600" dirty="0" err="1">
                <a:latin typeface="Calibri" panose="020F0502020204030204" pitchFamily="34" charset="0"/>
                <a:ea typeface="Calibri" panose="020F0502020204030204" pitchFamily="34" charset="0"/>
                <a:cs typeface="Calibri" panose="020F0502020204030204" pitchFamily="34" charset="0"/>
              </a:rPr>
              <a:t>Meaing</a:t>
            </a:r>
            <a:r>
              <a:rPr lang="en-CA" sz="1600" dirty="0">
                <a:latin typeface="Calibri" panose="020F0502020204030204" pitchFamily="34" charset="0"/>
                <a:ea typeface="Calibri" panose="020F0502020204030204" pitchFamily="34" charset="0"/>
                <a:cs typeface="Calibri" panose="020F0502020204030204" pitchFamily="34" charset="0"/>
              </a:rPr>
              <a:t>, if that bit is on, there is an issue with the safety processing of Estops of the IC.</a:t>
            </a:r>
          </a:p>
          <a:p>
            <a:endParaRPr lang="en-CA" sz="1600" dirty="0">
              <a:latin typeface="Calibri" panose="020F0502020204030204" pitchFamily="34" charset="0"/>
              <a:ea typeface="Calibri" panose="020F0502020204030204" pitchFamily="34" charset="0"/>
              <a:cs typeface="Calibri" panose="020F0502020204030204" pitchFamily="34" charset="0"/>
            </a:endParaRPr>
          </a:p>
          <a:p>
            <a:r>
              <a:rPr lang="en-CA" sz="1600" dirty="0">
                <a:latin typeface="Calibri" panose="020F0502020204030204" pitchFamily="34" charset="0"/>
                <a:ea typeface="Calibri" panose="020F0502020204030204" pitchFamily="34" charset="0"/>
                <a:cs typeface="Calibri" panose="020F0502020204030204" pitchFamily="34" charset="0"/>
              </a:rPr>
              <a:t>As before, mapping is specific to each component, and the mapping legend for each is kept in the fault code commenting.</a:t>
            </a:r>
          </a:p>
        </p:txBody>
      </p:sp>
    </p:spTree>
    <p:extLst>
      <p:ext uri="{BB962C8B-B14F-4D97-AF65-F5344CB8AC3E}">
        <p14:creationId xmlns:p14="http://schemas.microsoft.com/office/powerpoint/2010/main" val="33200765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F8FFB22-CF79-AD89-8923-6B1721999911}"/>
            </a:ext>
          </a:extLst>
        </p:cNvPr>
        <p:cNvGrpSpPr/>
        <p:nvPr/>
      </p:nvGrpSpPr>
      <p:grpSpPr>
        <a:xfrm>
          <a:off x="0" y="0"/>
          <a:ext cx="0" cy="0"/>
          <a:chOff x="0" y="0"/>
          <a:chExt cx="0" cy="0"/>
        </a:xfrm>
      </p:grpSpPr>
      <p:pic>
        <p:nvPicPr>
          <p:cNvPr id="49" name="Picture 12" descr="Logo&#10;&#10;Description automatically generated">
            <a:extLst>
              <a:ext uri="{FF2B5EF4-FFF2-40B4-BE49-F238E27FC236}">
                <a16:creationId xmlns:a16="http://schemas.microsoft.com/office/drawing/2014/main" id="{7A09D520-A577-B959-1465-49EAE87734D2}"/>
              </a:ext>
            </a:extLst>
          </p:cNvPr>
          <p:cNvPicPr/>
          <p:nvPr/>
        </p:nvPicPr>
        <p:blipFill>
          <a:blip r:embed="rId2"/>
          <a:stretch/>
        </p:blipFill>
        <p:spPr>
          <a:xfrm>
            <a:off x="336240" y="208080"/>
            <a:ext cx="2932560" cy="1064520"/>
          </a:xfrm>
          <a:prstGeom prst="rect">
            <a:avLst/>
          </a:prstGeom>
          <a:ln w="0">
            <a:noFill/>
          </a:ln>
        </p:spPr>
      </p:pic>
      <p:sp>
        <p:nvSpPr>
          <p:cNvPr id="50" name="Rectangle 12">
            <a:extLst>
              <a:ext uri="{FF2B5EF4-FFF2-40B4-BE49-F238E27FC236}">
                <a16:creationId xmlns:a16="http://schemas.microsoft.com/office/drawing/2014/main" id="{1041EC15-9FEC-1C48-6B02-7F972C5F2658}"/>
              </a:ext>
            </a:extLst>
          </p:cNvPr>
          <p:cNvSpPr/>
          <p:nvPr/>
        </p:nvSpPr>
        <p:spPr>
          <a:xfrm>
            <a:off x="7783200" y="104400"/>
            <a:ext cx="4273920" cy="1271880"/>
          </a:xfrm>
          <a:prstGeom prst="rect">
            <a:avLst/>
          </a:prstGeom>
          <a:gradFill rotWithShape="0">
            <a:gsLst>
              <a:gs pos="0">
                <a:srgbClr val="EE8137"/>
              </a:gs>
              <a:gs pos="100000">
                <a:srgbClr val="F4B183"/>
              </a:gs>
            </a:gsLst>
            <a:lin ang="16200000"/>
          </a:grad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spcAft>
                <a:spcPts val="601"/>
              </a:spcAft>
              <a:buNone/>
            </a:pPr>
            <a:r>
              <a:rPr lang="en-CA" sz="4000" b="1" strike="noStrike" spc="-1" dirty="0" err="1">
                <a:solidFill>
                  <a:srgbClr val="000000"/>
                </a:solidFill>
                <a:latin typeface="Calibri Light"/>
                <a:ea typeface="DejaVu Sans"/>
              </a:rPr>
              <a:t>TwinSAFE</a:t>
            </a:r>
            <a:r>
              <a:rPr lang="en-CA" sz="4000" b="1" strike="noStrike" spc="-1" dirty="0">
                <a:solidFill>
                  <a:srgbClr val="000000"/>
                </a:solidFill>
                <a:latin typeface="Calibri Light"/>
                <a:ea typeface="DejaVu Sans"/>
              </a:rPr>
              <a:t> I/F</a:t>
            </a:r>
          </a:p>
        </p:txBody>
      </p:sp>
      <p:sp>
        <p:nvSpPr>
          <p:cNvPr id="3" name="TextBox 2">
            <a:extLst>
              <a:ext uri="{FF2B5EF4-FFF2-40B4-BE49-F238E27FC236}">
                <a16:creationId xmlns:a16="http://schemas.microsoft.com/office/drawing/2014/main" id="{5AD5786A-E0CF-375A-0831-9FEF9AA2AD97}"/>
              </a:ext>
            </a:extLst>
          </p:cNvPr>
          <p:cNvSpPr txBox="1"/>
          <p:nvPr/>
        </p:nvSpPr>
        <p:spPr>
          <a:xfrm>
            <a:off x="4290939" y="860582"/>
            <a:ext cx="3005973" cy="1477328"/>
          </a:xfrm>
          <a:prstGeom prst="rect">
            <a:avLst/>
          </a:prstGeom>
          <a:noFill/>
        </p:spPr>
        <p:txBody>
          <a:bodyPr wrap="square" rtlCol="0">
            <a:spAutoFit/>
          </a:bodyPr>
          <a:lstStyle/>
          <a:p>
            <a:r>
              <a:rPr lang="en-CA" dirty="0">
                <a:latin typeface="Calibri" panose="020F0502020204030204" pitchFamily="34" charset="0"/>
                <a:ea typeface="Calibri" panose="020F0502020204030204" pitchFamily="34" charset="0"/>
                <a:cs typeface="Calibri" panose="020F0502020204030204" pitchFamily="34" charset="0"/>
              </a:rPr>
              <a:t>Some examples of the mapping legends mentioned in the previous two slides</a:t>
            </a:r>
          </a:p>
          <a:p>
            <a:endParaRPr lang="en-CA" dirty="0"/>
          </a:p>
          <a:p>
            <a:endParaRPr lang="en-CA" b="1" dirty="0"/>
          </a:p>
        </p:txBody>
      </p:sp>
      <p:pic>
        <p:nvPicPr>
          <p:cNvPr id="4" name="Picture 3">
            <a:extLst>
              <a:ext uri="{FF2B5EF4-FFF2-40B4-BE49-F238E27FC236}">
                <a16:creationId xmlns:a16="http://schemas.microsoft.com/office/drawing/2014/main" id="{B878769F-9FF7-4F27-5254-2216DBD10152}"/>
              </a:ext>
            </a:extLst>
          </p:cNvPr>
          <p:cNvPicPr>
            <a:picLocks noChangeAspect="1"/>
          </p:cNvPicPr>
          <p:nvPr/>
        </p:nvPicPr>
        <p:blipFill>
          <a:blip r:embed="rId3"/>
          <a:stretch>
            <a:fillRect/>
          </a:stretch>
        </p:blipFill>
        <p:spPr>
          <a:xfrm>
            <a:off x="336240" y="1872155"/>
            <a:ext cx="5653080" cy="3291217"/>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087F79F2-5C9F-E826-FBCA-A0BB3681D2FA}"/>
              </a:ext>
            </a:extLst>
          </p:cNvPr>
          <p:cNvPicPr>
            <a:picLocks noChangeAspect="1"/>
          </p:cNvPicPr>
          <p:nvPr/>
        </p:nvPicPr>
        <p:blipFill>
          <a:blip r:embed="rId4"/>
          <a:stretch>
            <a:fillRect/>
          </a:stretch>
        </p:blipFill>
        <p:spPr>
          <a:xfrm>
            <a:off x="5014050" y="3987299"/>
            <a:ext cx="6874817" cy="263911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197791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CD8CB95-2B21-ADD0-94EB-CD72548D669B}"/>
            </a:ext>
          </a:extLst>
        </p:cNvPr>
        <p:cNvGrpSpPr/>
        <p:nvPr/>
      </p:nvGrpSpPr>
      <p:grpSpPr>
        <a:xfrm>
          <a:off x="0" y="0"/>
          <a:ext cx="0" cy="0"/>
          <a:chOff x="0" y="0"/>
          <a:chExt cx="0" cy="0"/>
        </a:xfrm>
      </p:grpSpPr>
      <p:pic>
        <p:nvPicPr>
          <p:cNvPr id="49" name="Picture 12" descr="Logo&#10;&#10;Description automatically generated">
            <a:extLst>
              <a:ext uri="{FF2B5EF4-FFF2-40B4-BE49-F238E27FC236}">
                <a16:creationId xmlns:a16="http://schemas.microsoft.com/office/drawing/2014/main" id="{1D9A6C87-BEB7-F349-6CEC-EE1E4692C4C7}"/>
              </a:ext>
            </a:extLst>
          </p:cNvPr>
          <p:cNvPicPr/>
          <p:nvPr/>
        </p:nvPicPr>
        <p:blipFill>
          <a:blip r:embed="rId2"/>
          <a:stretch/>
        </p:blipFill>
        <p:spPr>
          <a:xfrm>
            <a:off x="336240" y="208080"/>
            <a:ext cx="2932560" cy="1064520"/>
          </a:xfrm>
          <a:prstGeom prst="rect">
            <a:avLst/>
          </a:prstGeom>
          <a:ln w="0">
            <a:noFill/>
          </a:ln>
        </p:spPr>
      </p:pic>
      <p:sp>
        <p:nvSpPr>
          <p:cNvPr id="50" name="Rectangle 12">
            <a:extLst>
              <a:ext uri="{FF2B5EF4-FFF2-40B4-BE49-F238E27FC236}">
                <a16:creationId xmlns:a16="http://schemas.microsoft.com/office/drawing/2014/main" id="{54A250FE-AB86-1B19-802C-60EAF73C68F1}"/>
              </a:ext>
            </a:extLst>
          </p:cNvPr>
          <p:cNvSpPr/>
          <p:nvPr/>
        </p:nvSpPr>
        <p:spPr>
          <a:xfrm>
            <a:off x="7783200" y="104400"/>
            <a:ext cx="4273920" cy="1271880"/>
          </a:xfrm>
          <a:prstGeom prst="rect">
            <a:avLst/>
          </a:prstGeom>
          <a:gradFill rotWithShape="0">
            <a:gsLst>
              <a:gs pos="0">
                <a:srgbClr val="EE8137"/>
              </a:gs>
              <a:gs pos="100000">
                <a:srgbClr val="F4B183"/>
              </a:gs>
            </a:gsLst>
            <a:lin ang="16200000"/>
          </a:grad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spcAft>
                <a:spcPts val="601"/>
              </a:spcAft>
              <a:buNone/>
            </a:pPr>
            <a:r>
              <a:rPr lang="en-CA" sz="4000" b="1" strike="noStrike" spc="-1" dirty="0" err="1">
                <a:solidFill>
                  <a:srgbClr val="000000"/>
                </a:solidFill>
                <a:latin typeface="Calibri Light"/>
                <a:ea typeface="DejaVu Sans"/>
              </a:rPr>
              <a:t>TwinSAFE</a:t>
            </a:r>
            <a:r>
              <a:rPr lang="en-CA" sz="4000" b="1" strike="noStrike" spc="-1" dirty="0">
                <a:solidFill>
                  <a:srgbClr val="000000"/>
                </a:solidFill>
                <a:latin typeface="Calibri Light"/>
                <a:ea typeface="DejaVu Sans"/>
              </a:rPr>
              <a:t> I/F</a:t>
            </a:r>
          </a:p>
        </p:txBody>
      </p:sp>
      <p:sp>
        <p:nvSpPr>
          <p:cNvPr id="3" name="TextBox 2">
            <a:extLst>
              <a:ext uri="{FF2B5EF4-FFF2-40B4-BE49-F238E27FC236}">
                <a16:creationId xmlns:a16="http://schemas.microsoft.com/office/drawing/2014/main" id="{75873326-F922-3B6C-1D24-827D1947EA92}"/>
              </a:ext>
            </a:extLst>
          </p:cNvPr>
          <p:cNvSpPr txBox="1"/>
          <p:nvPr/>
        </p:nvSpPr>
        <p:spPr>
          <a:xfrm>
            <a:off x="3840456" y="740340"/>
            <a:ext cx="3456432" cy="2585323"/>
          </a:xfrm>
          <a:prstGeom prst="rect">
            <a:avLst/>
          </a:prstGeom>
          <a:noFill/>
        </p:spPr>
        <p:txBody>
          <a:bodyPr wrap="square" rtlCol="0">
            <a:spAutoFit/>
          </a:bodyPr>
          <a:lstStyle/>
          <a:p>
            <a:r>
              <a:rPr lang="en-CA" dirty="0">
                <a:latin typeface="Calibri" panose="020F0502020204030204" pitchFamily="34" charset="0"/>
                <a:ea typeface="Calibri" panose="020F0502020204030204" pitchFamily="34" charset="0"/>
                <a:cs typeface="Calibri" panose="020F0502020204030204" pitchFamily="34" charset="0"/>
              </a:rPr>
              <a:t>The end result of all this </a:t>
            </a:r>
            <a:r>
              <a:rPr lang="en-CA" dirty="0" err="1">
                <a:latin typeface="Calibri" panose="020F0502020204030204" pitchFamily="34" charset="0"/>
                <a:ea typeface="Calibri" panose="020F0502020204030204" pitchFamily="34" charset="0"/>
                <a:cs typeface="Calibri" panose="020F0502020204030204" pitchFamily="34" charset="0"/>
              </a:rPr>
              <a:t>TwinSAFE</a:t>
            </a:r>
            <a:r>
              <a:rPr lang="en-CA" dirty="0">
                <a:latin typeface="Calibri" panose="020F0502020204030204" pitchFamily="34" charset="0"/>
                <a:ea typeface="Calibri" panose="020F0502020204030204" pitchFamily="34" charset="0"/>
                <a:cs typeface="Calibri" panose="020F0502020204030204" pitchFamily="34" charset="0"/>
              </a:rPr>
              <a:t> data is visualized on the </a:t>
            </a:r>
            <a:r>
              <a:rPr lang="en-CA" dirty="0" err="1">
                <a:latin typeface="Calibri" panose="020F0502020204030204" pitchFamily="34" charset="0"/>
                <a:ea typeface="Calibri" panose="020F0502020204030204" pitchFamily="34" charset="0"/>
                <a:cs typeface="Calibri" panose="020F0502020204030204" pitchFamily="34" charset="0"/>
              </a:rPr>
              <a:t>TwinSAFE</a:t>
            </a:r>
            <a:r>
              <a:rPr lang="en-CA" dirty="0">
                <a:latin typeface="Calibri" panose="020F0502020204030204" pitchFamily="34" charset="0"/>
                <a:ea typeface="Calibri" panose="020F0502020204030204" pitchFamily="34" charset="0"/>
                <a:cs typeface="Calibri" panose="020F0502020204030204" pitchFamily="34" charset="0"/>
              </a:rPr>
              <a:t> diagnostics screen of any GTAC component containing a </a:t>
            </a:r>
            <a:r>
              <a:rPr lang="en-CA" dirty="0" err="1">
                <a:latin typeface="Calibri" panose="020F0502020204030204" pitchFamily="34" charset="0"/>
                <a:ea typeface="Calibri" panose="020F0502020204030204" pitchFamily="34" charset="0"/>
                <a:cs typeface="Calibri" panose="020F0502020204030204" pitchFamily="34" charset="0"/>
              </a:rPr>
              <a:t>TwinSAFE</a:t>
            </a:r>
            <a:r>
              <a:rPr lang="en-CA" dirty="0">
                <a:latin typeface="Calibri" panose="020F0502020204030204" pitchFamily="34" charset="0"/>
                <a:ea typeface="Calibri" panose="020F0502020204030204" pitchFamily="34" charset="0"/>
                <a:cs typeface="Calibri" panose="020F0502020204030204" pitchFamily="34" charset="0"/>
              </a:rPr>
              <a:t> Processor (EL6900, EL1918). Shown below is </a:t>
            </a:r>
            <a:r>
              <a:rPr lang="en-CA" dirty="0" err="1">
                <a:latin typeface="Calibri" panose="020F0502020204030204" pitchFamily="34" charset="0"/>
                <a:ea typeface="Calibri" panose="020F0502020204030204" pitchFamily="34" charset="0"/>
                <a:cs typeface="Calibri" panose="020F0502020204030204" pitchFamily="34" charset="0"/>
              </a:rPr>
              <a:t>ICxx</a:t>
            </a:r>
            <a:r>
              <a:rPr lang="en-CA" dirty="0">
                <a:latin typeface="Calibri" panose="020F0502020204030204" pitchFamily="34" charset="0"/>
                <a:ea typeface="Calibri" panose="020F0502020204030204" pitchFamily="34" charset="0"/>
                <a:cs typeface="Calibri" panose="020F0502020204030204" pitchFamily="34" charset="0"/>
              </a:rPr>
              <a:t> with a simulated Estop FB error.</a:t>
            </a:r>
          </a:p>
          <a:p>
            <a:endParaRPr lang="en-CA" dirty="0"/>
          </a:p>
          <a:p>
            <a:endParaRPr lang="en-CA" b="1" dirty="0"/>
          </a:p>
        </p:txBody>
      </p:sp>
      <p:pic>
        <p:nvPicPr>
          <p:cNvPr id="4" name="Picture 3">
            <a:extLst>
              <a:ext uri="{FF2B5EF4-FFF2-40B4-BE49-F238E27FC236}">
                <a16:creationId xmlns:a16="http://schemas.microsoft.com/office/drawing/2014/main" id="{DCF85B38-9577-053B-0A2A-4C38D6FB43FF}"/>
              </a:ext>
            </a:extLst>
          </p:cNvPr>
          <p:cNvPicPr>
            <a:picLocks noChangeAspect="1"/>
          </p:cNvPicPr>
          <p:nvPr/>
        </p:nvPicPr>
        <p:blipFill>
          <a:blip r:embed="rId3"/>
          <a:stretch>
            <a:fillRect/>
          </a:stretch>
        </p:blipFill>
        <p:spPr>
          <a:xfrm>
            <a:off x="32768" y="3223170"/>
            <a:ext cx="6063232" cy="3530007"/>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8DEA8B03-AB79-77A4-4E07-4739ACCB4AD5}"/>
              </a:ext>
            </a:extLst>
          </p:cNvPr>
          <p:cNvPicPr>
            <a:picLocks noChangeAspect="1"/>
          </p:cNvPicPr>
          <p:nvPr/>
        </p:nvPicPr>
        <p:blipFill>
          <a:blip r:embed="rId4"/>
          <a:stretch>
            <a:fillRect/>
          </a:stretch>
        </p:blipFill>
        <p:spPr>
          <a:xfrm>
            <a:off x="6454963" y="2510362"/>
            <a:ext cx="5611109" cy="4242815"/>
          </a:xfrm>
          <a:prstGeom prst="rect">
            <a:avLst/>
          </a:prstGeom>
        </p:spPr>
      </p:pic>
      <p:sp>
        <p:nvSpPr>
          <p:cNvPr id="2" name="Arrow: Right 1">
            <a:extLst>
              <a:ext uri="{FF2B5EF4-FFF2-40B4-BE49-F238E27FC236}">
                <a16:creationId xmlns:a16="http://schemas.microsoft.com/office/drawing/2014/main" id="{29AF8B15-A0C0-8996-D625-33EB8B4BDA88}"/>
              </a:ext>
            </a:extLst>
          </p:cNvPr>
          <p:cNvSpPr/>
          <p:nvPr/>
        </p:nvSpPr>
        <p:spPr>
          <a:xfrm>
            <a:off x="5866408" y="4497285"/>
            <a:ext cx="818147" cy="49088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8651400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9" name="Rectangle 11"/>
          <p:cNvSpPr/>
          <p:nvPr/>
        </p:nvSpPr>
        <p:spPr>
          <a:xfrm>
            <a:off x="0" y="0"/>
            <a:ext cx="12191040" cy="68569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p:style>
        <p:txBody>
          <a:bodyPr/>
          <a:lstStyle/>
          <a:p>
            <a:endParaRPr lang="en-CA"/>
          </a:p>
        </p:txBody>
      </p:sp>
      <p:sp>
        <p:nvSpPr>
          <p:cNvPr id="140" name="Rectangle 13"/>
          <p:cNvSpPr/>
          <p:nvPr/>
        </p:nvSpPr>
        <p:spPr>
          <a:xfrm>
            <a:off x="0" y="0"/>
            <a:ext cx="2012400" cy="685692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p:style>
        <p:txBody>
          <a:bodyPr/>
          <a:lstStyle/>
          <a:p>
            <a:endParaRPr lang="en-CA"/>
          </a:p>
        </p:txBody>
      </p:sp>
      <p:sp>
        <p:nvSpPr>
          <p:cNvPr id="141" name="Rectangle 1"/>
          <p:cNvSpPr/>
          <p:nvPr/>
        </p:nvSpPr>
        <p:spPr>
          <a:xfrm>
            <a:off x="640080" y="2074320"/>
            <a:ext cx="2751120" cy="2708280"/>
          </a:xfrm>
          <a:prstGeom prst="ellipse">
            <a:avLst/>
          </a:prstGeom>
          <a:solidFill>
            <a:srgbClr val="262626"/>
          </a:solidFill>
          <a:ln w="174625">
            <a:solidFill>
              <a:srgbClr val="262626"/>
            </a:solidFill>
            <a:round/>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90000"/>
              </a:lnSpc>
              <a:spcAft>
                <a:spcPts val="601"/>
              </a:spcAft>
              <a:buNone/>
            </a:pPr>
            <a:r>
              <a:rPr lang="en-US" sz="2600" b="1" strike="noStrike" spc="-1" dirty="0">
                <a:solidFill>
                  <a:srgbClr val="FFFFFF"/>
                </a:solidFill>
                <a:latin typeface="Calibri Light"/>
                <a:ea typeface="DejaVu Sans"/>
              </a:rPr>
              <a:t>Thanks for your time</a:t>
            </a:r>
            <a:endParaRPr lang="en-CA" sz="2600" b="0" strike="noStrike" spc="-1" dirty="0">
              <a:latin typeface="Arial"/>
            </a:endParaRPr>
          </a:p>
        </p:txBody>
      </p:sp>
      <p:pic>
        <p:nvPicPr>
          <p:cNvPr id="142" name="Picture 6" descr="Logo&#10;&#10;Description automatically generated"/>
          <p:cNvPicPr/>
          <p:nvPr/>
        </p:nvPicPr>
        <p:blipFill>
          <a:blip r:embed="rId2"/>
          <a:stretch/>
        </p:blipFill>
        <p:spPr>
          <a:xfrm>
            <a:off x="4038480" y="2121840"/>
            <a:ext cx="7187040" cy="2609640"/>
          </a:xfrm>
          <a:prstGeom prst="rect">
            <a:avLst/>
          </a:prstGeom>
          <a:ln w="0">
            <a:noFill/>
          </a:ln>
        </p:spPr>
      </p:pic>
      <p:pic>
        <p:nvPicPr>
          <p:cNvPr id="143" name="Picture 2" descr="A picture containing handwear&#10;&#10;Description automatically generated"/>
          <p:cNvPicPr/>
          <p:nvPr/>
        </p:nvPicPr>
        <p:blipFill>
          <a:blip r:embed="rId3"/>
          <a:stretch/>
        </p:blipFill>
        <p:spPr>
          <a:xfrm>
            <a:off x="10602720" y="266400"/>
            <a:ext cx="1587960" cy="1587960"/>
          </a:xfrm>
          <a:prstGeom prst="rect">
            <a:avLst/>
          </a:prstGeom>
          <a:ln w="0">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1577</TotalTime>
  <Words>1362</Words>
  <Application>Microsoft Office PowerPoint</Application>
  <PresentationFormat>Widescreen</PresentationFormat>
  <Paragraphs>121</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Calibri Light</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Sodecia GTAC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GTAC Controls Training PT 1</dc:subject>
  <dc:creator>Lekx-Toniolo, Taylor</dc:creator>
  <dc:description/>
  <cp:lastModifiedBy>BK Lekx-Toniolo</cp:lastModifiedBy>
  <cp:revision>202</cp:revision>
  <dcterms:created xsi:type="dcterms:W3CDTF">2021-11-04T14:33:04Z</dcterms:created>
  <dcterms:modified xsi:type="dcterms:W3CDTF">2026-06-03T15:49:51Z</dcterms:modified>
  <dc:language>en-CA</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13</vt:i4>
  </property>
</Properties>
</file>