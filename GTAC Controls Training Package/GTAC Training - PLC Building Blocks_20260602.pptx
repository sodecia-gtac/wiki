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76" r:id="rId6"/>
    <p:sldId id="275" r:id="rId7"/>
    <p:sldId id="280" r:id="rId8"/>
    <p:sldId id="277" r:id="rId9"/>
    <p:sldId id="281" r:id="rId10"/>
    <p:sldId id="26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1EA7-9A78-4A49-8997-1E8AEFC46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B44CA-778B-4BF4-A918-EDEEC4FC1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7683F-4AD0-4A93-A054-3D07E62B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1835-CAF9-4BA8-89D7-8EFBA258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122CC-F095-486D-B105-8F8ADC7E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232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3D50-2B82-4E9D-B3F5-ED7D945B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C16A-02C7-4BEF-A0CE-9B6A85FCC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F480-8E0D-4D13-9D33-4EB69ED1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C9C84-EB36-431E-B7D8-F08E71E6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7E75-EAE4-46D1-9005-82F89961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111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5BBC-CDF8-484F-B5AB-C36D96A6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8CF05-ACC8-4BC2-A3E3-AA2C428B1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8013B-BE0F-44AF-A2B8-01027C40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B6B0-D32A-4413-BCE3-AB0E9D2A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C7BC-D57D-4B2D-8651-C42A5C47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155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96FD-B94E-4B5C-B75A-F53545F0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23A31-5222-42F9-B6B8-89C02EA8C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DC4F6-CAC6-475C-AE5F-1D915D457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4E5F-3A77-42B4-A317-05EAD2EE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BE935-82DC-4A73-97F9-82270F15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5B740-AD1F-478C-B429-6C92A254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0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CDD1-F6F2-42B5-98F8-E442F24F0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B7715-4B41-4CBD-85BE-8A1A2C623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471C3-80C2-42C3-8D73-069F9A963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AABFD-B297-4329-BAFF-F46A9DD50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9D711-0560-42F5-A2F7-B963C4202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7E6D3-C020-4A0E-8C31-EA4CD5E0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6EA53-7D4F-4C74-A82C-BE27A7CA4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15372-4643-4ACC-9668-EEA2E444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963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D520-8EFF-4D9E-9DEA-4364E37A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F756D-3438-42A6-9848-88860E28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713D8-EC39-4DBE-A83D-AAC61EFB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C1EE7-1DB6-47EC-8F4E-DD8D2DB1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29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FCF09-EAC9-4EDC-A7A0-135336EF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25333-F08B-43B4-8767-4A44C707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1A178-FD9F-4B6B-9170-9D42B5EE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186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3B64-17AB-419B-A7AD-6578C084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0D300-CB7C-4A1E-AA2D-B90FE23C8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8D8EE-9D5C-4716-99FF-430B92F81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FA58E-DFCC-4FEC-A004-47984A7D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B3A44-4800-4A73-BE8B-AEC2BFB2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1985E-DADE-4317-B29D-2B8C7811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52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B4D5-4F44-44B7-BF63-12F62E16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D172A-D1CE-4624-A911-10D2150DD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B0016-8AD5-47BE-98D3-F281F8082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78E4F-75AA-4FD9-8183-8B0F6CEB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DF100-4AD0-496C-969E-3C9A78A5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2853-A458-43D9-A342-9A7110DE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559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60F5-5D73-42CE-9A38-AA1BE457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AEE31-0E8C-4CF7-94B1-1AD148A3C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A8C51-4BAD-414E-AD81-E1E562F5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85BE-95A1-4959-A7EA-D7E77565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28DA5-9A08-411A-AD34-031CF77A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520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275EB-3FB7-452A-8E0E-FB96B6367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E0F17-010B-47B8-90AC-18C84DFE8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4A8B-6347-4A91-AF21-9E5B2559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A37E-B2E4-4F40-9A01-A4BD52B5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38CCB-8DA3-4CDE-9873-1FC0FB64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491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07112-863C-4A6C-8921-315F237D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0AA16-F5D1-4337-8456-6253B53B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B947B-21FB-4B90-8EC7-A7CFD8193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F4239-97E8-4813-8A06-8DEFC0B1123C}" type="datetimeFigureOut">
              <a:rPr lang="en-CA" smtClean="0"/>
              <a:t>2026-06-02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881F6-9FFA-43B5-ADE3-8E69DD99C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F5398-C352-4890-92DF-11DBB6FE0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F635B-B814-4F4D-9CB7-673E30388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937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EC_61131-3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627C-CF51-4634-8210-322F38FCFC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2527684" y="265568"/>
            <a:ext cx="9450369" cy="61906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D4DD2C-DDD7-4907-8F02-A738CFEDB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47" y="1633199"/>
            <a:ext cx="3524473" cy="3455387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Internal </a:t>
            </a:r>
            <a:r>
              <a:rPr lang="en-US" alt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Training: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The Building Blocks -&gt; POUs, PRGs, FBs, FUNs, UDTs</a:t>
            </a:r>
          </a:p>
        </p:txBody>
      </p:sp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0F321D2C-D090-49FA-93E8-510313BA6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251" y="2269702"/>
            <a:ext cx="6781548" cy="2462893"/>
          </a:xfrm>
          <a:prstGeom prst="rect">
            <a:avLst/>
          </a:prstGeom>
        </p:spPr>
      </p:pic>
      <p:pic>
        <p:nvPicPr>
          <p:cNvPr id="7" name="Picture 2" descr="Ingin Bisnis Anda Sehat? Simak 8 Building Blocks Berikut Ini">
            <a:extLst>
              <a:ext uri="{FF2B5EF4-FFF2-40B4-BE49-F238E27FC236}">
                <a16:creationId xmlns:a16="http://schemas.microsoft.com/office/drawing/2014/main" id="{5C4C2282-71CF-434F-AE34-89EBB3BF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289" y="132784"/>
            <a:ext cx="2124738" cy="173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680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600" b="0" i="0" dirty="0">
                <a:effectLst/>
                <a:latin typeface="+mn-lt"/>
              </a:rPr>
              <a:t>IEC 61131 is an </a:t>
            </a:r>
            <a:r>
              <a:rPr lang="en-US" sz="2600" b="0" i="0" u="none" strike="noStrike" dirty="0">
                <a:effectLst/>
                <a:latin typeface="+mn-lt"/>
              </a:rPr>
              <a:t>IEC</a:t>
            </a:r>
            <a:r>
              <a:rPr lang="en-US" sz="2600" b="0" i="0" dirty="0">
                <a:effectLst/>
                <a:latin typeface="+mn-lt"/>
              </a:rPr>
              <a:t> standard for </a:t>
            </a:r>
            <a:r>
              <a:rPr lang="en-US" sz="2600" b="0" i="0" u="none" strike="noStrike" dirty="0">
                <a:effectLst/>
                <a:latin typeface="+mn-lt"/>
              </a:rPr>
              <a:t>programmable controllers</a:t>
            </a:r>
            <a:r>
              <a:rPr lang="en-US" sz="2600" b="0" i="0" dirty="0">
                <a:effectLst/>
                <a:latin typeface="+mn-lt"/>
              </a:rPr>
              <a:t>. 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600" b="0" i="0" dirty="0">
                <a:effectLst/>
                <a:latin typeface="+mn-lt"/>
              </a:rPr>
              <a:t>First published in 1993, the current </a:t>
            </a:r>
            <a:r>
              <a:rPr lang="en-US" sz="2600" b="0" i="0" u="none" strike="noStrike" dirty="0">
                <a:effectLst/>
                <a:latin typeface="+mn-lt"/>
              </a:rPr>
              <a:t>(third) edition</a:t>
            </a:r>
            <a:r>
              <a:rPr lang="en-US" sz="2600" b="0" i="0" dirty="0">
                <a:effectLst/>
                <a:latin typeface="+mn-lt"/>
              </a:rPr>
              <a:t> was edited in 2013.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600" b="0" i="0" dirty="0">
                <a:effectLst/>
                <a:latin typeface="+mn-lt"/>
              </a:rPr>
              <a:t>It was known as IEC 1131 before the change in numbering system by IEC.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600" b="0" dirty="0">
                <a:latin typeface="+mn-lt"/>
              </a:rPr>
              <a:t>It is a 10-part standard as follows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1:   General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2:   </a:t>
            </a:r>
            <a:r>
              <a:rPr lang="en-CA" b="0" i="0" dirty="0">
                <a:solidFill>
                  <a:srgbClr val="202122"/>
                </a:solidFill>
                <a:effectLst/>
                <a:latin typeface="+mn-lt"/>
              </a:rPr>
              <a:t>Equipment requirements and tests </a:t>
            </a:r>
            <a:endParaRPr lang="en-US" b="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3:   Programming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4:   User guidelines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5:   Communications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6:   Functional safety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7:   Fuzzy control programming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8:   Guidelines for the application and implementation of programming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9:   Single-drop digital communication interface for small sensors and actuators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+mn-lt"/>
              </a:rPr>
              <a:t>   Part 10: PLC open XML exchange format for the export and import of IEC 61131-3 projects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874" y="94138"/>
            <a:ext cx="4274947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But first, some background: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IEC 61131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3FA6027-6664-4C5B-B881-BB2F4713F142}"/>
              </a:ext>
            </a:extLst>
          </p:cNvPr>
          <p:cNvSpPr/>
          <p:nvPr/>
        </p:nvSpPr>
        <p:spPr>
          <a:xfrm>
            <a:off x="796705" y="4101220"/>
            <a:ext cx="4590107" cy="39835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709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874" y="94138"/>
            <a:ext cx="4274947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But first, some background: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IEC 61131-3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8C3CA-3985-4EA1-9EB0-2BA8585FF7FF}"/>
              </a:ext>
            </a:extLst>
          </p:cNvPr>
          <p:cNvSpPr txBox="1"/>
          <p:nvPr/>
        </p:nvSpPr>
        <p:spPr>
          <a:xfrm>
            <a:off x="1403318" y="1652912"/>
            <a:ext cx="938536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effectLst/>
              </a:rPr>
              <a:t>IEC 61131-3 </a:t>
            </a:r>
            <a:r>
              <a:rPr lang="en-US" sz="2000" b="0" i="0" dirty="0">
                <a:effectLst/>
              </a:rPr>
              <a:t>is the third part (of 10) of the open </a:t>
            </a:r>
            <a:r>
              <a:rPr lang="en-US" sz="2000" b="0" i="0" u="none" strike="noStrike" dirty="0">
                <a:effectLst/>
              </a:rPr>
              <a:t>international standard</a:t>
            </a:r>
            <a:r>
              <a:rPr lang="en-US" sz="2000" b="0" i="0" dirty="0">
                <a:effectLst/>
              </a:rPr>
              <a:t> </a:t>
            </a:r>
            <a:r>
              <a:rPr lang="en-US" sz="2000" b="0" i="0" u="none" strike="noStrike" dirty="0">
                <a:effectLst/>
              </a:rPr>
              <a:t>IEC 61131</a:t>
            </a:r>
            <a:r>
              <a:rPr lang="en-US" sz="2000" b="0" i="0" dirty="0">
                <a:effectLst/>
              </a:rPr>
              <a:t> </a:t>
            </a:r>
          </a:p>
          <a:p>
            <a:pPr algn="l"/>
            <a:r>
              <a:rPr lang="en-US" sz="2000" b="0" i="0" dirty="0">
                <a:effectLst/>
              </a:rPr>
              <a:t>for </a:t>
            </a:r>
            <a:r>
              <a:rPr lang="en-US" sz="2000" b="0" i="0" u="none" strike="noStrike" dirty="0">
                <a:effectLst/>
              </a:rPr>
              <a:t>programmable logic controllers</a:t>
            </a:r>
            <a:r>
              <a:rPr lang="en-US" sz="2000" u="none" strike="noStrike" dirty="0"/>
              <a:t>.</a:t>
            </a:r>
          </a:p>
          <a:p>
            <a:pPr algn="l"/>
            <a:r>
              <a:rPr lang="en-US" sz="2000" b="0" i="0" dirty="0">
                <a:effectLst/>
              </a:rPr>
              <a:t>Part 3 of </a:t>
            </a:r>
            <a:r>
              <a:rPr lang="en-US" sz="2000" b="0" i="1" dirty="0">
                <a:effectLst/>
              </a:rPr>
              <a:t>IEC 61131</a:t>
            </a:r>
            <a:r>
              <a:rPr lang="en-US" sz="2000" b="0" i="0" dirty="0">
                <a:effectLst/>
              </a:rPr>
              <a:t> deals with basic software architecture and </a:t>
            </a:r>
            <a:r>
              <a:rPr lang="en-US" sz="2000" b="0" i="0" u="none" strike="noStrike" dirty="0">
                <a:effectLst/>
              </a:rPr>
              <a:t>programming languages</a:t>
            </a:r>
            <a:r>
              <a:rPr lang="en-US" sz="2000" b="0" i="0" dirty="0">
                <a:effectLst/>
              </a:rPr>
              <a:t> of the control program within </a:t>
            </a:r>
            <a:r>
              <a:rPr lang="en-US" sz="2000" b="0" i="0" u="none" strike="noStrike" dirty="0">
                <a:effectLst/>
              </a:rPr>
              <a:t>PLC</a:t>
            </a:r>
            <a:r>
              <a:rPr lang="en-US" sz="2000" b="0" i="0" dirty="0">
                <a:effectLst/>
              </a:rPr>
              <a:t>. It defines three graphical and two textual programming language standards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/>
            <a:endParaRPr lang="en-US" sz="2000" b="0" i="0" u="none" strike="noStrike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Ladder diagram</a:t>
            </a:r>
            <a:r>
              <a:rPr lang="en-US" sz="2000" b="0" i="0" dirty="0">
                <a:effectLst/>
              </a:rPr>
              <a:t> (LD): graphical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Function block diagram</a:t>
            </a:r>
            <a:r>
              <a:rPr lang="en-US" sz="2000" b="0" i="0" dirty="0">
                <a:effectLst/>
              </a:rPr>
              <a:t> (FBD): graphical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Structured text</a:t>
            </a:r>
            <a:r>
              <a:rPr lang="en-US" sz="2000" b="0" i="0" dirty="0">
                <a:effectLst/>
              </a:rPr>
              <a:t> (ST): textual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Instruction list</a:t>
            </a:r>
            <a:r>
              <a:rPr lang="en-US" sz="2000" b="0" i="0" dirty="0">
                <a:effectLst/>
              </a:rPr>
              <a:t> (IL): textual </a:t>
            </a:r>
            <a:r>
              <a:rPr lang="en-US" sz="1400" b="0" i="0" dirty="0">
                <a:effectLst/>
              </a:rPr>
              <a:t>(deprecated in 3</a:t>
            </a:r>
            <a:r>
              <a:rPr lang="en-US" sz="1400" b="0" i="0" baseline="30000" dirty="0">
                <a:effectLst/>
              </a:rPr>
              <a:t>rd</a:t>
            </a:r>
            <a:r>
              <a:rPr lang="en-US" sz="1400" b="0" i="0" dirty="0">
                <a:effectLst/>
              </a:rPr>
              <a:t> revision of the standard)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  Sequential function chart</a:t>
            </a:r>
            <a:r>
              <a:rPr lang="en-US" sz="2000" b="0" i="0" dirty="0">
                <a:effectLst/>
              </a:rPr>
              <a:t> (SFC): graphical.</a:t>
            </a:r>
          </a:p>
          <a:p>
            <a:pPr algn="l"/>
            <a:endParaRPr lang="en-US" sz="2000" dirty="0"/>
          </a:p>
          <a:p>
            <a:r>
              <a:rPr lang="en-US" dirty="0"/>
              <a:t>Find more detail here -&gt; </a:t>
            </a:r>
            <a:r>
              <a:rPr lang="en-US" dirty="0">
                <a:hlinkClick r:id="rId3"/>
              </a:rPr>
              <a:t>https://en.wikipedia.org/wiki/IEC_</a:t>
            </a:r>
            <a:r>
              <a:rPr lang="en-US" b="1" dirty="0">
                <a:hlinkClick r:id="rId3"/>
              </a:rPr>
              <a:t>61131-3</a:t>
            </a:r>
            <a:endParaRPr lang="en-US" b="1" dirty="0"/>
          </a:p>
          <a:p>
            <a:pPr algn="l"/>
            <a:endParaRPr lang="en-US" sz="2000" dirty="0"/>
          </a:p>
          <a:p>
            <a:endParaRPr lang="en-US" sz="2000" b="0" i="0" dirty="0">
              <a:effectLst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72E3D0-1BB3-4866-B2D8-3E52FA605E6D}"/>
              </a:ext>
            </a:extLst>
          </p:cNvPr>
          <p:cNvSpPr/>
          <p:nvPr/>
        </p:nvSpPr>
        <p:spPr>
          <a:xfrm>
            <a:off x="5097101" y="2240462"/>
            <a:ext cx="2408221" cy="5027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680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Data Types</a:t>
            </a:r>
            <a:endParaRPr lang="en-US" alt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21AC1-648C-4754-87E9-D95FB2403A43}"/>
              </a:ext>
            </a:extLst>
          </p:cNvPr>
          <p:cNvSpPr txBox="1"/>
          <p:nvPr/>
        </p:nvSpPr>
        <p:spPr>
          <a:xfrm>
            <a:off x="1235798" y="1569234"/>
            <a:ext cx="97204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effectLst/>
              </a:rPr>
              <a:t>In </a:t>
            </a:r>
            <a:r>
              <a:rPr lang="en-US" sz="2000" b="0" i="0" u="none" strike="noStrike" dirty="0">
                <a:effectLst/>
              </a:rPr>
              <a:t>computer science</a:t>
            </a:r>
            <a:r>
              <a:rPr lang="en-US" sz="2000" b="0" i="0" dirty="0">
                <a:effectLst/>
              </a:rPr>
              <a:t> and </a:t>
            </a:r>
            <a:r>
              <a:rPr lang="en-US" sz="2000" b="0" i="0" u="none" strike="noStrike" dirty="0">
                <a:effectLst/>
              </a:rPr>
              <a:t>programming</a:t>
            </a:r>
            <a:r>
              <a:rPr lang="en-US" sz="2000" b="0" i="0" dirty="0">
                <a:effectLst/>
              </a:rPr>
              <a:t>, a </a:t>
            </a:r>
            <a:r>
              <a:rPr lang="en-US" sz="2000" b="1" i="0" dirty="0">
                <a:effectLst/>
              </a:rPr>
              <a:t>data type</a:t>
            </a:r>
            <a:r>
              <a:rPr lang="en-US" sz="2000" b="0" i="0" dirty="0">
                <a:effectLst/>
              </a:rPr>
              <a:t> or simply </a:t>
            </a:r>
            <a:r>
              <a:rPr lang="en-US" sz="2000" b="1" i="0" dirty="0">
                <a:effectLst/>
              </a:rPr>
              <a:t>type</a:t>
            </a:r>
            <a:r>
              <a:rPr lang="en-US" sz="2000" b="0" i="0" dirty="0">
                <a:effectLst/>
              </a:rPr>
              <a:t> is an attribute of </a:t>
            </a:r>
            <a:r>
              <a:rPr lang="en-US" sz="2000" b="0" i="0" u="none" strike="noStrike" dirty="0">
                <a:effectLst/>
              </a:rPr>
              <a:t>data</a:t>
            </a:r>
            <a:r>
              <a:rPr lang="en-US" sz="2000" b="0" i="0" dirty="0">
                <a:effectLst/>
              </a:rPr>
              <a:t> which tells the </a:t>
            </a:r>
            <a:r>
              <a:rPr lang="en-US" sz="2000" b="0" i="0" u="none" strike="noStrike" dirty="0">
                <a:effectLst/>
              </a:rPr>
              <a:t>compiler</a:t>
            </a:r>
            <a:r>
              <a:rPr lang="en-US" sz="2000" b="0" i="0" dirty="0">
                <a:effectLst/>
              </a:rPr>
              <a:t> or how the programmer intends to use the data.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The software architecture portion of IEC 61131-3</a:t>
            </a:r>
          </a:p>
          <a:p>
            <a:pPr algn="ctr"/>
            <a:r>
              <a:rPr lang="en-US" sz="2000" dirty="0"/>
              <a:t>groups data types into three general categories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A99B71-11AD-440F-BB34-332E90D0E4A9}"/>
              </a:ext>
            </a:extLst>
          </p:cNvPr>
          <p:cNvSpPr txBox="1"/>
          <p:nvPr/>
        </p:nvSpPr>
        <p:spPr>
          <a:xfrm>
            <a:off x="1403318" y="4079039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Elementary Data Types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BD9520-DB51-42C4-9E30-6518578B72C8}"/>
              </a:ext>
            </a:extLst>
          </p:cNvPr>
          <p:cNvSpPr txBox="1"/>
          <p:nvPr/>
        </p:nvSpPr>
        <p:spPr>
          <a:xfrm>
            <a:off x="1403318" y="4784937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Generic Data Types (TC3 only)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054B4-FFD7-4DC1-8BC4-73721D3D6A8F}"/>
              </a:ext>
            </a:extLst>
          </p:cNvPr>
          <p:cNvSpPr txBox="1"/>
          <p:nvPr/>
        </p:nvSpPr>
        <p:spPr>
          <a:xfrm>
            <a:off x="1403318" y="5490835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User-defined Data Types</a:t>
            </a:r>
          </a:p>
        </p:txBody>
      </p:sp>
    </p:spTree>
    <p:extLst>
      <p:ext uri="{BB962C8B-B14F-4D97-AF65-F5344CB8AC3E}">
        <p14:creationId xmlns:p14="http://schemas.microsoft.com/office/powerpoint/2010/main" val="146783410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Data Types</a:t>
            </a:r>
            <a:endParaRPr lang="en-US" alt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6CA87-9C56-49AB-8921-513FDA3A7CE5}"/>
              </a:ext>
            </a:extLst>
          </p:cNvPr>
          <p:cNvSpPr txBox="1"/>
          <p:nvPr/>
        </p:nvSpPr>
        <p:spPr>
          <a:xfrm>
            <a:off x="430749" y="2333684"/>
            <a:ext cx="452294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2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BIT STRING GROUP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effectLst/>
              </a:rPr>
              <a:t>BOOL - 1 bit (0,1)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u="none" strike="noStrike" dirty="0">
                <a:effectLst/>
              </a:rPr>
              <a:t>BYTE</a:t>
            </a:r>
            <a:r>
              <a:rPr lang="en-CA" sz="1200" b="0" i="0" dirty="0">
                <a:effectLst/>
              </a:rPr>
              <a:t> – 8 bit (1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u="none" strike="noStrike" dirty="0">
                <a:effectLst/>
              </a:rPr>
              <a:t>WORD</a:t>
            </a:r>
            <a:r>
              <a:rPr lang="en-CA" sz="1200" b="0" i="0" dirty="0">
                <a:effectLst/>
              </a:rPr>
              <a:t> – 16 bit (2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u="none" strike="noStrike" dirty="0">
                <a:effectLst/>
              </a:rPr>
              <a:t>DWORD</a:t>
            </a:r>
            <a:r>
              <a:rPr lang="en-CA" sz="1200" b="0" i="0" dirty="0">
                <a:effectLst/>
              </a:rPr>
              <a:t> – 32 bit (4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effectLst/>
              </a:rPr>
              <a:t>LWORD – 64 bit (8 byte)</a:t>
            </a:r>
          </a:p>
          <a:p>
            <a:pPr algn="l"/>
            <a:endParaRPr lang="en-CA" sz="1200" b="0" i="0" u="none" strike="noStrike" dirty="0">
              <a:solidFill>
                <a:srgbClr val="0645AD"/>
              </a:solidFill>
              <a:effectLst/>
            </a:endParaRPr>
          </a:p>
          <a:p>
            <a:pPr algn="l"/>
            <a:r>
              <a:rPr lang="en-CA" sz="12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</a:rPr>
              <a:t>INTEGER</a:t>
            </a:r>
            <a:r>
              <a:rPr lang="en-CA" sz="12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 GROUP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SINT – signed short integer (1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INT – signed integer (2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DINT – signed double integer (4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LINT – signed long integer (8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USINT – Unsigned short integer (1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UINT – Unsigned integer (2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UDINT – Unsigned double integer (4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ULINT – Unsigned long integer (8 byte)</a:t>
            </a:r>
          </a:p>
          <a:p>
            <a:pPr algn="l"/>
            <a:endParaRPr lang="en-CA" sz="1200" b="0" i="0" u="none" strike="noStrike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algn="l"/>
            <a:r>
              <a:rPr lang="en-CA" sz="12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</a:rPr>
              <a:t>REAL / FLOATING POINT GROUP</a:t>
            </a:r>
            <a:endParaRPr lang="en-CA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REAL – (4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200" b="0" i="0" dirty="0">
                <a:solidFill>
                  <a:srgbClr val="202122"/>
                </a:solidFill>
                <a:effectLst/>
              </a:rPr>
              <a:t>LREAL – (8 byte)</a:t>
            </a:r>
          </a:p>
          <a:p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30193B-CFB0-4BAD-8C96-6DF8045EA699}"/>
              </a:ext>
            </a:extLst>
          </p:cNvPr>
          <p:cNvSpPr txBox="1"/>
          <p:nvPr/>
        </p:nvSpPr>
        <p:spPr>
          <a:xfrm>
            <a:off x="6871694" y="2330130"/>
            <a:ext cx="508793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DURATION GROUP</a:t>
            </a:r>
            <a:endParaRPr lang="en-US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TIME – (4 byte). Literals in the form of T#5m90s15ms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LTIME – (8 byte). Literals extend to nanoseconds in the form of T#5m90s15ms542us15ns</a:t>
            </a:r>
          </a:p>
          <a:p>
            <a:pPr algn="l"/>
            <a:endParaRPr lang="en-US" sz="1200" dirty="0">
              <a:solidFill>
                <a:srgbClr val="202122"/>
              </a:solidFill>
            </a:endParaRP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DATE GROUP</a:t>
            </a:r>
            <a:endParaRPr lang="en-US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DATE – calendar date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LDATE – calendar date (</a:t>
            </a:r>
            <a:r>
              <a:rPr lang="en-US" sz="1200" dirty="0">
                <a:solidFill>
                  <a:srgbClr val="202122"/>
                </a:solidFill>
              </a:rPr>
              <a:t>Doesn’t seem avail in TC</a:t>
            </a:r>
            <a:r>
              <a:rPr lang="en-US" sz="1200" b="0" i="0" dirty="0">
                <a:solidFill>
                  <a:srgbClr val="202122"/>
                </a:solidFill>
                <a:effectLst/>
              </a:rPr>
              <a:t>)</a:t>
            </a:r>
          </a:p>
          <a:p>
            <a:pPr algn="l"/>
            <a:endParaRPr lang="en-US" sz="1200" b="0" i="0" dirty="0">
              <a:solidFill>
                <a:srgbClr val="202122"/>
              </a:solidFill>
              <a:effectLst/>
            </a:endParaRPr>
          </a:p>
          <a:p>
            <a:pPr algn="l"/>
            <a:r>
              <a:rPr lang="en-US" sz="12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TIME OF DAY (TOD) GROUP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TIME_OF_DAY / TOD – clock time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LTIME_OF_DAY / LTOD – clock time (8 byte)</a:t>
            </a:r>
          </a:p>
          <a:p>
            <a:pPr algn="l"/>
            <a:endParaRPr lang="en-US" sz="1200" dirty="0">
              <a:solidFill>
                <a:srgbClr val="202122"/>
              </a:solidFill>
            </a:endParaRP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DATE AND TIME OF DAY GROUP</a:t>
            </a:r>
            <a:endParaRPr lang="en-US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DATE_AND_TIME / DT – time and date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LDATE_AND_TIME / LDT – time and date(8 byte)</a:t>
            </a:r>
          </a:p>
          <a:p>
            <a:pPr algn="l"/>
            <a:endParaRPr lang="en-US" sz="1200" dirty="0">
              <a:solidFill>
                <a:srgbClr val="202122"/>
              </a:solidFill>
            </a:endParaRP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CHARACTERS AND STRINGS GROUP</a:t>
            </a:r>
            <a:endParaRPr lang="en-US" sz="1200" b="1" i="0" dirty="0"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CHAR – Single-byte character (1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WCHAR – Double-byte character (2 byte)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STRING – Variable-length single-byte character string.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202122"/>
                </a:solidFill>
                <a:effectLst/>
              </a:rPr>
              <a:t>WSTRING – Variable-length double-byte character string.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185079-7E33-4148-9AE9-2EDE3FCCAB4A}"/>
              </a:ext>
            </a:extLst>
          </p:cNvPr>
          <p:cNvSpPr txBox="1"/>
          <p:nvPr/>
        </p:nvSpPr>
        <p:spPr>
          <a:xfrm>
            <a:off x="1140797" y="1575385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Elementary Data Types</a:t>
            </a:r>
          </a:p>
        </p:txBody>
      </p:sp>
    </p:spTree>
    <p:extLst>
      <p:ext uri="{BB962C8B-B14F-4D97-AF65-F5344CB8AC3E}">
        <p14:creationId xmlns:p14="http://schemas.microsoft.com/office/powerpoint/2010/main" val="2877206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Data Types</a:t>
            </a:r>
            <a:endParaRPr lang="en-US" alt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8C3CA-3985-4EA1-9EB0-2BA8585FF7FF}"/>
              </a:ext>
            </a:extLst>
          </p:cNvPr>
          <p:cNvSpPr txBox="1"/>
          <p:nvPr/>
        </p:nvSpPr>
        <p:spPr>
          <a:xfrm>
            <a:off x="556755" y="3769274"/>
            <a:ext cx="1106484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Enumerated data type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Enumerated data type with named value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Subrange data type – puts limits on value i.e., INT(4 .. 20) for current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Array data type – multiple values stored in the same </a:t>
            </a:r>
            <a:r>
              <a:rPr lang="en-US" b="0" i="0" u="none" strike="noStrike" dirty="0">
                <a:effectLst/>
              </a:rPr>
              <a:t>variable</a:t>
            </a:r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Structured data type – composite of several variables and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Directly derived data type – type derived from one of the above types to give new name and initial value as a type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</a:rPr>
              <a:t> References – a kind of strongly typed pointer. Arithmetic operation of the value of this type is prohibited</a:t>
            </a:r>
          </a:p>
          <a:p>
            <a:endParaRPr lang="en-US" b="1" dirty="0"/>
          </a:p>
          <a:p>
            <a:endParaRPr lang="en-US" sz="2000" b="0" i="0" dirty="0">
              <a:effectLst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0247CF-13D9-49FF-8DFF-9DDECB5C5ABD}"/>
              </a:ext>
            </a:extLst>
          </p:cNvPr>
          <p:cNvSpPr/>
          <p:nvPr/>
        </p:nvSpPr>
        <p:spPr>
          <a:xfrm>
            <a:off x="563577" y="4739218"/>
            <a:ext cx="2252052" cy="58422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5F45E6-B6DB-406B-819E-7EAAAD66413F}"/>
              </a:ext>
            </a:extLst>
          </p:cNvPr>
          <p:cNvSpPr txBox="1"/>
          <p:nvPr/>
        </p:nvSpPr>
        <p:spPr>
          <a:xfrm>
            <a:off x="1410140" y="1840441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u="sng" dirty="0"/>
              <a:t>U</a:t>
            </a:r>
            <a:r>
              <a:rPr lang="en-US" sz="3200" dirty="0"/>
              <a:t>ser-defined </a:t>
            </a:r>
            <a:r>
              <a:rPr lang="en-US" sz="3200" u="sng" dirty="0"/>
              <a:t>D</a:t>
            </a:r>
            <a:r>
              <a:rPr lang="en-US" sz="3200" dirty="0"/>
              <a:t>ata </a:t>
            </a:r>
            <a:r>
              <a:rPr lang="en-US" sz="3200" u="sng" dirty="0"/>
              <a:t>T</a:t>
            </a:r>
            <a:r>
              <a:rPr lang="en-US" sz="3200" dirty="0"/>
              <a:t>ypes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EA98B-9D7B-4B9D-9242-405E24D51B05}"/>
              </a:ext>
            </a:extLst>
          </p:cNvPr>
          <p:cNvSpPr txBox="1"/>
          <p:nvPr/>
        </p:nvSpPr>
        <p:spPr>
          <a:xfrm>
            <a:off x="1396496" y="2433564"/>
            <a:ext cx="9385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UDTs (DUTs)</a:t>
            </a:r>
          </a:p>
        </p:txBody>
      </p:sp>
    </p:spTree>
    <p:extLst>
      <p:ext uri="{BB962C8B-B14F-4D97-AF65-F5344CB8AC3E}">
        <p14:creationId xmlns:p14="http://schemas.microsoft.com/office/powerpoint/2010/main" val="798438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FCA6E-0894-46CD-BD49-5955A51E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955" y="5346696"/>
            <a:ext cx="5360045" cy="1511304"/>
          </a:xfrm>
          <a:custGeom>
            <a:avLst/>
            <a:gdLst>
              <a:gd name="connsiteX0" fmla="*/ 4545473 w 5360045"/>
              <a:gd name="connsiteY0" fmla="*/ 0 h 1511304"/>
              <a:gd name="connsiteX1" fmla="*/ 5360045 w 5360045"/>
              <a:gd name="connsiteY1" fmla="*/ 0 h 1511304"/>
              <a:gd name="connsiteX2" fmla="*/ 5360045 w 5360045"/>
              <a:gd name="connsiteY2" fmla="*/ 1046730 h 1511304"/>
              <a:gd name="connsiteX3" fmla="*/ 5360045 w 5360045"/>
              <a:gd name="connsiteY3" fmla="*/ 1508760 h 1511304"/>
              <a:gd name="connsiteX4" fmla="*/ 5360045 w 5360045"/>
              <a:gd name="connsiteY4" fmla="*/ 1511304 h 1511304"/>
              <a:gd name="connsiteX5" fmla="*/ 4545474 w 5360045"/>
              <a:gd name="connsiteY5" fmla="*/ 1511304 h 1511304"/>
              <a:gd name="connsiteX6" fmla="*/ 2525897 w 5360045"/>
              <a:gd name="connsiteY6" fmla="*/ 1511304 h 1511304"/>
              <a:gd name="connsiteX7" fmla="*/ 0 w 5360045"/>
              <a:gd name="connsiteY7" fmla="*/ 1511304 h 1511304"/>
              <a:gd name="connsiteX8" fmla="*/ 697617 w 5360045"/>
              <a:gd name="connsiteY8" fmla="*/ 3 h 1511304"/>
              <a:gd name="connsiteX9" fmla="*/ 4545473 w 5360045"/>
              <a:gd name="connsiteY9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8C6E4B-A1F1-4B6C-97EC-BE997495D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694"/>
            <a:ext cx="7346605" cy="1511306"/>
          </a:xfrm>
          <a:custGeom>
            <a:avLst/>
            <a:gdLst>
              <a:gd name="connsiteX0" fmla="*/ 0 w 7346605"/>
              <a:gd name="connsiteY0" fmla="*/ 0 h 1511306"/>
              <a:gd name="connsiteX1" fmla="*/ 239486 w 7346605"/>
              <a:gd name="connsiteY1" fmla="*/ 0 h 1511306"/>
              <a:gd name="connsiteX2" fmla="*/ 1209568 w 7346605"/>
              <a:gd name="connsiteY2" fmla="*/ 0 h 1511306"/>
              <a:gd name="connsiteX3" fmla="*/ 2405743 w 7346605"/>
              <a:gd name="connsiteY3" fmla="*/ 0 h 1511306"/>
              <a:gd name="connsiteX4" fmla="*/ 2405743 w 7346605"/>
              <a:gd name="connsiteY4" fmla="*/ 2544 h 1511306"/>
              <a:gd name="connsiteX5" fmla="*/ 2801131 w 7346605"/>
              <a:gd name="connsiteY5" fmla="*/ 2544 h 1511306"/>
              <a:gd name="connsiteX6" fmla="*/ 2801131 w 7346605"/>
              <a:gd name="connsiteY6" fmla="*/ 0 h 1511306"/>
              <a:gd name="connsiteX7" fmla="*/ 7346605 w 7346605"/>
              <a:gd name="connsiteY7" fmla="*/ 0 h 1511306"/>
              <a:gd name="connsiteX8" fmla="*/ 6648988 w 7346605"/>
              <a:gd name="connsiteY8" fmla="*/ 1511301 h 1511306"/>
              <a:gd name="connsiteX9" fmla="*/ 2801132 w 7346605"/>
              <a:gd name="connsiteY9" fmla="*/ 1511301 h 1511306"/>
              <a:gd name="connsiteX10" fmla="*/ 2801132 w 7346605"/>
              <a:gd name="connsiteY10" fmla="*/ 1511304 h 1511306"/>
              <a:gd name="connsiteX11" fmla="*/ 2405743 w 7346605"/>
              <a:gd name="connsiteY11" fmla="*/ 1511304 h 1511306"/>
              <a:gd name="connsiteX12" fmla="*/ 2405743 w 7346605"/>
              <a:gd name="connsiteY12" fmla="*/ 1511306 h 1511306"/>
              <a:gd name="connsiteX13" fmla="*/ 1333411 w 7346605"/>
              <a:gd name="connsiteY13" fmla="*/ 1511306 h 1511306"/>
              <a:gd name="connsiteX14" fmla="*/ 1219208 w 7346605"/>
              <a:gd name="connsiteY14" fmla="*/ 1511306 h 1511306"/>
              <a:gd name="connsiteX15" fmla="*/ 1209568 w 7346605"/>
              <a:gd name="connsiteY15" fmla="*/ 1511306 h 1511306"/>
              <a:gd name="connsiteX16" fmla="*/ 239486 w 7346605"/>
              <a:gd name="connsiteY16" fmla="*/ 1511306 h 1511306"/>
              <a:gd name="connsiteX17" fmla="*/ 0 w 7346605"/>
              <a:gd name="connsiteY17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" name="Picture 2" descr="Sultan Alrefaei Programmer GIF - Sultan Alrefaei Programmer Office -  Discover &amp;amp; Share GIFs">
            <a:extLst>
              <a:ext uri="{FF2B5EF4-FFF2-40B4-BE49-F238E27FC236}">
                <a16:creationId xmlns:a16="http://schemas.microsoft.com/office/drawing/2014/main" id="{88209342-8F96-4025-839E-2FF35740DBE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889" y="1364899"/>
            <a:ext cx="5294221" cy="397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E2F88B4E-1C76-43B1-93EF-47A473387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UDTs (DUTs)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</a:t>
            </a:r>
            <a:r>
              <a:rPr lang="en-US" alt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ser-defined </a:t>
            </a:r>
            <a:r>
              <a:rPr lang="en-US" altLang="en-US" sz="28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</a:t>
            </a:r>
            <a:r>
              <a:rPr lang="en-US" alt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ata </a:t>
            </a:r>
            <a:r>
              <a:rPr lang="en-US" altLang="en-US" sz="28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</a:t>
            </a:r>
            <a:r>
              <a:rPr lang="en-US" alt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66AF8-C8DD-4CE7-AA59-840DCF468914}"/>
              </a:ext>
            </a:extLst>
          </p:cNvPr>
          <p:cNvSpPr txBox="1"/>
          <p:nvPr/>
        </p:nvSpPr>
        <p:spPr>
          <a:xfrm>
            <a:off x="1230790" y="5748404"/>
            <a:ext cx="44361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Let’s develop a UDT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53BC1-D955-4A17-90E5-A3D17D36B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04" y="153636"/>
            <a:ext cx="3908035" cy="141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86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3F8EE4F-B2A4-41D2-9CDD-02E7A3794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74" y="208223"/>
            <a:ext cx="2933760" cy="106547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797" y="1837935"/>
            <a:ext cx="9910406" cy="47012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b="0" i="0" dirty="0">
              <a:effectLst/>
              <a:latin typeface="+mn-lt"/>
            </a:endParaRP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effectLst/>
                <a:latin typeface="+mn-lt"/>
              </a:rPr>
              <a:t> </a:t>
            </a:r>
          </a:p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endParaRPr lang="en-US" altLang="en-US" b="0" dirty="0">
              <a:latin typeface="+mn-lt"/>
              <a:ea typeface="+mn-ea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4C2AE16-4BF6-4040-B0AB-95595459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POUs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rogram </a:t>
            </a: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rganization </a:t>
            </a: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21AC1-648C-4754-87E9-D95FB2403A43}"/>
              </a:ext>
            </a:extLst>
          </p:cNvPr>
          <p:cNvSpPr txBox="1"/>
          <p:nvPr/>
        </p:nvSpPr>
        <p:spPr>
          <a:xfrm>
            <a:off x="1140797" y="1642836"/>
            <a:ext cx="93853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The software architecture portion of IEC 61131-3</a:t>
            </a:r>
          </a:p>
          <a:p>
            <a:pPr algn="ctr"/>
            <a:r>
              <a:rPr lang="en-US" sz="3200" dirty="0"/>
              <a:t>groups POUs into three general categories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A99B71-11AD-440F-BB34-332E90D0E4A9}"/>
              </a:ext>
            </a:extLst>
          </p:cNvPr>
          <p:cNvSpPr txBox="1"/>
          <p:nvPr/>
        </p:nvSpPr>
        <p:spPr>
          <a:xfrm>
            <a:off x="1231635" y="3559294"/>
            <a:ext cx="98229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Programs (PRGs)</a:t>
            </a:r>
          </a:p>
          <a:p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Functions (FUNs)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Standard: ADD, SQRT, SIN, COS, GT, MIN, MAX, AND, OR, etc. for example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Custom: Created by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pplication developer</a:t>
            </a:r>
          </a:p>
          <a:p>
            <a:pPr algn="l"/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Function Blocks (FBs)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Standard: Libraries of functions can be supplied by a vendor or third party as example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Custom: Created by application developer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993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FCA6E-0894-46CD-BD49-5955A51E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955" y="5346696"/>
            <a:ext cx="5360045" cy="1511304"/>
          </a:xfrm>
          <a:custGeom>
            <a:avLst/>
            <a:gdLst>
              <a:gd name="connsiteX0" fmla="*/ 4545473 w 5360045"/>
              <a:gd name="connsiteY0" fmla="*/ 0 h 1511304"/>
              <a:gd name="connsiteX1" fmla="*/ 5360045 w 5360045"/>
              <a:gd name="connsiteY1" fmla="*/ 0 h 1511304"/>
              <a:gd name="connsiteX2" fmla="*/ 5360045 w 5360045"/>
              <a:gd name="connsiteY2" fmla="*/ 1046730 h 1511304"/>
              <a:gd name="connsiteX3" fmla="*/ 5360045 w 5360045"/>
              <a:gd name="connsiteY3" fmla="*/ 1508760 h 1511304"/>
              <a:gd name="connsiteX4" fmla="*/ 5360045 w 5360045"/>
              <a:gd name="connsiteY4" fmla="*/ 1511304 h 1511304"/>
              <a:gd name="connsiteX5" fmla="*/ 4545474 w 5360045"/>
              <a:gd name="connsiteY5" fmla="*/ 1511304 h 1511304"/>
              <a:gd name="connsiteX6" fmla="*/ 2525897 w 5360045"/>
              <a:gd name="connsiteY6" fmla="*/ 1511304 h 1511304"/>
              <a:gd name="connsiteX7" fmla="*/ 0 w 5360045"/>
              <a:gd name="connsiteY7" fmla="*/ 1511304 h 1511304"/>
              <a:gd name="connsiteX8" fmla="*/ 697617 w 5360045"/>
              <a:gd name="connsiteY8" fmla="*/ 3 h 1511304"/>
              <a:gd name="connsiteX9" fmla="*/ 4545473 w 5360045"/>
              <a:gd name="connsiteY9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8C6E4B-A1F1-4B6C-97EC-BE997495D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694"/>
            <a:ext cx="7346605" cy="1511306"/>
          </a:xfrm>
          <a:custGeom>
            <a:avLst/>
            <a:gdLst>
              <a:gd name="connsiteX0" fmla="*/ 0 w 7346605"/>
              <a:gd name="connsiteY0" fmla="*/ 0 h 1511306"/>
              <a:gd name="connsiteX1" fmla="*/ 239486 w 7346605"/>
              <a:gd name="connsiteY1" fmla="*/ 0 h 1511306"/>
              <a:gd name="connsiteX2" fmla="*/ 1209568 w 7346605"/>
              <a:gd name="connsiteY2" fmla="*/ 0 h 1511306"/>
              <a:gd name="connsiteX3" fmla="*/ 2405743 w 7346605"/>
              <a:gd name="connsiteY3" fmla="*/ 0 h 1511306"/>
              <a:gd name="connsiteX4" fmla="*/ 2405743 w 7346605"/>
              <a:gd name="connsiteY4" fmla="*/ 2544 h 1511306"/>
              <a:gd name="connsiteX5" fmla="*/ 2801131 w 7346605"/>
              <a:gd name="connsiteY5" fmla="*/ 2544 h 1511306"/>
              <a:gd name="connsiteX6" fmla="*/ 2801131 w 7346605"/>
              <a:gd name="connsiteY6" fmla="*/ 0 h 1511306"/>
              <a:gd name="connsiteX7" fmla="*/ 7346605 w 7346605"/>
              <a:gd name="connsiteY7" fmla="*/ 0 h 1511306"/>
              <a:gd name="connsiteX8" fmla="*/ 6648988 w 7346605"/>
              <a:gd name="connsiteY8" fmla="*/ 1511301 h 1511306"/>
              <a:gd name="connsiteX9" fmla="*/ 2801132 w 7346605"/>
              <a:gd name="connsiteY9" fmla="*/ 1511301 h 1511306"/>
              <a:gd name="connsiteX10" fmla="*/ 2801132 w 7346605"/>
              <a:gd name="connsiteY10" fmla="*/ 1511304 h 1511306"/>
              <a:gd name="connsiteX11" fmla="*/ 2405743 w 7346605"/>
              <a:gd name="connsiteY11" fmla="*/ 1511304 h 1511306"/>
              <a:gd name="connsiteX12" fmla="*/ 2405743 w 7346605"/>
              <a:gd name="connsiteY12" fmla="*/ 1511306 h 1511306"/>
              <a:gd name="connsiteX13" fmla="*/ 1333411 w 7346605"/>
              <a:gd name="connsiteY13" fmla="*/ 1511306 h 1511306"/>
              <a:gd name="connsiteX14" fmla="*/ 1219208 w 7346605"/>
              <a:gd name="connsiteY14" fmla="*/ 1511306 h 1511306"/>
              <a:gd name="connsiteX15" fmla="*/ 1209568 w 7346605"/>
              <a:gd name="connsiteY15" fmla="*/ 1511306 h 1511306"/>
              <a:gd name="connsiteX16" fmla="*/ 239486 w 7346605"/>
              <a:gd name="connsiteY16" fmla="*/ 1511306 h 1511306"/>
              <a:gd name="connsiteX17" fmla="*/ 0 w 7346605"/>
              <a:gd name="connsiteY17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66AF8-C8DD-4CE7-AA59-840DCF468914}"/>
              </a:ext>
            </a:extLst>
          </p:cNvPr>
          <p:cNvSpPr txBox="1"/>
          <p:nvPr/>
        </p:nvSpPr>
        <p:spPr>
          <a:xfrm>
            <a:off x="663484" y="5748404"/>
            <a:ext cx="55049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Let’s develop some POUs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53BC1-D955-4A17-90E5-A3D17D36B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04" y="153636"/>
            <a:ext cx="3908035" cy="1419303"/>
          </a:xfrm>
          <a:prstGeom prst="rect">
            <a:avLst/>
          </a:prstGeom>
        </p:spPr>
      </p:pic>
      <p:pic>
        <p:nvPicPr>
          <p:cNvPr id="8" name="Picture 2" descr="Top 10 Programming GIFs | Find the best GIF on Gfycat">
            <a:extLst>
              <a:ext uri="{FF2B5EF4-FFF2-40B4-BE49-F238E27FC236}">
                <a16:creationId xmlns:a16="http://schemas.microsoft.com/office/drawing/2014/main" id="{A3A5B53D-B1A7-4165-AE50-42513743111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755" y="2001551"/>
            <a:ext cx="3702490" cy="271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0D42F088-6447-4D6C-AE68-E5199FB50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072" y="94138"/>
            <a:ext cx="4410750" cy="12730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dirty="0">
                <a:latin typeface="+mj-lt"/>
                <a:ea typeface="+mj-ea"/>
                <a:cs typeface="+mj-cs"/>
              </a:rPr>
              <a:t>POUs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rogram </a:t>
            </a: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rganization </a:t>
            </a:r>
            <a:r>
              <a:rPr lang="en-US" altLang="en-US" sz="26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</a:t>
            </a:r>
            <a:r>
              <a:rPr lang="en-US" alt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C3A21D-6A27-4A4E-863D-88298168C840}"/>
              </a:ext>
            </a:extLst>
          </p:cNvPr>
          <p:cNvSpPr txBox="1"/>
          <p:nvPr/>
        </p:nvSpPr>
        <p:spPr>
          <a:xfrm>
            <a:off x="188104" y="3874560"/>
            <a:ext cx="37024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PRGs, FUNs, FBs</a:t>
            </a:r>
          </a:p>
        </p:txBody>
      </p:sp>
    </p:spTree>
    <p:extLst>
      <p:ext uri="{BB962C8B-B14F-4D97-AF65-F5344CB8AC3E}">
        <p14:creationId xmlns:p14="http://schemas.microsoft.com/office/powerpoint/2010/main" val="334120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10811 C 2.5E-6 -0.01528 0.08177 0.05995 0.18229 0.05995 C 0.30052 0.05995 0.34336 -0.02385 0.36146 -0.07431 L 0.37969 -0.1419 C 0.39791 -0.19236 0.44336 -0.27593 0.57708 -0.27593 C 0.66211 -0.27593 0.7595 -0.20093 0.7595 -0.10811 C 0.7595 -0.01528 0.66211 0.05995 0.57708 0.05995 C 0.44336 0.05995 0.39791 -0.02385 0.37969 -0.07431 L 0.36146 -0.1419 C 0.34336 -0.19236 0.30052 -0.27593 0.18229 -0.27593 C 0.08177 -0.27593 2.5E-6 -0.20093 2.5E-6 -0.10811 Z " pathEditMode="relative" rAng="0" ptsTypes="AAAAAAAAAAA">
                                      <p:cBhvr>
                                        <p:cTn id="6" dur="1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9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FCA6E-0894-46CD-BD49-5955A51E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955" y="5346696"/>
            <a:ext cx="5360045" cy="1511304"/>
          </a:xfrm>
          <a:custGeom>
            <a:avLst/>
            <a:gdLst>
              <a:gd name="connsiteX0" fmla="*/ 4545473 w 5360045"/>
              <a:gd name="connsiteY0" fmla="*/ 0 h 1511304"/>
              <a:gd name="connsiteX1" fmla="*/ 5360045 w 5360045"/>
              <a:gd name="connsiteY1" fmla="*/ 0 h 1511304"/>
              <a:gd name="connsiteX2" fmla="*/ 5360045 w 5360045"/>
              <a:gd name="connsiteY2" fmla="*/ 1046730 h 1511304"/>
              <a:gd name="connsiteX3" fmla="*/ 5360045 w 5360045"/>
              <a:gd name="connsiteY3" fmla="*/ 1508760 h 1511304"/>
              <a:gd name="connsiteX4" fmla="*/ 5360045 w 5360045"/>
              <a:gd name="connsiteY4" fmla="*/ 1511304 h 1511304"/>
              <a:gd name="connsiteX5" fmla="*/ 4545474 w 5360045"/>
              <a:gd name="connsiteY5" fmla="*/ 1511304 h 1511304"/>
              <a:gd name="connsiteX6" fmla="*/ 2525897 w 5360045"/>
              <a:gd name="connsiteY6" fmla="*/ 1511304 h 1511304"/>
              <a:gd name="connsiteX7" fmla="*/ 0 w 5360045"/>
              <a:gd name="connsiteY7" fmla="*/ 1511304 h 1511304"/>
              <a:gd name="connsiteX8" fmla="*/ 697617 w 5360045"/>
              <a:gd name="connsiteY8" fmla="*/ 3 h 1511304"/>
              <a:gd name="connsiteX9" fmla="*/ 4545473 w 5360045"/>
              <a:gd name="connsiteY9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8C6E4B-A1F1-4B6C-97EC-BE997495D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694"/>
            <a:ext cx="7346605" cy="1511306"/>
          </a:xfrm>
          <a:custGeom>
            <a:avLst/>
            <a:gdLst>
              <a:gd name="connsiteX0" fmla="*/ 0 w 7346605"/>
              <a:gd name="connsiteY0" fmla="*/ 0 h 1511306"/>
              <a:gd name="connsiteX1" fmla="*/ 239486 w 7346605"/>
              <a:gd name="connsiteY1" fmla="*/ 0 h 1511306"/>
              <a:gd name="connsiteX2" fmla="*/ 1209568 w 7346605"/>
              <a:gd name="connsiteY2" fmla="*/ 0 h 1511306"/>
              <a:gd name="connsiteX3" fmla="*/ 2405743 w 7346605"/>
              <a:gd name="connsiteY3" fmla="*/ 0 h 1511306"/>
              <a:gd name="connsiteX4" fmla="*/ 2405743 w 7346605"/>
              <a:gd name="connsiteY4" fmla="*/ 2544 h 1511306"/>
              <a:gd name="connsiteX5" fmla="*/ 2801131 w 7346605"/>
              <a:gd name="connsiteY5" fmla="*/ 2544 h 1511306"/>
              <a:gd name="connsiteX6" fmla="*/ 2801131 w 7346605"/>
              <a:gd name="connsiteY6" fmla="*/ 0 h 1511306"/>
              <a:gd name="connsiteX7" fmla="*/ 7346605 w 7346605"/>
              <a:gd name="connsiteY7" fmla="*/ 0 h 1511306"/>
              <a:gd name="connsiteX8" fmla="*/ 6648988 w 7346605"/>
              <a:gd name="connsiteY8" fmla="*/ 1511301 h 1511306"/>
              <a:gd name="connsiteX9" fmla="*/ 2801132 w 7346605"/>
              <a:gd name="connsiteY9" fmla="*/ 1511301 h 1511306"/>
              <a:gd name="connsiteX10" fmla="*/ 2801132 w 7346605"/>
              <a:gd name="connsiteY10" fmla="*/ 1511304 h 1511306"/>
              <a:gd name="connsiteX11" fmla="*/ 2405743 w 7346605"/>
              <a:gd name="connsiteY11" fmla="*/ 1511304 h 1511306"/>
              <a:gd name="connsiteX12" fmla="*/ 2405743 w 7346605"/>
              <a:gd name="connsiteY12" fmla="*/ 1511306 h 1511306"/>
              <a:gd name="connsiteX13" fmla="*/ 1333411 w 7346605"/>
              <a:gd name="connsiteY13" fmla="*/ 1511306 h 1511306"/>
              <a:gd name="connsiteX14" fmla="*/ 1219208 w 7346605"/>
              <a:gd name="connsiteY14" fmla="*/ 1511306 h 1511306"/>
              <a:gd name="connsiteX15" fmla="*/ 1209568 w 7346605"/>
              <a:gd name="connsiteY15" fmla="*/ 1511306 h 1511306"/>
              <a:gd name="connsiteX16" fmla="*/ 239486 w 7346605"/>
              <a:gd name="connsiteY16" fmla="*/ 1511306 h 1511306"/>
              <a:gd name="connsiteX17" fmla="*/ 0 w 7346605"/>
              <a:gd name="connsiteY17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D8F99C4-5832-45C4-B7D6-8B4E42417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247" y="5529884"/>
            <a:ext cx="5806440" cy="109633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rgbClr val="303030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53BC1-D955-4A17-90E5-A3D17D36B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04" y="153636"/>
            <a:ext cx="3908035" cy="141930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71A7AA8-9679-4DEC-912E-522C07C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0238" y="530633"/>
            <a:ext cx="4334166" cy="4020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CA" altLang="en-US" sz="4400" dirty="0">
              <a:latin typeface="TitilliumText22L Rg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latin typeface="TitilliumText22L Rg"/>
              </a:rPr>
              <a:t>Anything not make sense?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CA" altLang="en-US" dirty="0">
              <a:latin typeface="TitilliumText22L Rg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CA" altLang="en-US" dirty="0">
                <a:latin typeface="TitilliumText22L Rg"/>
              </a:rPr>
              <a:t>Where are we going with this?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CA" altLang="en-US" dirty="0">
              <a:latin typeface="TitilliumText22L Rg"/>
            </a:endParaRPr>
          </a:p>
          <a:p>
            <a:pPr eaLnBrk="1" hangingPunct="1"/>
            <a:endParaRPr lang="en-CA" altLang="en-US" sz="2800" dirty="0">
              <a:latin typeface="TitilliumText22L Rg"/>
            </a:endParaRP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+mn-lt"/>
              <a:ea typeface="+mn-ea"/>
            </a:endParaRPr>
          </a:p>
          <a:p>
            <a:pPr marL="285750"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900" dirty="0">
              <a:latin typeface="+mn-lt"/>
              <a:ea typeface="+mn-ea"/>
            </a:endParaRPr>
          </a:p>
        </p:txBody>
      </p:sp>
      <p:pic>
        <p:nvPicPr>
          <p:cNvPr id="2050" name="Picture 2" descr="Confused Person Icon #18324 - Free Icons Library">
            <a:extLst>
              <a:ext uri="{FF2B5EF4-FFF2-40B4-BE49-F238E27FC236}">
                <a16:creationId xmlns:a16="http://schemas.microsoft.com/office/drawing/2014/main" id="{B6C7E343-685F-4E13-B62D-FAC499651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807" y="2233590"/>
            <a:ext cx="2881319" cy="28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2657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D4DD2C-DDD7-4907-8F02-A738CFEDB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your time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99D1212-E576-40D6-99C4-DE518FAF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122016"/>
            <a:ext cx="7188199" cy="2610579"/>
          </a:xfrm>
          <a:prstGeom prst="rect">
            <a:avLst/>
          </a:prstGeom>
        </p:spPr>
      </p:pic>
      <p:pic>
        <p:nvPicPr>
          <p:cNvPr id="3" name="Picture 2" descr="A picture containing handwear&#10;&#10;Description automatically generated">
            <a:extLst>
              <a:ext uri="{FF2B5EF4-FFF2-40B4-BE49-F238E27FC236}">
                <a16:creationId xmlns:a16="http://schemas.microsoft.com/office/drawing/2014/main" id="{E7620775-D2F4-4772-ADE0-C3642B210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830" y="266423"/>
            <a:ext cx="1589170" cy="158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25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25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867</Words>
  <Application>Microsoft Office PowerPoint</Application>
  <PresentationFormat>Widescreen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TitilliumText22L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Sodecia GTAC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GTAC Controls Training PT 1</dc:subject>
  <dc:creator>Lekx-Toniolo, Taylor</dc:creator>
  <cp:lastModifiedBy>BK Lekx-Toniolo</cp:lastModifiedBy>
  <cp:revision>48</cp:revision>
  <dcterms:created xsi:type="dcterms:W3CDTF">2021-11-04T14:33:04Z</dcterms:created>
  <dcterms:modified xsi:type="dcterms:W3CDTF">2026-06-02T16:04:22Z</dcterms:modified>
</cp:coreProperties>
</file>